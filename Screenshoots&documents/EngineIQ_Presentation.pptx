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711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5E5D90-C449-4318-9A59-5EA18DA4D563}" v="2" dt="2026-06-17T11:04:24.1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83" d="100"/>
          <a:sy n="83" d="100"/>
        </p:scale>
        <p:origin x="858" y="90"/>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BA71B7-C15C-4198-923D-7175BFCFBDCB}" type="datetimeFigureOut">
              <a:rPr lang="en-GH" smtClean="0"/>
              <a:t>08/09/2026</a:t>
            </a:fld>
            <a:endParaRPr lang="en-G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005245-2066-49B2-ACB7-19AF934E3151}" type="slidenum">
              <a:rPr lang="en-GH" smtClean="0"/>
              <a:t>‹#›</a:t>
            </a:fld>
            <a:endParaRPr lang="en-GH"/>
          </a:p>
        </p:txBody>
      </p:sp>
    </p:spTree>
    <p:extLst>
      <p:ext uri="{BB962C8B-B14F-4D97-AF65-F5344CB8AC3E}">
        <p14:creationId xmlns:p14="http://schemas.microsoft.com/office/powerpoint/2010/main" val="19558615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13.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14.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15.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16.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17.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22.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23.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24.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25.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26.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27.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28.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29.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31.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32.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33.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34.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35.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36.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37.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38.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39.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40.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41.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42.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43.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44.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45.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46.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47.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48.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_rels/slideLayout49.xml.rels><?xml version="1.0" encoding="UTF-8" standalone="yes"?>
<Relationships xmlns="http://schemas.openxmlformats.org/package/2006/relationships"><Relationship Id="rId3" Type="http://schemas.openxmlformats.org/officeDocument/2006/relationships/hyperlink" Target="https://www.knust.edu.gh/" TargetMode="External"/><Relationship Id="rId7"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hyperlink" Target="https://www.facebook.com/knust.Ghana/" TargetMode="External"/><Relationship Id="rId5" Type="http://schemas.openxmlformats.org/officeDocument/2006/relationships/image" Target="../media/image5.jpg"/><Relationship Id="rId4" Type="http://schemas.openxmlformats.org/officeDocument/2006/relationships/hyperlink" Target="https://twitter.com/_knust_"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C4D8-7267-481C-97FB-88531F8E7427}"/>
              </a:ext>
            </a:extLst>
          </p:cNvPr>
          <p:cNvSpPr>
            <a:spLocks noGrp="1"/>
          </p:cNvSpPr>
          <p:nvPr>
            <p:ph type="ctrTitle"/>
          </p:nvPr>
        </p:nvSpPr>
        <p:spPr>
          <a:xfrm>
            <a:off x="1524000" y="1122363"/>
            <a:ext cx="9144000" cy="2387600"/>
          </a:xfrm>
        </p:spPr>
        <p:txBody>
          <a:bodyPr anchor="b"/>
          <a:lstStyle>
            <a:lvl1pPr algn="ctr">
              <a:defRPr sz="6000">
                <a:solidFill>
                  <a:schemeClr val="bg1"/>
                </a:solidFill>
              </a:defRPr>
            </a:lvl1pPr>
          </a:lstStyle>
          <a:p>
            <a:r>
              <a:rPr lang="en-US" dirty="0"/>
              <a:t>Click to edit Master title style</a:t>
            </a:r>
          </a:p>
        </p:txBody>
      </p:sp>
      <p:sp>
        <p:nvSpPr>
          <p:cNvPr id="3" name="Subtitle 2">
            <a:extLst>
              <a:ext uri="{FF2B5EF4-FFF2-40B4-BE49-F238E27FC236}">
                <a16:creationId xmlns:a16="http://schemas.microsoft.com/office/drawing/2014/main" id="{52045EB4-C8E9-4276-9892-A8BD1C24C1F3}"/>
              </a:ext>
            </a:extLst>
          </p:cNvPr>
          <p:cNvSpPr>
            <a:spLocks noGrp="1"/>
          </p:cNvSpPr>
          <p:nvPr>
            <p:ph type="subTitle" idx="1"/>
          </p:nvPr>
        </p:nvSpPr>
        <p:spPr>
          <a:xfrm>
            <a:off x="1524000" y="3602038"/>
            <a:ext cx="9144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0E1952CF-CF54-495A-A737-C76F22C5330D}"/>
              </a:ext>
            </a:extLst>
          </p:cNvPr>
          <p:cNvSpPr>
            <a:spLocks noGrp="1"/>
          </p:cNvSpPr>
          <p:nvPr>
            <p:ph type="dt" sz="half" idx="10"/>
          </p:nvPr>
        </p:nvSpPr>
        <p:spPr/>
        <p:txBody>
          <a:bodyPr/>
          <a:lstStyle/>
          <a:p>
            <a:fld id="{FFA59539-6AA4-4B20-8277-ACCA791514EF}" type="datetimeFigureOut">
              <a:rPr lang="en-US" smtClean="0"/>
              <a:pPr/>
              <a:t>9/8/2026</a:t>
            </a:fld>
            <a:endParaRPr lang="en-US"/>
          </a:p>
        </p:txBody>
      </p:sp>
      <p:sp>
        <p:nvSpPr>
          <p:cNvPr id="5" name="Footer Placeholder 4">
            <a:extLst>
              <a:ext uri="{FF2B5EF4-FFF2-40B4-BE49-F238E27FC236}">
                <a16:creationId xmlns:a16="http://schemas.microsoft.com/office/drawing/2014/main" id="{DA2F82B9-480E-49D4-AFD3-A3BC21B8AFD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3CFFCE-F9B6-482C-816E-091792F26E49}"/>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42939719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267FC0-FF7C-4F6B-A842-ECAEDD7558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CF3BD4-EEBC-444E-88DB-259F6F33A3E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BC2BFAAB-6BAC-4D88-8AF7-FC846BF0456E}"/>
              </a:ext>
            </a:extLst>
          </p:cNvPr>
          <p:cNvSpPr>
            <a:spLocks noGrp="1"/>
          </p:cNvSpPr>
          <p:nvPr>
            <p:ph type="dt" sz="half" idx="10"/>
          </p:nvPr>
        </p:nvSpPr>
        <p:spPr/>
        <p:txBody>
          <a:bodyPr/>
          <a:lstStyle/>
          <a:p>
            <a:fld id="{FFA59539-6AA4-4B20-8277-ACCA791514EF}" type="datetimeFigureOut">
              <a:rPr lang="en-US" smtClean="0"/>
              <a:pPr/>
              <a:t>9/8/2026</a:t>
            </a:fld>
            <a:endParaRPr lang="en-US"/>
          </a:p>
        </p:txBody>
      </p:sp>
      <p:sp>
        <p:nvSpPr>
          <p:cNvPr id="5" name="Footer Placeholder 4">
            <a:extLst>
              <a:ext uri="{FF2B5EF4-FFF2-40B4-BE49-F238E27FC236}">
                <a16:creationId xmlns:a16="http://schemas.microsoft.com/office/drawing/2014/main" id="{546DD7F4-E6AC-4CB6-B687-556E6DB5BE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A703C-113A-46CC-AC65-292EB067D462}"/>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514042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E7A4B-0F44-4E42-939A-CDE6C4A492D0}"/>
              </a:ext>
            </a:extLst>
          </p:cNvPr>
          <p:cNvSpPr>
            <a:spLocks noGrp="1"/>
          </p:cNvSpPr>
          <p:nvPr>
            <p:ph type="title"/>
          </p:nvPr>
        </p:nvSpPr>
        <p:spPr>
          <a:xfrm>
            <a:off x="4902440" y="307011"/>
            <a:ext cx="6787025" cy="2986087"/>
          </a:xfrm>
        </p:spPr>
        <p:txBody>
          <a:bodyPr anchor="b"/>
          <a:lstStyle>
            <a:lvl1pPr algn="ct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53B6593-CC60-4C4A-B097-A7D3799BD55C}"/>
              </a:ext>
            </a:extLst>
          </p:cNvPr>
          <p:cNvSpPr>
            <a:spLocks noGrp="1"/>
          </p:cNvSpPr>
          <p:nvPr>
            <p:ph type="body" idx="1"/>
          </p:nvPr>
        </p:nvSpPr>
        <p:spPr>
          <a:xfrm>
            <a:off x="4902440" y="3883454"/>
            <a:ext cx="6787025" cy="792283"/>
          </a:xfrm>
        </p:spPr>
        <p:txBody>
          <a:bodyPr/>
          <a:lstStyle>
            <a:lvl1pPr marL="0" indent="0" algn="ctr">
              <a:buNone/>
              <a:defRPr sz="2400">
                <a:solidFill>
                  <a:schemeClr val="bg2">
                    <a:lumMod val="1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0D56C689-8E98-4045-AAAC-AC66298D8CDB}"/>
              </a:ext>
            </a:extLst>
          </p:cNvPr>
          <p:cNvSpPr>
            <a:spLocks noGrp="1"/>
          </p:cNvSpPr>
          <p:nvPr>
            <p:ph type="dt" sz="half" idx="10"/>
          </p:nvPr>
        </p:nvSpPr>
        <p:spPr>
          <a:xfrm>
            <a:off x="5023411" y="5266097"/>
            <a:ext cx="1482526" cy="365125"/>
          </a:xfrm>
        </p:spPr>
        <p:txBody>
          <a:bodyPr/>
          <a:lstStyle/>
          <a:p>
            <a:fld id="{FFA59539-6AA4-4B20-8277-ACCA791514EF}" type="datetimeFigureOut">
              <a:rPr lang="en-US" smtClean="0"/>
              <a:pPr/>
              <a:t>9/8/2026</a:t>
            </a:fld>
            <a:endParaRPr lang="en-US"/>
          </a:p>
        </p:txBody>
      </p:sp>
      <p:sp>
        <p:nvSpPr>
          <p:cNvPr id="5" name="Footer Placeholder 4">
            <a:extLst>
              <a:ext uri="{FF2B5EF4-FFF2-40B4-BE49-F238E27FC236}">
                <a16:creationId xmlns:a16="http://schemas.microsoft.com/office/drawing/2014/main" id="{F3A7DCE6-A108-4CE1-BB08-97701D342A20}"/>
              </a:ext>
            </a:extLst>
          </p:cNvPr>
          <p:cNvSpPr>
            <a:spLocks noGrp="1"/>
          </p:cNvSpPr>
          <p:nvPr>
            <p:ph type="ftr" sz="quarter" idx="11"/>
          </p:nvPr>
        </p:nvSpPr>
        <p:spPr>
          <a:xfrm>
            <a:off x="7071167" y="5266096"/>
            <a:ext cx="2026534" cy="365125"/>
          </a:xfrm>
        </p:spPr>
        <p:txBody>
          <a:bodyPr/>
          <a:lstStyle/>
          <a:p>
            <a:endParaRPr lang="en-US" dirty="0"/>
          </a:p>
        </p:txBody>
      </p:sp>
      <p:sp>
        <p:nvSpPr>
          <p:cNvPr id="6" name="Slide Number Placeholder 5">
            <a:extLst>
              <a:ext uri="{FF2B5EF4-FFF2-40B4-BE49-F238E27FC236}">
                <a16:creationId xmlns:a16="http://schemas.microsoft.com/office/drawing/2014/main" id="{0428B96D-492C-4CC3-A033-5EA3A2F3CCEE}"/>
              </a:ext>
            </a:extLst>
          </p:cNvPr>
          <p:cNvSpPr>
            <a:spLocks noGrp="1"/>
          </p:cNvSpPr>
          <p:nvPr>
            <p:ph type="sldNum" sz="quarter" idx="12"/>
          </p:nvPr>
        </p:nvSpPr>
        <p:spPr>
          <a:xfrm>
            <a:off x="9662931" y="5266095"/>
            <a:ext cx="2026534" cy="365125"/>
          </a:xfrm>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27214654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E1157-304E-4446-9FA2-A0D0F7A509A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5B4CE9E-70A6-48AD-A24A-13D5743836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0BE2C5-1B89-4EE8-A540-906472A1FB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C4BB858-CDD0-459B-8AA4-9272BD26A46B}"/>
              </a:ext>
            </a:extLst>
          </p:cNvPr>
          <p:cNvSpPr>
            <a:spLocks noGrp="1"/>
          </p:cNvSpPr>
          <p:nvPr>
            <p:ph type="dt" sz="half" idx="10"/>
          </p:nvPr>
        </p:nvSpPr>
        <p:spPr/>
        <p:txBody>
          <a:bodyPr/>
          <a:lstStyle/>
          <a:p>
            <a:fld id="{FFA59539-6AA4-4B20-8277-ACCA791514EF}" type="datetimeFigureOut">
              <a:rPr lang="en-US" smtClean="0"/>
              <a:pPr/>
              <a:t>9/8/2026</a:t>
            </a:fld>
            <a:endParaRPr lang="en-US"/>
          </a:p>
        </p:txBody>
      </p:sp>
      <p:sp>
        <p:nvSpPr>
          <p:cNvPr id="6" name="Footer Placeholder 5">
            <a:extLst>
              <a:ext uri="{FF2B5EF4-FFF2-40B4-BE49-F238E27FC236}">
                <a16:creationId xmlns:a16="http://schemas.microsoft.com/office/drawing/2014/main" id="{4DB7E86D-82BE-4E26-A9C3-95CC0F497B7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7D830B-C931-46B1-8F17-16243BFDFA90}"/>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730577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1CABEE-5ED7-4733-B755-CB96ADE7AA4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1A0618-A658-46BD-AB6D-8208DA7FC8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3867DBE-C48C-42A1-94A3-9527A0944B7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F27F4C-4D8F-4F03-9881-DADD3BC808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57925D-369F-411F-B885-734AB70D294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63643A2-98F3-42F1-9A82-FA5FFD7F88F9}"/>
              </a:ext>
            </a:extLst>
          </p:cNvPr>
          <p:cNvSpPr>
            <a:spLocks noGrp="1"/>
          </p:cNvSpPr>
          <p:nvPr>
            <p:ph type="dt" sz="half" idx="10"/>
          </p:nvPr>
        </p:nvSpPr>
        <p:spPr/>
        <p:txBody>
          <a:bodyPr/>
          <a:lstStyle/>
          <a:p>
            <a:fld id="{FFA59539-6AA4-4B20-8277-ACCA791514EF}" type="datetimeFigureOut">
              <a:rPr lang="en-US" smtClean="0"/>
              <a:pPr/>
              <a:t>9/8/2026</a:t>
            </a:fld>
            <a:endParaRPr lang="en-US"/>
          </a:p>
        </p:txBody>
      </p:sp>
      <p:sp>
        <p:nvSpPr>
          <p:cNvPr id="8" name="Footer Placeholder 7">
            <a:extLst>
              <a:ext uri="{FF2B5EF4-FFF2-40B4-BE49-F238E27FC236}">
                <a16:creationId xmlns:a16="http://schemas.microsoft.com/office/drawing/2014/main" id="{AC162CF4-4E17-4D39-8E8E-8949A9CD9E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DEEB83-1757-489A-8EE3-E5F48A357EBB}"/>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825987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650B1-6BD1-4645-81EE-9AC7858D85E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97856AC-1564-422B-A261-A405B2217D42}"/>
              </a:ext>
            </a:extLst>
          </p:cNvPr>
          <p:cNvSpPr>
            <a:spLocks noGrp="1"/>
          </p:cNvSpPr>
          <p:nvPr>
            <p:ph type="dt" sz="half" idx="10"/>
          </p:nvPr>
        </p:nvSpPr>
        <p:spPr/>
        <p:txBody>
          <a:bodyPr/>
          <a:lstStyle/>
          <a:p>
            <a:fld id="{FFA59539-6AA4-4B20-8277-ACCA791514EF}" type="datetimeFigureOut">
              <a:rPr lang="en-US" smtClean="0"/>
              <a:pPr/>
              <a:t>9/8/2026</a:t>
            </a:fld>
            <a:endParaRPr lang="en-US"/>
          </a:p>
        </p:txBody>
      </p:sp>
      <p:sp>
        <p:nvSpPr>
          <p:cNvPr id="4" name="Footer Placeholder 3">
            <a:extLst>
              <a:ext uri="{FF2B5EF4-FFF2-40B4-BE49-F238E27FC236}">
                <a16:creationId xmlns:a16="http://schemas.microsoft.com/office/drawing/2014/main" id="{AA5EC8FB-F905-4A5D-AB53-12C1AADB931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C74DBB-D2BA-424E-A50D-E0D78897E9E2}"/>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2780188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C992351-298C-4CA7-A9E3-56F637FA48B9}"/>
              </a:ext>
            </a:extLst>
          </p:cNvPr>
          <p:cNvSpPr>
            <a:spLocks noGrp="1"/>
          </p:cNvSpPr>
          <p:nvPr>
            <p:ph type="dt" sz="half" idx="10"/>
          </p:nvPr>
        </p:nvSpPr>
        <p:spPr/>
        <p:txBody>
          <a:bodyPr/>
          <a:lstStyle/>
          <a:p>
            <a:fld id="{FFA59539-6AA4-4B20-8277-ACCA791514EF}" type="datetimeFigureOut">
              <a:rPr lang="en-US" smtClean="0"/>
              <a:pPr/>
              <a:t>9/8/2026</a:t>
            </a:fld>
            <a:endParaRPr lang="en-US"/>
          </a:p>
        </p:txBody>
      </p:sp>
      <p:sp>
        <p:nvSpPr>
          <p:cNvPr id="3" name="Footer Placeholder 2">
            <a:extLst>
              <a:ext uri="{FF2B5EF4-FFF2-40B4-BE49-F238E27FC236}">
                <a16:creationId xmlns:a16="http://schemas.microsoft.com/office/drawing/2014/main" id="{13F81D90-C9C0-4B17-89C3-13DA3A9114B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29E314D-FD1B-4975-AE16-9CDCC6342C3D}"/>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4835202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29E3F-372A-407D-B334-3FD2775502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240B83-8870-4B46-9F59-5CC84DEFB0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8CC3D7-7F10-42DA-8696-266C3AE69E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7E5CF6-7F8D-4850-9864-97DA86EA78D4}"/>
              </a:ext>
            </a:extLst>
          </p:cNvPr>
          <p:cNvSpPr>
            <a:spLocks noGrp="1"/>
          </p:cNvSpPr>
          <p:nvPr>
            <p:ph type="dt" sz="half" idx="10"/>
          </p:nvPr>
        </p:nvSpPr>
        <p:spPr/>
        <p:txBody>
          <a:bodyPr/>
          <a:lstStyle/>
          <a:p>
            <a:fld id="{FFA59539-6AA4-4B20-8277-ACCA791514EF}" type="datetimeFigureOut">
              <a:rPr lang="en-US" smtClean="0"/>
              <a:pPr/>
              <a:t>9/8/2026</a:t>
            </a:fld>
            <a:endParaRPr lang="en-US"/>
          </a:p>
        </p:txBody>
      </p:sp>
      <p:sp>
        <p:nvSpPr>
          <p:cNvPr id="6" name="Footer Placeholder 5">
            <a:extLst>
              <a:ext uri="{FF2B5EF4-FFF2-40B4-BE49-F238E27FC236}">
                <a16:creationId xmlns:a16="http://schemas.microsoft.com/office/drawing/2014/main" id="{73646AFE-B880-46F5-B5C6-2DEC8AAFBB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375EDA-D7C7-4D5B-8ADA-2C4C0D169E46}"/>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1494897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10A279-B977-4A7C-87E5-62231D9463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CC0D755-8571-44A5-AE1A-89C9201F5B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5F734A2E-AFFE-48A4-A1FD-8FC6BEE61F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085560A-540C-47FC-A6B0-665522069079}"/>
              </a:ext>
            </a:extLst>
          </p:cNvPr>
          <p:cNvSpPr>
            <a:spLocks noGrp="1"/>
          </p:cNvSpPr>
          <p:nvPr>
            <p:ph type="dt" sz="half" idx="10"/>
          </p:nvPr>
        </p:nvSpPr>
        <p:spPr/>
        <p:txBody>
          <a:bodyPr/>
          <a:lstStyle/>
          <a:p>
            <a:fld id="{FFA59539-6AA4-4B20-8277-ACCA791514EF}" type="datetimeFigureOut">
              <a:rPr lang="en-US" smtClean="0"/>
              <a:pPr/>
              <a:t>9/8/2026</a:t>
            </a:fld>
            <a:endParaRPr lang="en-US"/>
          </a:p>
        </p:txBody>
      </p:sp>
      <p:sp>
        <p:nvSpPr>
          <p:cNvPr id="6" name="Footer Placeholder 5">
            <a:extLst>
              <a:ext uri="{FF2B5EF4-FFF2-40B4-BE49-F238E27FC236}">
                <a16:creationId xmlns:a16="http://schemas.microsoft.com/office/drawing/2014/main" id="{949A1103-4151-4737-9D9F-ECB366AA7DE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F0B3C5-F017-4E10-86F3-4C24DEFA8BD4}"/>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958458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1024C-8551-48EC-85CB-36598BBE266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67669F4-208D-4BAB-82BE-F275945E2B7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781D84-11A2-4845-9DEE-21A1FB2F7749}"/>
              </a:ext>
            </a:extLst>
          </p:cNvPr>
          <p:cNvSpPr>
            <a:spLocks noGrp="1"/>
          </p:cNvSpPr>
          <p:nvPr>
            <p:ph type="dt" sz="half" idx="10"/>
          </p:nvPr>
        </p:nvSpPr>
        <p:spPr/>
        <p:txBody>
          <a:bodyPr/>
          <a:lstStyle/>
          <a:p>
            <a:fld id="{FFA59539-6AA4-4B20-8277-ACCA791514EF}" type="datetimeFigureOut">
              <a:rPr lang="en-US" smtClean="0"/>
              <a:pPr/>
              <a:t>9/8/2026</a:t>
            </a:fld>
            <a:endParaRPr lang="en-US"/>
          </a:p>
        </p:txBody>
      </p:sp>
      <p:sp>
        <p:nvSpPr>
          <p:cNvPr id="5" name="Footer Placeholder 4">
            <a:extLst>
              <a:ext uri="{FF2B5EF4-FFF2-40B4-BE49-F238E27FC236}">
                <a16:creationId xmlns:a16="http://schemas.microsoft.com/office/drawing/2014/main" id="{82F461C0-7A06-45C8-A0F8-23FAD46F322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B6CCC8-2ED3-42E3-8030-B0E9DF79659C}"/>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18482938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05E5C2-3281-4A33-88C5-C97138BFACA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50B8C3E-19EC-4156-82C4-FA8E3ACF7D9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78D120-4C33-4D5C-A088-1E77796376A1}"/>
              </a:ext>
            </a:extLst>
          </p:cNvPr>
          <p:cNvSpPr>
            <a:spLocks noGrp="1"/>
          </p:cNvSpPr>
          <p:nvPr>
            <p:ph type="dt" sz="half" idx="10"/>
          </p:nvPr>
        </p:nvSpPr>
        <p:spPr/>
        <p:txBody>
          <a:bodyPr/>
          <a:lstStyle/>
          <a:p>
            <a:fld id="{FFA59539-6AA4-4B20-8277-ACCA791514EF}" type="datetimeFigureOut">
              <a:rPr lang="en-US" smtClean="0"/>
              <a:pPr/>
              <a:t>9/8/2026</a:t>
            </a:fld>
            <a:endParaRPr lang="en-US"/>
          </a:p>
        </p:txBody>
      </p:sp>
      <p:sp>
        <p:nvSpPr>
          <p:cNvPr id="5" name="Footer Placeholder 4">
            <a:extLst>
              <a:ext uri="{FF2B5EF4-FFF2-40B4-BE49-F238E27FC236}">
                <a16:creationId xmlns:a16="http://schemas.microsoft.com/office/drawing/2014/main" id="{B418C907-51F8-4CCC-8671-CA5B649EB3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480B0B-A14D-4BA5-A718-F6E7ADBC49CD}"/>
              </a:ext>
            </a:extLst>
          </p:cNvPr>
          <p:cNvSpPr>
            <a:spLocks noGrp="1"/>
          </p:cNvSpPr>
          <p:nvPr>
            <p:ph type="sldNum" sz="quarter" idx="12"/>
          </p:nvPr>
        </p:nvSpPr>
        <p:spPr/>
        <p:txBody>
          <a:bodyPr/>
          <a:lstStyle/>
          <a:p>
            <a:fld id="{C52AFD5A-4082-4BE4-96FC-4C4C6076294A}" type="slidenum">
              <a:rPr lang="en-US" smtClean="0"/>
              <a:pPr/>
              <a:t>‹#›</a:t>
            </a:fld>
            <a:endParaRPr lang="en-US"/>
          </a:p>
        </p:txBody>
      </p:sp>
    </p:spTree>
    <p:extLst>
      <p:ext uri="{BB962C8B-B14F-4D97-AF65-F5344CB8AC3E}">
        <p14:creationId xmlns:p14="http://schemas.microsoft.com/office/powerpoint/2010/main" val="3624613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8698770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7343416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4663217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7206840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7391167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6655164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7002899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2821373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4169701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7400873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18018788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3635972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41000135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82490878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34721828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187232008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6319167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4418709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30167948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9207641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52778412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29111291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5577159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53601727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046420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45438731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04615674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4475896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9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265292148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r>
                <a:rPr lang="en-US" sz="1200" dirty="0" err="1">
                  <a:solidFill>
                    <a:schemeClr val="bg1"/>
                  </a:solidFill>
                  <a:latin typeface="Helvetica"/>
                  <a:cs typeface="Helvetica"/>
                </a:rPr>
                <a:t>www.knust.edu.gh</a:t>
              </a:r>
              <a:endParaRPr lang="en-US" sz="1200" dirty="0">
                <a:solidFill>
                  <a:schemeClr val="bg1"/>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3" name="Text Placeholder 2">
            <a:extLst>
              <a:ext uri="{FF2B5EF4-FFF2-40B4-BE49-F238E27FC236}">
                <a16:creationId xmlns:a16="http://schemas.microsoft.com/office/drawing/2014/main" id="{E14AD37C-C236-486D-9BF1-DC21FAE88452}"/>
              </a:ext>
            </a:extLst>
          </p:cNvPr>
          <p:cNvSpPr>
            <a:spLocks noGrp="1"/>
          </p:cNvSpPr>
          <p:nvPr>
            <p:ph type="body" sz="quarter" idx="13"/>
          </p:nvPr>
        </p:nvSpPr>
        <p:spPr>
          <a:xfrm>
            <a:off x="609600" y="1744664"/>
            <a:ext cx="10972800" cy="3836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itle 14">
            <a:extLst>
              <a:ext uri="{FF2B5EF4-FFF2-40B4-BE49-F238E27FC236}">
                <a16:creationId xmlns:a16="http://schemas.microsoft.com/office/drawing/2014/main" id="{F2F08E7E-5127-4FC1-A2DE-54095FBCB5AF}"/>
              </a:ext>
            </a:extLst>
          </p:cNvPr>
          <p:cNvSpPr>
            <a:spLocks noGrp="1"/>
          </p:cNvSpPr>
          <p:nvPr>
            <p:ph type="title"/>
          </p:nvPr>
        </p:nvSpPr>
        <p:spPr>
          <a:xfrm>
            <a:off x="838200" y="365126"/>
            <a:ext cx="10515600" cy="1325563"/>
          </a:xfrm>
          <a:prstGeom prst="rect">
            <a:avLst/>
          </a:prstGeom>
        </p:spPr>
        <p:txBody>
          <a:bodyPr/>
          <a:lstStyle>
            <a:lvl1pPr>
              <a:defRPr>
                <a:solidFill>
                  <a:srgbClr val="008000"/>
                </a:solidFill>
              </a:defRPr>
            </a:lvl1pPr>
          </a:lstStyle>
          <a:p>
            <a:r>
              <a:rPr lang="en-US"/>
              <a:t>Click to edit Master title style</a:t>
            </a:r>
          </a:p>
        </p:txBody>
      </p:sp>
      <p:sp>
        <p:nvSpPr>
          <p:cNvPr id="16" name="Date Placeholder 15">
            <a:extLst>
              <a:ext uri="{FF2B5EF4-FFF2-40B4-BE49-F238E27FC236}">
                <a16:creationId xmlns:a16="http://schemas.microsoft.com/office/drawing/2014/main" id="{0E835741-2818-41A7-A39D-09F4DC0A9C95}"/>
              </a:ext>
            </a:extLst>
          </p:cNvPr>
          <p:cNvSpPr>
            <a:spLocks noGrp="1"/>
          </p:cNvSpPr>
          <p:nvPr>
            <p:ph type="dt" sz="half" idx="14"/>
          </p:nvPr>
        </p:nvSpPr>
        <p:spPr/>
        <p:txBody>
          <a:bodyPr/>
          <a:lstStyle/>
          <a:p>
            <a:fld id="{E2D751C0-DD79-0043-A8DE-0BFEC2DE753E}" type="datetimeFigureOut">
              <a:rPr lang="en-US" smtClean="0"/>
              <a:t>9/8/2026</a:t>
            </a:fld>
            <a:endParaRPr lang="en-US"/>
          </a:p>
        </p:txBody>
      </p:sp>
      <p:sp>
        <p:nvSpPr>
          <p:cNvPr id="17" name="Footer Placeholder 16">
            <a:extLst>
              <a:ext uri="{FF2B5EF4-FFF2-40B4-BE49-F238E27FC236}">
                <a16:creationId xmlns:a16="http://schemas.microsoft.com/office/drawing/2014/main" id="{172CCE80-D7F0-4B69-ADF5-D23CD30779BA}"/>
              </a:ext>
            </a:extLst>
          </p:cNvPr>
          <p:cNvSpPr>
            <a:spLocks noGrp="1"/>
          </p:cNvSpPr>
          <p:nvPr>
            <p:ph type="ftr" sz="quarter" idx="15"/>
          </p:nvPr>
        </p:nvSpPr>
        <p:spPr/>
        <p:txBody>
          <a:bodyPr/>
          <a:lstStyle/>
          <a:p>
            <a:endParaRPr lang="en-US"/>
          </a:p>
        </p:txBody>
      </p:sp>
      <p:sp>
        <p:nvSpPr>
          <p:cNvPr id="18" name="Slide Number Placeholder 17">
            <a:extLst>
              <a:ext uri="{FF2B5EF4-FFF2-40B4-BE49-F238E27FC236}">
                <a16:creationId xmlns:a16="http://schemas.microsoft.com/office/drawing/2014/main" id="{51A482A7-BC66-4BFB-9C6B-8B4F395D8DEC}"/>
              </a:ext>
            </a:extLst>
          </p:cNvPr>
          <p:cNvSpPr>
            <a:spLocks noGrp="1"/>
          </p:cNvSpPr>
          <p:nvPr>
            <p:ph type="sldNum" sz="quarter" idx="16"/>
          </p:nvPr>
        </p:nvSpPr>
        <p:spPr/>
        <p:txBody>
          <a:bodyPr/>
          <a:lstStyle/>
          <a:p>
            <a:fld id="{F4801FD5-11B4-DE43-ACA2-E85EEB9A6F9C}" type="slidenum">
              <a:rPr lang="en-US" smtClean="0"/>
              <a:t>‹#›</a:t>
            </a:fld>
            <a:endParaRPr lang="en-US"/>
          </a:p>
        </p:txBody>
      </p:sp>
    </p:spTree>
    <p:extLst>
      <p:ext uri="{BB962C8B-B14F-4D97-AF65-F5344CB8AC3E}">
        <p14:creationId xmlns:p14="http://schemas.microsoft.com/office/powerpoint/2010/main" val="309084925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1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D751C0-DD79-0043-A8DE-0BFEC2DE753E}" type="datetimeFigureOut">
              <a:rPr lang="en-US" smtClean="0">
                <a:solidFill>
                  <a:prstClr val="black">
                    <a:tint val="75000"/>
                  </a:prstClr>
                </a:solidFill>
              </a:rPr>
              <a:pPr/>
              <a:t>9/8/2026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4801FD5-11B4-DE43-ACA2-E85EEB9A6F9C}" type="slidenum">
              <a:rPr lang="en-US" smtClean="0">
                <a:solidFill>
                  <a:prstClr val="black">
                    <a:tint val="75000"/>
                  </a:prstClr>
                </a:solidFill>
              </a:rPr>
              <a:pPr/>
              <a:t>‹#›</a:t>
            </a:fld>
            <a:endParaRPr lang="en-US">
              <a:solidFill>
                <a:prstClr val="black">
                  <a:tint val="75000"/>
                </a:prstClr>
              </a:solidFill>
            </a:endParaRPr>
          </a:p>
        </p:txBody>
      </p:sp>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pPr defTabSz="457200"/>
              <a:r>
                <a:rPr lang="en-US" sz="1200" dirty="0" err="1">
                  <a:solidFill>
                    <a:prstClr val="white"/>
                  </a:solidFill>
                  <a:latin typeface="Helvetica"/>
                  <a:cs typeface="Helvetica"/>
                </a:rPr>
                <a:t>www.knust.edu.gh</a:t>
              </a:r>
              <a:endParaRPr lang="en-US" sz="1200" dirty="0">
                <a:solidFill>
                  <a:prstClr val="white"/>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14" name="Title 1"/>
          <p:cNvSpPr>
            <a:spLocks noGrp="1"/>
          </p:cNvSpPr>
          <p:nvPr>
            <p:ph type="title"/>
          </p:nvPr>
        </p:nvSpPr>
        <p:spPr>
          <a:xfrm>
            <a:off x="609600" y="274638"/>
            <a:ext cx="10972800" cy="1143000"/>
          </a:xfrm>
          <a:prstGeom prst="rect">
            <a:avLst/>
          </a:prstGeom>
        </p:spPr>
        <p:txBody>
          <a:bodyPr/>
          <a:lstStyle/>
          <a:p>
            <a:pPr algn="l"/>
            <a:r>
              <a:rPr lang="en-US" dirty="0">
                <a:solidFill>
                  <a:srgbClr val="008000"/>
                </a:solidFill>
                <a:latin typeface="Helvetica"/>
                <a:cs typeface="Helvetica"/>
              </a:rPr>
              <a:t>Introduction</a:t>
            </a:r>
          </a:p>
        </p:txBody>
      </p:sp>
    </p:spTree>
    <p:extLst>
      <p:ext uri="{BB962C8B-B14F-4D97-AF65-F5344CB8AC3E}">
        <p14:creationId xmlns:p14="http://schemas.microsoft.com/office/powerpoint/2010/main" val="265460863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2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D751C0-DD79-0043-A8DE-0BFEC2DE753E}" type="datetimeFigureOut">
              <a:rPr lang="en-US" smtClean="0">
                <a:solidFill>
                  <a:prstClr val="black">
                    <a:tint val="75000"/>
                  </a:prstClr>
                </a:solidFill>
              </a:rPr>
              <a:pPr/>
              <a:t>9/8/2026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4801FD5-11B4-DE43-ACA2-E85EEB9A6F9C}" type="slidenum">
              <a:rPr lang="en-US" smtClean="0">
                <a:solidFill>
                  <a:prstClr val="black">
                    <a:tint val="75000"/>
                  </a:prstClr>
                </a:solidFill>
              </a:rPr>
              <a:pPr/>
              <a:t>‹#›</a:t>
            </a:fld>
            <a:endParaRPr lang="en-US">
              <a:solidFill>
                <a:prstClr val="black">
                  <a:tint val="75000"/>
                </a:prstClr>
              </a:solidFill>
            </a:endParaRPr>
          </a:p>
        </p:txBody>
      </p:sp>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pPr defTabSz="457200"/>
              <a:r>
                <a:rPr lang="en-US" sz="1200" dirty="0" err="1">
                  <a:solidFill>
                    <a:prstClr val="white"/>
                  </a:solidFill>
                  <a:latin typeface="Helvetica"/>
                  <a:cs typeface="Helvetica"/>
                </a:rPr>
                <a:t>www.knust.edu.gh</a:t>
              </a:r>
              <a:endParaRPr lang="en-US" sz="1200" dirty="0">
                <a:solidFill>
                  <a:prstClr val="white"/>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14" name="Title 1"/>
          <p:cNvSpPr>
            <a:spLocks noGrp="1"/>
          </p:cNvSpPr>
          <p:nvPr>
            <p:ph type="title"/>
          </p:nvPr>
        </p:nvSpPr>
        <p:spPr>
          <a:xfrm>
            <a:off x="609600" y="274638"/>
            <a:ext cx="10972800" cy="1143000"/>
          </a:xfrm>
          <a:prstGeom prst="rect">
            <a:avLst/>
          </a:prstGeom>
        </p:spPr>
        <p:txBody>
          <a:bodyPr/>
          <a:lstStyle/>
          <a:p>
            <a:pPr algn="l"/>
            <a:r>
              <a:rPr lang="en-US" dirty="0">
                <a:solidFill>
                  <a:srgbClr val="008000"/>
                </a:solidFill>
                <a:latin typeface="Helvetica"/>
                <a:cs typeface="Helvetica"/>
              </a:rPr>
              <a:t>Introduction</a:t>
            </a:r>
          </a:p>
        </p:txBody>
      </p:sp>
    </p:spTree>
    <p:extLst>
      <p:ext uri="{BB962C8B-B14F-4D97-AF65-F5344CB8AC3E}">
        <p14:creationId xmlns:p14="http://schemas.microsoft.com/office/powerpoint/2010/main" val="15594093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33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D751C0-DD79-0043-A8DE-0BFEC2DE753E}" type="datetimeFigureOut">
              <a:rPr lang="en-US" smtClean="0">
                <a:solidFill>
                  <a:prstClr val="black">
                    <a:tint val="75000"/>
                  </a:prstClr>
                </a:solidFill>
              </a:rPr>
              <a:pPr/>
              <a:t>9/8/2026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4801FD5-11B4-DE43-ACA2-E85EEB9A6F9C}" type="slidenum">
              <a:rPr lang="en-US" smtClean="0">
                <a:solidFill>
                  <a:prstClr val="black">
                    <a:tint val="75000"/>
                  </a:prstClr>
                </a:solidFill>
              </a:rPr>
              <a:pPr/>
              <a:t>‹#›</a:t>
            </a:fld>
            <a:endParaRPr lang="en-US">
              <a:solidFill>
                <a:prstClr val="black">
                  <a:tint val="75000"/>
                </a:prstClr>
              </a:solidFill>
            </a:endParaRPr>
          </a:p>
        </p:txBody>
      </p:sp>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pPr defTabSz="457200"/>
              <a:r>
                <a:rPr lang="en-US" sz="1200" dirty="0" err="1">
                  <a:solidFill>
                    <a:prstClr val="white"/>
                  </a:solidFill>
                  <a:latin typeface="Helvetica"/>
                  <a:cs typeface="Helvetica"/>
                </a:rPr>
                <a:t>www.knust.edu.gh</a:t>
              </a:r>
              <a:endParaRPr lang="en-US" sz="1200" dirty="0">
                <a:solidFill>
                  <a:prstClr val="white"/>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14" name="Title 1"/>
          <p:cNvSpPr>
            <a:spLocks noGrp="1"/>
          </p:cNvSpPr>
          <p:nvPr>
            <p:ph type="title"/>
          </p:nvPr>
        </p:nvSpPr>
        <p:spPr>
          <a:xfrm>
            <a:off x="609600" y="274638"/>
            <a:ext cx="10972800" cy="1143000"/>
          </a:xfrm>
          <a:prstGeom prst="rect">
            <a:avLst/>
          </a:prstGeom>
        </p:spPr>
        <p:txBody>
          <a:bodyPr/>
          <a:lstStyle/>
          <a:p>
            <a:pPr algn="l"/>
            <a:r>
              <a:rPr lang="en-US" dirty="0">
                <a:solidFill>
                  <a:srgbClr val="008000"/>
                </a:solidFill>
                <a:latin typeface="Helvetica"/>
                <a:cs typeface="Helvetica"/>
              </a:rPr>
              <a:t>Introduction</a:t>
            </a:r>
          </a:p>
        </p:txBody>
      </p:sp>
    </p:spTree>
    <p:extLst>
      <p:ext uri="{BB962C8B-B14F-4D97-AF65-F5344CB8AC3E}">
        <p14:creationId xmlns:p14="http://schemas.microsoft.com/office/powerpoint/2010/main" val="48866764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34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D751C0-DD79-0043-A8DE-0BFEC2DE753E}" type="datetimeFigureOut">
              <a:rPr lang="en-US" smtClean="0">
                <a:solidFill>
                  <a:prstClr val="black">
                    <a:tint val="75000"/>
                  </a:prstClr>
                </a:solidFill>
              </a:rPr>
              <a:pPr/>
              <a:t>9/8/2026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4801FD5-11B4-DE43-ACA2-E85EEB9A6F9C}" type="slidenum">
              <a:rPr lang="en-US" smtClean="0">
                <a:solidFill>
                  <a:prstClr val="black">
                    <a:tint val="75000"/>
                  </a:prstClr>
                </a:solidFill>
              </a:rPr>
              <a:pPr/>
              <a:t>‹#›</a:t>
            </a:fld>
            <a:endParaRPr lang="en-US">
              <a:solidFill>
                <a:prstClr val="black">
                  <a:tint val="75000"/>
                </a:prstClr>
              </a:solidFill>
            </a:endParaRPr>
          </a:p>
        </p:txBody>
      </p:sp>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pPr defTabSz="457200"/>
              <a:r>
                <a:rPr lang="en-US" sz="1200" dirty="0" err="1">
                  <a:solidFill>
                    <a:prstClr val="white"/>
                  </a:solidFill>
                  <a:latin typeface="Helvetica"/>
                  <a:cs typeface="Helvetica"/>
                </a:rPr>
                <a:t>www.knust.edu.gh</a:t>
              </a:r>
              <a:endParaRPr lang="en-US" sz="1200" dirty="0">
                <a:solidFill>
                  <a:prstClr val="white"/>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14" name="Title 1"/>
          <p:cNvSpPr>
            <a:spLocks noGrp="1"/>
          </p:cNvSpPr>
          <p:nvPr>
            <p:ph type="title"/>
          </p:nvPr>
        </p:nvSpPr>
        <p:spPr>
          <a:xfrm>
            <a:off x="609600" y="274638"/>
            <a:ext cx="10972800" cy="1143000"/>
          </a:xfrm>
          <a:prstGeom prst="rect">
            <a:avLst/>
          </a:prstGeom>
        </p:spPr>
        <p:txBody>
          <a:bodyPr/>
          <a:lstStyle/>
          <a:p>
            <a:pPr algn="l"/>
            <a:r>
              <a:rPr lang="en-US" dirty="0">
                <a:solidFill>
                  <a:srgbClr val="008000"/>
                </a:solidFill>
                <a:latin typeface="Helvetica"/>
                <a:cs typeface="Helvetica"/>
              </a:rPr>
              <a:t>Introduction</a:t>
            </a:r>
          </a:p>
        </p:txBody>
      </p:sp>
    </p:spTree>
    <p:extLst>
      <p:ext uri="{BB962C8B-B14F-4D97-AF65-F5344CB8AC3E}">
        <p14:creationId xmlns:p14="http://schemas.microsoft.com/office/powerpoint/2010/main" val="59657754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5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D751C0-DD79-0043-A8DE-0BFEC2DE753E}" type="datetimeFigureOut">
              <a:rPr lang="en-US" smtClean="0">
                <a:solidFill>
                  <a:prstClr val="black">
                    <a:tint val="75000"/>
                  </a:prstClr>
                </a:solidFill>
              </a:rPr>
              <a:pPr/>
              <a:t>9/8/2026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4801FD5-11B4-DE43-ACA2-E85EEB9A6F9C}" type="slidenum">
              <a:rPr lang="en-US" smtClean="0">
                <a:solidFill>
                  <a:prstClr val="black">
                    <a:tint val="75000"/>
                  </a:prstClr>
                </a:solidFill>
              </a:rPr>
              <a:pPr/>
              <a:t>‹#›</a:t>
            </a:fld>
            <a:endParaRPr lang="en-US">
              <a:solidFill>
                <a:prstClr val="black">
                  <a:tint val="75000"/>
                </a:prstClr>
              </a:solidFill>
            </a:endParaRPr>
          </a:p>
        </p:txBody>
      </p:sp>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pPr defTabSz="457200"/>
              <a:r>
                <a:rPr lang="en-US" sz="1200" dirty="0" err="1">
                  <a:solidFill>
                    <a:prstClr val="white"/>
                  </a:solidFill>
                  <a:latin typeface="Helvetica"/>
                  <a:cs typeface="Helvetica"/>
                </a:rPr>
                <a:t>www.knust.edu.gh</a:t>
              </a:r>
              <a:endParaRPr lang="en-US" sz="1200" dirty="0">
                <a:solidFill>
                  <a:prstClr val="white"/>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14" name="Title 1"/>
          <p:cNvSpPr>
            <a:spLocks noGrp="1"/>
          </p:cNvSpPr>
          <p:nvPr>
            <p:ph type="title"/>
          </p:nvPr>
        </p:nvSpPr>
        <p:spPr>
          <a:xfrm>
            <a:off x="609600" y="274638"/>
            <a:ext cx="10972800" cy="1143000"/>
          </a:xfrm>
          <a:prstGeom prst="rect">
            <a:avLst/>
          </a:prstGeom>
        </p:spPr>
        <p:txBody>
          <a:bodyPr/>
          <a:lstStyle/>
          <a:p>
            <a:pPr algn="l"/>
            <a:r>
              <a:rPr lang="en-US" dirty="0">
                <a:solidFill>
                  <a:srgbClr val="008000"/>
                </a:solidFill>
                <a:latin typeface="Helvetica"/>
                <a:cs typeface="Helvetica"/>
              </a:rPr>
              <a:t>Introduction</a:t>
            </a:r>
          </a:p>
        </p:txBody>
      </p:sp>
    </p:spTree>
    <p:extLst>
      <p:ext uri="{BB962C8B-B14F-4D97-AF65-F5344CB8AC3E}">
        <p14:creationId xmlns:p14="http://schemas.microsoft.com/office/powerpoint/2010/main" val="389125198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36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D751C0-DD79-0043-A8DE-0BFEC2DE753E}" type="datetimeFigureOut">
              <a:rPr lang="en-US" smtClean="0">
                <a:solidFill>
                  <a:prstClr val="black">
                    <a:tint val="75000"/>
                  </a:prstClr>
                </a:solidFill>
              </a:rPr>
              <a:pPr/>
              <a:t>9/8/2026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4801FD5-11B4-DE43-ACA2-E85EEB9A6F9C}" type="slidenum">
              <a:rPr lang="en-US" smtClean="0">
                <a:solidFill>
                  <a:prstClr val="black">
                    <a:tint val="75000"/>
                  </a:prstClr>
                </a:solidFill>
              </a:rPr>
              <a:pPr/>
              <a:t>‹#›</a:t>
            </a:fld>
            <a:endParaRPr lang="en-US">
              <a:solidFill>
                <a:prstClr val="black">
                  <a:tint val="75000"/>
                </a:prstClr>
              </a:solidFill>
            </a:endParaRPr>
          </a:p>
        </p:txBody>
      </p:sp>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pPr defTabSz="457200"/>
              <a:r>
                <a:rPr lang="en-US" sz="1200" dirty="0" err="1">
                  <a:solidFill>
                    <a:prstClr val="white"/>
                  </a:solidFill>
                  <a:latin typeface="Helvetica"/>
                  <a:cs typeface="Helvetica"/>
                </a:rPr>
                <a:t>www.knust.edu.gh</a:t>
              </a:r>
              <a:endParaRPr lang="en-US" sz="1200" dirty="0">
                <a:solidFill>
                  <a:prstClr val="white"/>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14" name="Title 1"/>
          <p:cNvSpPr>
            <a:spLocks noGrp="1"/>
          </p:cNvSpPr>
          <p:nvPr>
            <p:ph type="title"/>
          </p:nvPr>
        </p:nvSpPr>
        <p:spPr>
          <a:xfrm>
            <a:off x="609600" y="274638"/>
            <a:ext cx="10972800" cy="1143000"/>
          </a:xfrm>
          <a:prstGeom prst="rect">
            <a:avLst/>
          </a:prstGeom>
        </p:spPr>
        <p:txBody>
          <a:bodyPr/>
          <a:lstStyle/>
          <a:p>
            <a:pPr algn="l"/>
            <a:r>
              <a:rPr lang="en-US" dirty="0">
                <a:solidFill>
                  <a:srgbClr val="008000"/>
                </a:solidFill>
                <a:latin typeface="Helvetica"/>
                <a:cs typeface="Helvetica"/>
              </a:rPr>
              <a:t>Introduction</a:t>
            </a:r>
          </a:p>
        </p:txBody>
      </p:sp>
    </p:spTree>
    <p:extLst>
      <p:ext uri="{BB962C8B-B14F-4D97-AF65-F5344CB8AC3E}">
        <p14:creationId xmlns:p14="http://schemas.microsoft.com/office/powerpoint/2010/main" val="259703374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37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D751C0-DD79-0043-A8DE-0BFEC2DE753E}" type="datetimeFigureOut">
              <a:rPr lang="en-US" smtClean="0">
                <a:solidFill>
                  <a:prstClr val="black">
                    <a:tint val="75000"/>
                  </a:prstClr>
                </a:solidFill>
              </a:rPr>
              <a:pPr/>
              <a:t>9/8/2026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4801FD5-11B4-DE43-ACA2-E85EEB9A6F9C}" type="slidenum">
              <a:rPr lang="en-US" smtClean="0">
                <a:solidFill>
                  <a:prstClr val="black">
                    <a:tint val="75000"/>
                  </a:prstClr>
                </a:solidFill>
              </a:rPr>
              <a:pPr/>
              <a:t>‹#›</a:t>
            </a:fld>
            <a:endParaRPr lang="en-US">
              <a:solidFill>
                <a:prstClr val="black">
                  <a:tint val="75000"/>
                </a:prstClr>
              </a:solidFill>
            </a:endParaRPr>
          </a:p>
        </p:txBody>
      </p:sp>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pPr defTabSz="457200"/>
              <a:r>
                <a:rPr lang="en-US" sz="1200" dirty="0" err="1">
                  <a:solidFill>
                    <a:prstClr val="white"/>
                  </a:solidFill>
                  <a:latin typeface="Helvetica"/>
                  <a:cs typeface="Helvetica"/>
                </a:rPr>
                <a:t>www.knust.edu.gh</a:t>
              </a:r>
              <a:endParaRPr lang="en-US" sz="1200" dirty="0">
                <a:solidFill>
                  <a:prstClr val="white"/>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14" name="Title 1"/>
          <p:cNvSpPr>
            <a:spLocks noGrp="1"/>
          </p:cNvSpPr>
          <p:nvPr>
            <p:ph type="title"/>
          </p:nvPr>
        </p:nvSpPr>
        <p:spPr>
          <a:xfrm>
            <a:off x="609600" y="274638"/>
            <a:ext cx="10972800" cy="1143000"/>
          </a:xfrm>
          <a:prstGeom prst="rect">
            <a:avLst/>
          </a:prstGeom>
        </p:spPr>
        <p:txBody>
          <a:bodyPr/>
          <a:lstStyle/>
          <a:p>
            <a:pPr algn="l"/>
            <a:r>
              <a:rPr lang="en-US" dirty="0">
                <a:solidFill>
                  <a:srgbClr val="008000"/>
                </a:solidFill>
                <a:latin typeface="Helvetica"/>
                <a:cs typeface="Helvetica"/>
              </a:rPr>
              <a:t>Introduction</a:t>
            </a:r>
          </a:p>
        </p:txBody>
      </p:sp>
    </p:spTree>
    <p:extLst>
      <p:ext uri="{BB962C8B-B14F-4D97-AF65-F5344CB8AC3E}">
        <p14:creationId xmlns:p14="http://schemas.microsoft.com/office/powerpoint/2010/main" val="329814343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38_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2D751C0-DD79-0043-A8DE-0BFEC2DE753E}" type="datetimeFigureOut">
              <a:rPr lang="en-US" smtClean="0">
                <a:solidFill>
                  <a:prstClr val="black">
                    <a:tint val="75000"/>
                  </a:prstClr>
                </a:solidFill>
              </a:rPr>
              <a:pPr/>
              <a:t>9/8/2026</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4801FD5-11B4-DE43-ACA2-E85EEB9A6F9C}" type="slidenum">
              <a:rPr lang="en-US" smtClean="0">
                <a:solidFill>
                  <a:prstClr val="black">
                    <a:tint val="75000"/>
                  </a:prstClr>
                </a:solidFill>
              </a:rPr>
              <a:pPr/>
              <a:t>‹#›</a:t>
            </a:fld>
            <a:endParaRPr lang="en-US">
              <a:solidFill>
                <a:prstClr val="black">
                  <a:tint val="75000"/>
                </a:prstClr>
              </a:solidFill>
            </a:endParaRPr>
          </a:p>
        </p:txBody>
      </p:sp>
      <p:grpSp>
        <p:nvGrpSpPr>
          <p:cNvPr id="7" name="Group 6"/>
          <p:cNvGrpSpPr/>
          <p:nvPr userDrawn="1"/>
        </p:nvGrpSpPr>
        <p:grpSpPr>
          <a:xfrm>
            <a:off x="0" y="5992944"/>
            <a:ext cx="12192000" cy="865057"/>
            <a:chOff x="0" y="5992943"/>
            <a:chExt cx="9144000" cy="865057"/>
          </a:xfrm>
        </p:grpSpPr>
        <p:sp>
          <p:nvSpPr>
            <p:cNvPr id="8" name="Rectangle 7"/>
            <p:cNvSpPr/>
            <p:nvPr/>
          </p:nvSpPr>
          <p:spPr>
            <a:xfrm>
              <a:off x="0" y="6377674"/>
              <a:ext cx="9144000" cy="480326"/>
            </a:xfrm>
            <a:prstGeom prst="rect">
              <a:avLst/>
            </a:prstGeom>
            <a:solidFill>
              <a:schemeClr val="accent3">
                <a:lumMod val="40000"/>
                <a:lumOff val="6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sp>
          <p:nvSpPr>
            <p:cNvPr id="9" name="Rectangle 8"/>
            <p:cNvSpPr/>
            <p:nvPr/>
          </p:nvSpPr>
          <p:spPr>
            <a:xfrm>
              <a:off x="0" y="5992943"/>
              <a:ext cx="9144000" cy="363407"/>
            </a:xfrm>
            <a:prstGeom prst="rect">
              <a:avLst/>
            </a:prstGeom>
            <a:solidFill>
              <a:srgbClr val="008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sz="1800">
                <a:solidFill>
                  <a:prstClr val="white"/>
                </a:solidFill>
              </a:endParaRPr>
            </a:p>
          </p:txBody>
        </p:sp>
        <p:pic>
          <p:nvPicPr>
            <p:cNvPr id="10" name="Picture 9" descr="KNUST_logo Vector.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47208" y="6021427"/>
              <a:ext cx="205238" cy="283189"/>
            </a:xfrm>
            <a:prstGeom prst="rect">
              <a:avLst/>
            </a:prstGeom>
          </p:spPr>
        </p:pic>
        <p:sp>
          <p:nvSpPr>
            <p:cNvPr id="11" name="TextBox 10">
              <a:hlinkClick r:id="rId3"/>
            </p:cNvPr>
            <p:cNvSpPr txBox="1"/>
            <p:nvPr/>
          </p:nvSpPr>
          <p:spPr>
            <a:xfrm>
              <a:off x="7137936" y="6036146"/>
              <a:ext cx="1548864" cy="276999"/>
            </a:xfrm>
            <a:prstGeom prst="rect">
              <a:avLst/>
            </a:prstGeom>
            <a:noFill/>
          </p:spPr>
          <p:txBody>
            <a:bodyPr wrap="square" rtlCol="0">
              <a:spAutoFit/>
            </a:bodyPr>
            <a:lstStyle/>
            <a:p>
              <a:pPr defTabSz="457200"/>
              <a:r>
                <a:rPr lang="en-US" sz="1200" dirty="0" err="1">
                  <a:solidFill>
                    <a:prstClr val="white"/>
                  </a:solidFill>
                  <a:latin typeface="Helvetica"/>
                  <a:cs typeface="Helvetica"/>
                </a:rPr>
                <a:t>www.knust.edu.gh</a:t>
              </a:r>
              <a:endParaRPr lang="en-US" sz="1200" dirty="0">
                <a:solidFill>
                  <a:prstClr val="white"/>
                </a:solidFill>
                <a:latin typeface="Helvetica"/>
                <a:cs typeface="Helvetica"/>
              </a:endParaRPr>
            </a:p>
          </p:txBody>
        </p:sp>
        <p:pic>
          <p:nvPicPr>
            <p:cNvPr id="12" name="Picture 11">
              <a:hlinkClick r:id="rId4"/>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61258" y="6042056"/>
              <a:ext cx="268162" cy="268162"/>
            </a:xfrm>
            <a:prstGeom prst="rect">
              <a:avLst/>
            </a:prstGeom>
          </p:spPr>
        </p:pic>
        <p:pic>
          <p:nvPicPr>
            <p:cNvPr id="13" name="Picture 12">
              <a:hlinkClick r:id="rId6"/>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197791" y="6029719"/>
              <a:ext cx="292217" cy="292217"/>
            </a:xfrm>
            <a:prstGeom prst="rect">
              <a:avLst/>
            </a:prstGeom>
          </p:spPr>
        </p:pic>
      </p:grpSp>
      <p:sp>
        <p:nvSpPr>
          <p:cNvPr id="14" name="Title 1"/>
          <p:cNvSpPr>
            <a:spLocks noGrp="1"/>
          </p:cNvSpPr>
          <p:nvPr>
            <p:ph type="title"/>
          </p:nvPr>
        </p:nvSpPr>
        <p:spPr>
          <a:xfrm>
            <a:off x="609600" y="274638"/>
            <a:ext cx="10972800" cy="1143000"/>
          </a:xfrm>
          <a:prstGeom prst="rect">
            <a:avLst/>
          </a:prstGeom>
        </p:spPr>
        <p:txBody>
          <a:bodyPr/>
          <a:lstStyle/>
          <a:p>
            <a:pPr algn="l"/>
            <a:r>
              <a:rPr lang="en-US" dirty="0">
                <a:solidFill>
                  <a:srgbClr val="008000"/>
                </a:solidFill>
                <a:latin typeface="Helvetica"/>
                <a:cs typeface="Helvetica"/>
              </a:rPr>
              <a:t>Introduction</a:t>
            </a:r>
          </a:p>
        </p:txBody>
      </p:sp>
    </p:spTree>
    <p:extLst>
      <p:ext uri="{BB962C8B-B14F-4D97-AF65-F5344CB8AC3E}">
        <p14:creationId xmlns:p14="http://schemas.microsoft.com/office/powerpoint/2010/main" val="60099529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1.jpe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51"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4EBDDA-E62D-4396-A585-79909DF65F1D}"/>
              </a:ext>
            </a:extLst>
          </p:cNvPr>
          <p:cNvSpPr>
            <a:spLocks noGrp="1"/>
          </p:cNvSpPr>
          <p:nvPr>
            <p:ph type="title"/>
          </p:nvPr>
        </p:nvSpPr>
        <p:spPr>
          <a:xfrm>
            <a:off x="838200" y="608924"/>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4D21B46D-FE47-4863-91F5-8DF27DBA3FBD}"/>
              </a:ext>
            </a:extLst>
          </p:cNvPr>
          <p:cNvSpPr>
            <a:spLocks noGrp="1"/>
          </p:cNvSpPr>
          <p:nvPr>
            <p:ph type="body" idx="1"/>
          </p:nvPr>
        </p:nvSpPr>
        <p:spPr>
          <a:xfrm>
            <a:off x="838200" y="1971081"/>
            <a:ext cx="10515600" cy="4277995"/>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B7AB05-0A06-4E1C-9ABC-94BB04320F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A59539-6AA4-4B20-8277-ACCA791514EF}" type="datetimeFigureOut">
              <a:rPr lang="en-US" smtClean="0"/>
              <a:pPr/>
              <a:t>9/8/2026</a:t>
            </a:fld>
            <a:endParaRPr lang="en-US"/>
          </a:p>
        </p:txBody>
      </p:sp>
      <p:sp>
        <p:nvSpPr>
          <p:cNvPr id="5" name="Footer Placeholder 4">
            <a:extLst>
              <a:ext uri="{FF2B5EF4-FFF2-40B4-BE49-F238E27FC236}">
                <a16:creationId xmlns:a16="http://schemas.microsoft.com/office/drawing/2014/main" id="{3443E9AF-D197-4E5B-86F0-EB12503E8F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FD37BCB-A864-4AA7-AA0C-5BBFBA97E9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2AFD5A-4082-4BE4-96FC-4C4C6076294A}" type="slidenum">
              <a:rPr lang="en-US" smtClean="0"/>
              <a:pPr/>
              <a:t>‹#›</a:t>
            </a:fld>
            <a:endParaRPr lang="en-US"/>
          </a:p>
        </p:txBody>
      </p:sp>
    </p:spTree>
    <p:extLst>
      <p:ext uri="{BB962C8B-B14F-4D97-AF65-F5344CB8AC3E}">
        <p14:creationId xmlns:p14="http://schemas.microsoft.com/office/powerpoint/2010/main" val="68298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Lst>
  <p:txStyles>
    <p:titleStyle>
      <a:lvl1pPr algn="l" defTabSz="914400" rtl="0" eaLnBrk="1" latinLnBrk="0" hangingPunct="1">
        <a:lnSpc>
          <a:spcPct val="90000"/>
        </a:lnSpc>
        <a:spcBef>
          <a:spcPct val="0"/>
        </a:spcBef>
        <a:buNone/>
        <a:defRPr sz="4400" b="1" kern="1200">
          <a:solidFill>
            <a:schemeClr val="accent6">
              <a:lumMod val="50000"/>
            </a:schemeClr>
          </a:solidFill>
          <a:latin typeface="+mn-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2800" kern="1200">
          <a:solidFill>
            <a:schemeClr val="bg2">
              <a:lumMod val="10000"/>
            </a:schemeClr>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bg2">
              <a:lumMod val="10000"/>
            </a:schemeClr>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bg2">
              <a:lumMod val="10000"/>
            </a:schemeClr>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bg2">
              <a:lumMod val="10000"/>
            </a:schemeClr>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bg2">
              <a:lumMod val="1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17720" y="1417320"/>
            <a:ext cx="6812280" cy="292608"/>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B7A3E"/>
                </a:solidFill>
                <a:latin typeface="Arial"/>
              </a:rPr>
              <a:t>IOT  ·  MACHINE LEARNING  ·  PREDICTIVE MAINTENANCE</a:t>
            </a:r>
          </a:p>
        </p:txBody>
      </p:sp>
      <p:sp>
        <p:nvSpPr>
          <p:cNvPr id="3" name="TextBox 2"/>
          <p:cNvSpPr txBox="1"/>
          <p:nvPr/>
        </p:nvSpPr>
        <p:spPr>
          <a:xfrm>
            <a:off x="4617720" y="1783080"/>
            <a:ext cx="6812280" cy="960120"/>
          </a:xfrm>
          <a:prstGeom prst="rect">
            <a:avLst/>
          </a:prstGeom>
          <a:noFill/>
        </p:spPr>
        <p:txBody>
          <a:bodyPr wrap="square" lIns="0" tIns="0" rIns="0" bIns="0" anchor="t">
            <a:spAutoFit/>
          </a:bodyPr>
          <a:lstStyle/>
          <a:p>
            <a:pPr algn="l">
              <a:lnSpc>
                <a:spcPct val="100000"/>
              </a:lnSpc>
              <a:spcBef>
                <a:spcPts val="0"/>
              </a:spcBef>
              <a:spcAft>
                <a:spcPts val="0"/>
              </a:spcAft>
            </a:pPr>
            <a:r>
              <a:rPr sz="5400" b="1" i="0">
                <a:solidFill>
                  <a:srgbClr val="014700"/>
                </a:solidFill>
                <a:latin typeface="Times New Roman"/>
              </a:rPr>
              <a:t>EngineIQ</a:t>
            </a:r>
          </a:p>
        </p:txBody>
      </p:sp>
      <p:sp>
        <p:nvSpPr>
          <p:cNvPr id="4" name="TextBox 3"/>
          <p:cNvSpPr txBox="1"/>
          <p:nvPr/>
        </p:nvSpPr>
        <p:spPr>
          <a:xfrm>
            <a:off x="4617720" y="2788920"/>
            <a:ext cx="6812280" cy="868680"/>
          </a:xfrm>
          <a:prstGeom prst="rect">
            <a:avLst/>
          </a:prstGeom>
          <a:noFill/>
        </p:spPr>
        <p:txBody>
          <a:bodyPr wrap="square" lIns="0" tIns="0" rIns="0" bIns="0" anchor="t">
            <a:spAutoFit/>
          </a:bodyPr>
          <a:lstStyle/>
          <a:p>
            <a:pPr algn="l">
              <a:lnSpc>
                <a:spcPct val="120000"/>
              </a:lnSpc>
              <a:spcBef>
                <a:spcPts val="0"/>
              </a:spcBef>
              <a:spcAft>
                <a:spcPts val="0"/>
              </a:spcAft>
            </a:pPr>
            <a:r>
              <a:rPr sz="1600" b="0" i="0">
                <a:solidFill>
                  <a:srgbClr val="1C1C1C"/>
                </a:solidFill>
                <a:latin typeface="Times New Roman"/>
              </a:rPr>
              <a:t>An IoT and Machine Learning Based Predictive
Car Engine Health Monitoring System</a:t>
            </a:r>
          </a:p>
        </p:txBody>
      </p:sp>
      <p:sp>
        <p:nvSpPr>
          <p:cNvPr id="5" name="Rectangle 4"/>
          <p:cNvSpPr/>
          <p:nvPr/>
        </p:nvSpPr>
        <p:spPr>
          <a:xfrm>
            <a:off x="4617720" y="3840480"/>
            <a:ext cx="2011680" cy="18288"/>
          </a:xfrm>
          <a:prstGeom prst="rect">
            <a:avLst/>
          </a:prstGeom>
          <a:solidFill>
            <a:srgbClr val="014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617720" y="4114800"/>
            <a:ext cx="6812280" cy="1554480"/>
          </a:xfrm>
          <a:prstGeom prst="rect">
            <a:avLst/>
          </a:prstGeom>
          <a:noFill/>
        </p:spPr>
        <p:txBody>
          <a:bodyPr wrap="square" lIns="0" tIns="0" rIns="0" bIns="0" anchor="t">
            <a:spAutoFit/>
          </a:bodyPr>
          <a:lstStyle/>
          <a:p>
            <a:pPr algn="l">
              <a:lnSpc>
                <a:spcPct val="100000"/>
              </a:lnSpc>
              <a:spcBef>
                <a:spcPts val="0"/>
              </a:spcBef>
              <a:spcAft>
                <a:spcPts val="500"/>
              </a:spcAft>
            </a:pPr>
            <a:r>
              <a:rPr sz="1300" b="1" i="0">
                <a:solidFill>
                  <a:srgbClr val="1C1C1C"/>
                </a:solidFill>
                <a:latin typeface="Arial"/>
              </a:rPr>
              <a:t>Iddrisu Faadila Wumpini   ·   Lartey-Mensah Emmanuel Tetteh</a:t>
            </a:r>
          </a:p>
          <a:p>
            <a:pPr algn="l">
              <a:lnSpc>
                <a:spcPct val="100000"/>
              </a:lnSpc>
              <a:spcBef>
                <a:spcPts val="0"/>
              </a:spcBef>
              <a:spcAft>
                <a:spcPts val="500"/>
              </a:spcAft>
            </a:pPr>
            <a:r>
              <a:rPr sz="1200" b="0" i="0">
                <a:solidFill>
                  <a:srgbClr val="5B5B5B"/>
                </a:solidFill>
                <a:latin typeface="Arial"/>
              </a:rPr>
              <a:t>Group 11</a:t>
            </a:r>
          </a:p>
          <a:p>
            <a:pPr algn="l">
              <a:lnSpc>
                <a:spcPct val="100000"/>
              </a:lnSpc>
              <a:spcBef>
                <a:spcPts val="0"/>
              </a:spcBef>
              <a:spcAft>
                <a:spcPts val="500"/>
              </a:spcAft>
            </a:pPr>
            <a:r>
              <a:rPr sz="1200" b="0" i="0">
                <a:solidFill>
                  <a:srgbClr val="1C1C1C"/>
                </a:solidFill>
                <a:latin typeface="Arial"/>
              </a:rPr>
              <a:t>Supervisor:  Dr. R.O.M Gyening</a:t>
            </a:r>
          </a:p>
          <a:p>
            <a:pPr algn="l">
              <a:lnSpc>
                <a:spcPct val="100000"/>
              </a:lnSpc>
              <a:spcBef>
                <a:spcPts val="0"/>
              </a:spcBef>
              <a:spcAft>
                <a:spcPts val="0"/>
              </a:spcAft>
            </a:pPr>
            <a:r>
              <a:rPr sz="1200" b="0" i="0">
                <a:solidFill>
                  <a:srgbClr val="5B5B5B"/>
                </a:solidFill>
                <a:latin typeface="Arial"/>
              </a:rPr>
              <a:t>Department of Computer Science  ·  KNUST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731520"/>
            <a:ext cx="1037844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B7A3E"/>
                </a:solidFill>
                <a:latin typeface="Arial"/>
              </a:rPr>
              <a:t>// THE PROBLEM</a:t>
            </a:r>
          </a:p>
        </p:txBody>
      </p:sp>
      <p:sp>
        <p:nvSpPr>
          <p:cNvPr id="3" name="TextBox 2"/>
          <p:cNvSpPr txBox="1"/>
          <p:nvPr/>
        </p:nvSpPr>
        <p:spPr>
          <a:xfrm>
            <a:off x="914400" y="1005840"/>
            <a:ext cx="10378440" cy="713232"/>
          </a:xfrm>
          <a:prstGeom prst="rect">
            <a:avLst/>
          </a:prstGeom>
          <a:noFill/>
        </p:spPr>
        <p:txBody>
          <a:bodyPr wrap="square" lIns="0" tIns="0" rIns="0" bIns="0" anchor="t">
            <a:spAutoFit/>
          </a:bodyPr>
          <a:lstStyle/>
          <a:p>
            <a:pPr algn="l">
              <a:lnSpc>
                <a:spcPct val="95000"/>
              </a:lnSpc>
              <a:spcBef>
                <a:spcPts val="0"/>
              </a:spcBef>
              <a:spcAft>
                <a:spcPts val="0"/>
              </a:spcAft>
            </a:pPr>
            <a:r>
              <a:rPr sz="2700" b="1" i="0">
                <a:solidFill>
                  <a:srgbClr val="014700"/>
                </a:solidFill>
                <a:latin typeface="Times New Roman"/>
              </a:rPr>
              <a:t>Ghana's roads, and a reactive repair culture</a:t>
            </a:r>
          </a:p>
        </p:txBody>
      </p:sp>
      <p:sp>
        <p:nvSpPr>
          <p:cNvPr id="4" name="Rectangle 3"/>
          <p:cNvSpPr/>
          <p:nvPr/>
        </p:nvSpPr>
        <p:spPr>
          <a:xfrm>
            <a:off x="914400" y="1755648"/>
            <a:ext cx="10378440" cy="18288"/>
          </a:xfrm>
          <a:prstGeom prst="rect">
            <a:avLst/>
          </a:prstGeom>
          <a:solidFill>
            <a:srgbClr val="014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897880"/>
            <a:ext cx="5486400" cy="256032"/>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5B5B5B"/>
                </a:solidFill>
                <a:latin typeface="Arial"/>
              </a:rPr>
              <a:t>EngineIQ  ·  Group 11  ·  Department of Computer Science, KNUST</a:t>
            </a:r>
          </a:p>
        </p:txBody>
      </p:sp>
      <p:sp>
        <p:nvSpPr>
          <p:cNvPr id="6" name="TextBox 5"/>
          <p:cNvSpPr txBox="1"/>
          <p:nvPr/>
        </p:nvSpPr>
        <p:spPr>
          <a:xfrm>
            <a:off x="10378440" y="5897880"/>
            <a:ext cx="914400" cy="256032"/>
          </a:xfrm>
          <a:prstGeom prst="rect">
            <a:avLst/>
          </a:prstGeom>
          <a:noFill/>
        </p:spPr>
        <p:txBody>
          <a:bodyPr wrap="square" lIns="0" tIns="0" rIns="0" bIns="0" anchor="t">
            <a:spAutoFit/>
          </a:bodyPr>
          <a:lstStyle/>
          <a:p>
            <a:pPr algn="r">
              <a:lnSpc>
                <a:spcPct val="100000"/>
              </a:lnSpc>
              <a:spcBef>
                <a:spcPts val="0"/>
              </a:spcBef>
              <a:spcAft>
                <a:spcPts val="0"/>
              </a:spcAft>
            </a:pPr>
            <a:r>
              <a:rPr sz="850" b="1" i="0">
                <a:solidFill>
                  <a:srgbClr val="1B7A3E"/>
                </a:solidFill>
                <a:latin typeface="Arial"/>
              </a:rPr>
              <a:t>2</a:t>
            </a:r>
          </a:p>
        </p:txBody>
      </p:sp>
      <p:sp>
        <p:nvSpPr>
          <p:cNvPr id="7" name="Rounded Rectangle 6"/>
          <p:cNvSpPr/>
          <p:nvPr/>
        </p:nvSpPr>
        <p:spPr>
          <a:xfrm>
            <a:off x="914400" y="1965960"/>
            <a:ext cx="2388870" cy="1234440"/>
          </a:xfrm>
          <a:prstGeom prst="roundRect">
            <a:avLst>
              <a:gd name="adj" fmla="val 5000"/>
            </a:avLst>
          </a:prstGeom>
          <a:solidFill>
            <a:srgbClr val="FFFFFF"/>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042416" y="2084831"/>
            <a:ext cx="2132837" cy="810415"/>
          </a:xfrm>
          <a:prstGeom prst="rect">
            <a:avLst/>
          </a:prstGeom>
          <a:noFill/>
        </p:spPr>
        <p:txBody>
          <a:bodyPr wrap="square" lIns="0" tIns="0" rIns="0" bIns="0" anchor="t">
            <a:spAutoFit/>
          </a:bodyPr>
          <a:lstStyle/>
          <a:p>
            <a:pPr algn="l">
              <a:lnSpc>
                <a:spcPct val="100000"/>
              </a:lnSpc>
              <a:spcBef>
                <a:spcPts val="0"/>
              </a:spcBef>
              <a:spcAft>
                <a:spcPts val="400"/>
              </a:spcAft>
            </a:pPr>
            <a:r>
              <a:rPr sz="2500" b="1" i="0" dirty="0">
                <a:solidFill>
                  <a:srgbClr val="014700"/>
                </a:solidFill>
                <a:latin typeface="Times New Roman"/>
              </a:rPr>
              <a:t>2,949</a:t>
            </a:r>
          </a:p>
          <a:p>
            <a:pPr algn="l">
              <a:lnSpc>
                <a:spcPct val="105000"/>
              </a:lnSpc>
              <a:spcBef>
                <a:spcPts val="0"/>
              </a:spcBef>
              <a:spcAft>
                <a:spcPts val="0"/>
              </a:spcAft>
            </a:pPr>
            <a:r>
              <a:rPr sz="1200" b="1" i="0" dirty="0">
                <a:solidFill>
                  <a:srgbClr val="1C1C1C"/>
                </a:solidFill>
                <a:latin typeface="Arial"/>
              </a:rPr>
              <a:t>ROAD DEATHS</a:t>
            </a:r>
          </a:p>
          <a:p>
            <a:pPr algn="l">
              <a:lnSpc>
                <a:spcPct val="105000"/>
              </a:lnSpc>
              <a:spcBef>
                <a:spcPts val="0"/>
              </a:spcBef>
              <a:spcAft>
                <a:spcPts val="0"/>
              </a:spcAft>
            </a:pPr>
            <a:r>
              <a:rPr sz="1200" b="0" i="0" dirty="0">
                <a:solidFill>
                  <a:srgbClr val="5B5B5B"/>
                </a:solidFill>
                <a:latin typeface="Arial"/>
              </a:rPr>
              <a:t>GHANA, 2025</a:t>
            </a:r>
          </a:p>
        </p:txBody>
      </p:sp>
      <p:sp>
        <p:nvSpPr>
          <p:cNvPr id="9" name="Rounded Rectangle 8"/>
          <p:cNvSpPr/>
          <p:nvPr/>
        </p:nvSpPr>
        <p:spPr>
          <a:xfrm>
            <a:off x="3577589" y="1965960"/>
            <a:ext cx="2388870" cy="1234440"/>
          </a:xfrm>
          <a:prstGeom prst="roundRect">
            <a:avLst>
              <a:gd name="adj" fmla="val 5000"/>
            </a:avLst>
          </a:prstGeom>
          <a:solidFill>
            <a:srgbClr val="FFFFFF"/>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3705605" y="2084831"/>
            <a:ext cx="2132837" cy="810415"/>
          </a:xfrm>
          <a:prstGeom prst="rect">
            <a:avLst/>
          </a:prstGeom>
          <a:noFill/>
        </p:spPr>
        <p:txBody>
          <a:bodyPr wrap="square" lIns="0" tIns="0" rIns="0" bIns="0" anchor="t">
            <a:spAutoFit/>
          </a:bodyPr>
          <a:lstStyle/>
          <a:p>
            <a:pPr algn="l">
              <a:lnSpc>
                <a:spcPct val="100000"/>
              </a:lnSpc>
              <a:spcBef>
                <a:spcPts val="0"/>
              </a:spcBef>
              <a:spcAft>
                <a:spcPts val="400"/>
              </a:spcAft>
            </a:pPr>
            <a:r>
              <a:rPr sz="2500" b="1" i="0" dirty="0">
                <a:solidFill>
                  <a:srgbClr val="014700"/>
                </a:solidFill>
                <a:latin typeface="Times New Roman"/>
              </a:rPr>
              <a:t>35 yrs</a:t>
            </a:r>
          </a:p>
          <a:p>
            <a:pPr algn="l">
              <a:lnSpc>
                <a:spcPct val="105000"/>
              </a:lnSpc>
              <a:spcBef>
                <a:spcPts val="0"/>
              </a:spcBef>
              <a:spcAft>
                <a:spcPts val="0"/>
              </a:spcAft>
            </a:pPr>
            <a:r>
              <a:rPr sz="1200" b="1" i="0" dirty="0">
                <a:solidFill>
                  <a:srgbClr val="1C1C1C"/>
                </a:solidFill>
                <a:latin typeface="Arial"/>
              </a:rPr>
              <a:t>HIGHEST TOLL</a:t>
            </a:r>
          </a:p>
          <a:p>
            <a:pPr algn="l">
              <a:lnSpc>
                <a:spcPct val="105000"/>
              </a:lnSpc>
              <a:spcBef>
                <a:spcPts val="0"/>
              </a:spcBef>
              <a:spcAft>
                <a:spcPts val="0"/>
              </a:spcAft>
            </a:pPr>
            <a:r>
              <a:rPr sz="1200" b="0" i="0" dirty="0">
                <a:solidFill>
                  <a:srgbClr val="5B5B5B"/>
                </a:solidFill>
                <a:latin typeface="Arial"/>
              </a:rPr>
              <a:t>IN 35 YEARS</a:t>
            </a:r>
          </a:p>
        </p:txBody>
      </p:sp>
      <p:sp>
        <p:nvSpPr>
          <p:cNvPr id="11" name="Rounded Rectangle 10"/>
          <p:cNvSpPr/>
          <p:nvPr/>
        </p:nvSpPr>
        <p:spPr>
          <a:xfrm>
            <a:off x="6240779" y="1965960"/>
            <a:ext cx="2388870" cy="1234440"/>
          </a:xfrm>
          <a:prstGeom prst="roundRect">
            <a:avLst>
              <a:gd name="adj" fmla="val 5000"/>
            </a:avLst>
          </a:prstGeom>
          <a:solidFill>
            <a:srgbClr val="FFFFFF"/>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368795" y="2084831"/>
            <a:ext cx="2132837" cy="810415"/>
          </a:xfrm>
          <a:prstGeom prst="rect">
            <a:avLst/>
          </a:prstGeom>
          <a:noFill/>
        </p:spPr>
        <p:txBody>
          <a:bodyPr wrap="square" lIns="0" tIns="0" rIns="0" bIns="0" anchor="t">
            <a:spAutoFit/>
          </a:bodyPr>
          <a:lstStyle/>
          <a:p>
            <a:pPr algn="l">
              <a:lnSpc>
                <a:spcPct val="100000"/>
              </a:lnSpc>
              <a:spcBef>
                <a:spcPts val="0"/>
              </a:spcBef>
              <a:spcAft>
                <a:spcPts val="400"/>
              </a:spcAft>
            </a:pPr>
            <a:r>
              <a:rPr sz="2500" b="1" i="0" dirty="0">
                <a:solidFill>
                  <a:srgbClr val="014700"/>
                </a:solidFill>
                <a:latin typeface="Times New Roman"/>
              </a:rPr>
              <a:t>14,743</a:t>
            </a:r>
          </a:p>
          <a:p>
            <a:pPr algn="l">
              <a:lnSpc>
                <a:spcPct val="105000"/>
              </a:lnSpc>
              <a:spcBef>
                <a:spcPts val="0"/>
              </a:spcBef>
              <a:spcAft>
                <a:spcPts val="0"/>
              </a:spcAft>
            </a:pPr>
            <a:r>
              <a:rPr sz="1200" b="1" i="0" dirty="0">
                <a:solidFill>
                  <a:srgbClr val="1C1C1C"/>
                </a:solidFill>
                <a:latin typeface="Arial"/>
              </a:rPr>
              <a:t>CRASHES</a:t>
            </a:r>
          </a:p>
          <a:p>
            <a:pPr algn="l">
              <a:lnSpc>
                <a:spcPct val="105000"/>
              </a:lnSpc>
              <a:spcBef>
                <a:spcPts val="0"/>
              </a:spcBef>
              <a:spcAft>
                <a:spcPts val="0"/>
              </a:spcAft>
            </a:pPr>
            <a:r>
              <a:rPr sz="1200" b="0" i="0" dirty="0">
                <a:solidFill>
                  <a:srgbClr val="5B5B5B"/>
                </a:solidFill>
                <a:latin typeface="Arial"/>
              </a:rPr>
              <a:t>RECORDED</a:t>
            </a:r>
          </a:p>
        </p:txBody>
      </p:sp>
      <p:sp>
        <p:nvSpPr>
          <p:cNvPr id="13" name="Rounded Rectangle 12"/>
          <p:cNvSpPr/>
          <p:nvPr/>
        </p:nvSpPr>
        <p:spPr>
          <a:xfrm>
            <a:off x="8903969" y="1965960"/>
            <a:ext cx="2388870" cy="1234440"/>
          </a:xfrm>
          <a:prstGeom prst="roundRect">
            <a:avLst>
              <a:gd name="adj" fmla="val 5000"/>
            </a:avLst>
          </a:prstGeom>
          <a:solidFill>
            <a:srgbClr val="FFFFFF"/>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9031986" y="2084831"/>
            <a:ext cx="2132837" cy="810415"/>
          </a:xfrm>
          <a:prstGeom prst="rect">
            <a:avLst/>
          </a:prstGeom>
          <a:noFill/>
        </p:spPr>
        <p:txBody>
          <a:bodyPr wrap="square" lIns="0" tIns="0" rIns="0" bIns="0" anchor="t">
            <a:spAutoFit/>
          </a:bodyPr>
          <a:lstStyle/>
          <a:p>
            <a:pPr algn="l">
              <a:lnSpc>
                <a:spcPct val="100000"/>
              </a:lnSpc>
              <a:spcBef>
                <a:spcPts val="0"/>
              </a:spcBef>
              <a:spcAft>
                <a:spcPts val="400"/>
              </a:spcAft>
            </a:pPr>
            <a:r>
              <a:rPr sz="2500" b="1" i="0" dirty="0">
                <a:solidFill>
                  <a:srgbClr val="014700"/>
                </a:solidFill>
                <a:latin typeface="Times New Roman"/>
              </a:rPr>
              <a:t>1,009</a:t>
            </a:r>
          </a:p>
          <a:p>
            <a:pPr algn="l">
              <a:lnSpc>
                <a:spcPct val="105000"/>
              </a:lnSpc>
              <a:spcBef>
                <a:spcPts val="0"/>
              </a:spcBef>
              <a:spcAft>
                <a:spcPts val="0"/>
              </a:spcAft>
            </a:pPr>
            <a:r>
              <a:rPr sz="1200" b="1" i="0" dirty="0">
                <a:solidFill>
                  <a:srgbClr val="1C1C1C"/>
                </a:solidFill>
                <a:latin typeface="Arial"/>
              </a:rPr>
              <a:t>DEATHS</a:t>
            </a:r>
          </a:p>
          <a:p>
            <a:pPr algn="l">
              <a:lnSpc>
                <a:spcPct val="105000"/>
              </a:lnSpc>
              <a:spcBef>
                <a:spcPts val="0"/>
              </a:spcBef>
              <a:spcAft>
                <a:spcPts val="0"/>
              </a:spcAft>
            </a:pPr>
            <a:r>
              <a:rPr sz="1200" b="0" i="0" dirty="0">
                <a:solidFill>
                  <a:srgbClr val="5B5B5B"/>
                </a:solidFill>
                <a:latin typeface="Arial"/>
              </a:rPr>
              <a:t>JAN–APR 2026</a:t>
            </a:r>
          </a:p>
        </p:txBody>
      </p:sp>
      <p:sp>
        <p:nvSpPr>
          <p:cNvPr id="15" name="TextBox 14"/>
          <p:cNvSpPr txBox="1"/>
          <p:nvPr/>
        </p:nvSpPr>
        <p:spPr>
          <a:xfrm>
            <a:off x="914400" y="3401568"/>
            <a:ext cx="10378440" cy="1828001"/>
          </a:xfrm>
          <a:prstGeom prst="rect">
            <a:avLst/>
          </a:prstGeom>
          <a:noFill/>
        </p:spPr>
        <p:txBody>
          <a:bodyPr wrap="square" lIns="0" tIns="0" rIns="0" bIns="0" anchor="t">
            <a:spAutoFit/>
          </a:bodyPr>
          <a:lstStyle/>
          <a:p>
            <a:pPr algn="l">
              <a:lnSpc>
                <a:spcPct val="116000"/>
              </a:lnSpc>
              <a:spcBef>
                <a:spcPts val="0"/>
              </a:spcBef>
              <a:spcAft>
                <a:spcPts val="600"/>
              </a:spcAft>
            </a:pPr>
            <a:r>
              <a:rPr sz="1600" b="0" i="0" dirty="0">
                <a:solidFill>
                  <a:srgbClr val="1C1C1C"/>
                </a:solidFill>
                <a:latin typeface="Arial"/>
              </a:rPr>
              <a:t>Vehicle defects are a documented contributing factor — research attributes more than 35% of crashes in Ghana to some form of vehicle defect, linked to inadequate maintenance and overaged imported vehicles.</a:t>
            </a:r>
          </a:p>
          <a:p>
            <a:pPr algn="l">
              <a:lnSpc>
                <a:spcPct val="110000"/>
              </a:lnSpc>
              <a:spcBef>
                <a:spcPts val="0"/>
              </a:spcBef>
              <a:spcAft>
                <a:spcPts val="600"/>
              </a:spcAft>
            </a:pPr>
            <a:r>
              <a:rPr sz="1600" b="1" i="0" dirty="0">
                <a:solidFill>
                  <a:srgbClr val="014700"/>
                </a:solidFill>
                <a:latin typeface="Times New Roman"/>
              </a:rPr>
              <a:t>But the sharper problem is economic.</a:t>
            </a:r>
          </a:p>
          <a:p>
            <a:pPr algn="l">
              <a:lnSpc>
                <a:spcPct val="116000"/>
              </a:lnSpc>
              <a:spcBef>
                <a:spcPts val="0"/>
              </a:spcBef>
              <a:spcAft>
                <a:spcPts val="600"/>
              </a:spcAft>
            </a:pPr>
            <a:r>
              <a:rPr sz="1600" b="0" i="0" dirty="0">
                <a:solidFill>
                  <a:srgbClr val="1C1C1C"/>
                </a:solidFill>
                <a:latin typeface="Arial"/>
              </a:rPr>
              <a:t>Maintenance here is almost entirely reactive — the driver visits a fitter after the car has already stopped. When an engine seizes, the owner loses the vehicle, the income it generates and the repair money at once. For a taxi, </a:t>
            </a:r>
            <a:r>
              <a:rPr sz="1600" b="0" i="0" dirty="0" err="1">
                <a:solidFill>
                  <a:srgbClr val="1C1C1C"/>
                </a:solidFill>
                <a:latin typeface="Arial"/>
              </a:rPr>
              <a:t>trotro</a:t>
            </a:r>
            <a:r>
              <a:rPr sz="1600" b="0" i="0" dirty="0">
                <a:solidFill>
                  <a:srgbClr val="1C1C1C"/>
                </a:solidFill>
                <a:latin typeface="Arial"/>
              </a:rPr>
              <a:t> or Bolt driver, the vehicle is the household's income-generating asset.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731520"/>
            <a:ext cx="1037844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B7A3E"/>
                </a:solidFill>
                <a:latin typeface="Arial"/>
              </a:rPr>
              <a:t>// SCOPE</a:t>
            </a:r>
          </a:p>
        </p:txBody>
      </p:sp>
      <p:sp>
        <p:nvSpPr>
          <p:cNvPr id="3" name="TextBox 2"/>
          <p:cNvSpPr txBox="1"/>
          <p:nvPr/>
        </p:nvSpPr>
        <p:spPr>
          <a:xfrm>
            <a:off x="914400" y="1005840"/>
            <a:ext cx="10378440" cy="713232"/>
          </a:xfrm>
          <a:prstGeom prst="rect">
            <a:avLst/>
          </a:prstGeom>
          <a:noFill/>
        </p:spPr>
        <p:txBody>
          <a:bodyPr wrap="square" lIns="0" tIns="0" rIns="0" bIns="0" anchor="t">
            <a:spAutoFit/>
          </a:bodyPr>
          <a:lstStyle/>
          <a:p>
            <a:pPr algn="l">
              <a:lnSpc>
                <a:spcPct val="95000"/>
              </a:lnSpc>
              <a:spcBef>
                <a:spcPts val="0"/>
              </a:spcBef>
              <a:spcAft>
                <a:spcPts val="0"/>
              </a:spcAft>
            </a:pPr>
            <a:r>
              <a:rPr sz="2700" b="1" i="0">
                <a:solidFill>
                  <a:srgbClr val="014700"/>
                </a:solidFill>
                <a:latin typeface="Times New Roman"/>
              </a:rPr>
              <a:t>Why the engine?</a:t>
            </a:r>
          </a:p>
        </p:txBody>
      </p:sp>
      <p:sp>
        <p:nvSpPr>
          <p:cNvPr id="4" name="Rectangle 3"/>
          <p:cNvSpPr/>
          <p:nvPr/>
        </p:nvSpPr>
        <p:spPr>
          <a:xfrm>
            <a:off x="914400" y="1755648"/>
            <a:ext cx="10378440" cy="18288"/>
          </a:xfrm>
          <a:prstGeom prst="rect">
            <a:avLst/>
          </a:prstGeom>
          <a:solidFill>
            <a:srgbClr val="014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897880"/>
            <a:ext cx="5486400" cy="256032"/>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5B5B5B"/>
                </a:solidFill>
                <a:latin typeface="Arial"/>
              </a:rPr>
              <a:t>EngineIQ  ·  Group 11  ·  Department of Computer Science, KNUST</a:t>
            </a:r>
          </a:p>
        </p:txBody>
      </p:sp>
      <p:sp>
        <p:nvSpPr>
          <p:cNvPr id="6" name="TextBox 5"/>
          <p:cNvSpPr txBox="1"/>
          <p:nvPr/>
        </p:nvSpPr>
        <p:spPr>
          <a:xfrm>
            <a:off x="10378440" y="5897880"/>
            <a:ext cx="914400" cy="256032"/>
          </a:xfrm>
          <a:prstGeom prst="rect">
            <a:avLst/>
          </a:prstGeom>
          <a:noFill/>
        </p:spPr>
        <p:txBody>
          <a:bodyPr wrap="square" lIns="0" tIns="0" rIns="0" bIns="0" anchor="t">
            <a:spAutoFit/>
          </a:bodyPr>
          <a:lstStyle/>
          <a:p>
            <a:pPr algn="r">
              <a:lnSpc>
                <a:spcPct val="100000"/>
              </a:lnSpc>
              <a:spcBef>
                <a:spcPts val="0"/>
              </a:spcBef>
              <a:spcAft>
                <a:spcPts val="0"/>
              </a:spcAft>
            </a:pPr>
            <a:r>
              <a:rPr sz="850" b="1" i="0">
                <a:solidFill>
                  <a:srgbClr val="1B7A3E"/>
                </a:solidFill>
                <a:latin typeface="Arial"/>
              </a:rPr>
              <a:t>3</a:t>
            </a:r>
          </a:p>
        </p:txBody>
      </p:sp>
      <p:sp>
        <p:nvSpPr>
          <p:cNvPr id="7" name="Rounded Rectangle 6"/>
          <p:cNvSpPr/>
          <p:nvPr/>
        </p:nvSpPr>
        <p:spPr>
          <a:xfrm>
            <a:off x="914400" y="1965960"/>
            <a:ext cx="3215639" cy="3520440"/>
          </a:xfrm>
          <a:prstGeom prst="roundRect">
            <a:avLst>
              <a:gd name="adj" fmla="val 5000"/>
            </a:avLst>
          </a:prstGeom>
          <a:solidFill>
            <a:srgbClr val="F7F9F6"/>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170432" y="2203704"/>
            <a:ext cx="2703575" cy="2517484"/>
          </a:xfrm>
          <a:prstGeom prst="rect">
            <a:avLst/>
          </a:prstGeom>
          <a:noFill/>
        </p:spPr>
        <p:txBody>
          <a:bodyPr wrap="square" lIns="0" tIns="0" rIns="0" bIns="0" anchor="t">
            <a:spAutoFit/>
          </a:bodyPr>
          <a:lstStyle/>
          <a:p>
            <a:pPr algn="l">
              <a:lnSpc>
                <a:spcPct val="100000"/>
              </a:lnSpc>
              <a:spcBef>
                <a:spcPts val="0"/>
              </a:spcBef>
              <a:spcAft>
                <a:spcPts val="400"/>
              </a:spcAft>
            </a:pPr>
            <a:r>
              <a:rPr sz="2600" b="1" i="0" dirty="0">
                <a:solidFill>
                  <a:srgbClr val="00B050"/>
                </a:solidFill>
                <a:latin typeface="Times New Roman"/>
              </a:rPr>
              <a:t>01</a:t>
            </a:r>
          </a:p>
          <a:p>
            <a:pPr algn="l">
              <a:lnSpc>
                <a:spcPct val="100000"/>
              </a:lnSpc>
              <a:spcBef>
                <a:spcPts val="0"/>
              </a:spcBef>
              <a:spcAft>
                <a:spcPts val="800"/>
              </a:spcAft>
            </a:pPr>
            <a:r>
              <a:rPr sz="1600" b="1" i="0" dirty="0">
                <a:solidFill>
                  <a:srgbClr val="014700"/>
                </a:solidFill>
                <a:latin typeface="Arial"/>
              </a:rPr>
              <a:t>COST</a:t>
            </a:r>
          </a:p>
          <a:p>
            <a:pPr algn="l">
              <a:lnSpc>
                <a:spcPct val="118000"/>
              </a:lnSpc>
              <a:spcBef>
                <a:spcPts val="0"/>
              </a:spcBef>
              <a:spcAft>
                <a:spcPts val="0"/>
              </a:spcAft>
            </a:pPr>
            <a:r>
              <a:rPr sz="1600" b="0" i="0" dirty="0">
                <a:solidFill>
                  <a:srgbClr val="1C1C1C"/>
                </a:solidFill>
                <a:latin typeface="Arial"/>
              </a:rPr>
              <a:t>The single most expensive component to replace. Early detection therefore carries the highest financial payoff of anything we could have monitored.</a:t>
            </a:r>
          </a:p>
        </p:txBody>
      </p:sp>
      <p:sp>
        <p:nvSpPr>
          <p:cNvPr id="9" name="Rounded Rectangle 8"/>
          <p:cNvSpPr/>
          <p:nvPr/>
        </p:nvSpPr>
        <p:spPr>
          <a:xfrm>
            <a:off x="4495799" y="1965960"/>
            <a:ext cx="3215639" cy="3520440"/>
          </a:xfrm>
          <a:prstGeom prst="roundRect">
            <a:avLst>
              <a:gd name="adj" fmla="val 5000"/>
            </a:avLst>
          </a:prstGeom>
          <a:solidFill>
            <a:srgbClr val="F7F9F6"/>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4751832" y="2203704"/>
            <a:ext cx="2703575" cy="2808013"/>
          </a:xfrm>
          <a:prstGeom prst="rect">
            <a:avLst/>
          </a:prstGeom>
          <a:noFill/>
        </p:spPr>
        <p:txBody>
          <a:bodyPr wrap="square" lIns="0" tIns="0" rIns="0" bIns="0" anchor="t">
            <a:spAutoFit/>
          </a:bodyPr>
          <a:lstStyle/>
          <a:p>
            <a:pPr algn="l">
              <a:lnSpc>
                <a:spcPct val="100000"/>
              </a:lnSpc>
              <a:spcBef>
                <a:spcPts val="0"/>
              </a:spcBef>
              <a:spcAft>
                <a:spcPts val="400"/>
              </a:spcAft>
            </a:pPr>
            <a:r>
              <a:rPr sz="2600" b="1" i="0" dirty="0">
                <a:solidFill>
                  <a:srgbClr val="00B050"/>
                </a:solidFill>
                <a:latin typeface="Times New Roman"/>
              </a:rPr>
              <a:t>02</a:t>
            </a:r>
          </a:p>
          <a:p>
            <a:pPr algn="l">
              <a:lnSpc>
                <a:spcPct val="100000"/>
              </a:lnSpc>
              <a:spcBef>
                <a:spcPts val="0"/>
              </a:spcBef>
              <a:spcAft>
                <a:spcPts val="800"/>
              </a:spcAft>
            </a:pPr>
            <a:r>
              <a:rPr sz="1600" b="1" i="0" dirty="0">
                <a:solidFill>
                  <a:srgbClr val="014700"/>
                </a:solidFill>
                <a:latin typeface="Arial"/>
              </a:rPr>
              <a:t>PREDICTABILITY</a:t>
            </a:r>
          </a:p>
          <a:p>
            <a:pPr algn="l">
              <a:lnSpc>
                <a:spcPct val="118000"/>
              </a:lnSpc>
              <a:spcBef>
                <a:spcPts val="0"/>
              </a:spcBef>
              <a:spcAft>
                <a:spcPts val="0"/>
              </a:spcAft>
            </a:pPr>
            <a:r>
              <a:rPr sz="1600" b="0" i="0" dirty="0">
                <a:solidFill>
                  <a:srgbClr val="1C1C1C"/>
                </a:solidFill>
                <a:latin typeface="Arial"/>
              </a:rPr>
              <a:t>Engines fail gradually. Bearing wear, misfire and loose mounts all change the vibration signature long before the ECU trips a fault code — that is the prediction window a model can exploit</a:t>
            </a:r>
            <a:r>
              <a:rPr sz="1050" b="0" i="0" dirty="0">
                <a:solidFill>
                  <a:srgbClr val="1C1C1C"/>
                </a:solidFill>
                <a:latin typeface="Arial"/>
              </a:rPr>
              <a:t>.</a:t>
            </a:r>
          </a:p>
        </p:txBody>
      </p:sp>
      <p:sp>
        <p:nvSpPr>
          <p:cNvPr id="11" name="Rounded Rectangle 10"/>
          <p:cNvSpPr/>
          <p:nvPr/>
        </p:nvSpPr>
        <p:spPr>
          <a:xfrm>
            <a:off x="8077199" y="1965960"/>
            <a:ext cx="3215639" cy="3520440"/>
          </a:xfrm>
          <a:prstGeom prst="roundRect">
            <a:avLst>
              <a:gd name="adj" fmla="val 5000"/>
            </a:avLst>
          </a:prstGeom>
          <a:solidFill>
            <a:srgbClr val="F7F9F6"/>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8333231" y="2203704"/>
            <a:ext cx="2703575" cy="2808013"/>
          </a:xfrm>
          <a:prstGeom prst="rect">
            <a:avLst/>
          </a:prstGeom>
          <a:noFill/>
        </p:spPr>
        <p:txBody>
          <a:bodyPr wrap="square" lIns="0" tIns="0" rIns="0" bIns="0" anchor="t">
            <a:spAutoFit/>
          </a:bodyPr>
          <a:lstStyle/>
          <a:p>
            <a:pPr algn="l">
              <a:lnSpc>
                <a:spcPct val="100000"/>
              </a:lnSpc>
              <a:spcBef>
                <a:spcPts val="0"/>
              </a:spcBef>
              <a:spcAft>
                <a:spcPts val="400"/>
              </a:spcAft>
            </a:pPr>
            <a:r>
              <a:rPr sz="2600" b="1" i="0" dirty="0">
                <a:solidFill>
                  <a:srgbClr val="00B050"/>
                </a:solidFill>
                <a:latin typeface="Times New Roman"/>
              </a:rPr>
              <a:t>03</a:t>
            </a:r>
          </a:p>
          <a:p>
            <a:pPr algn="l">
              <a:lnSpc>
                <a:spcPct val="100000"/>
              </a:lnSpc>
              <a:spcBef>
                <a:spcPts val="0"/>
              </a:spcBef>
              <a:spcAft>
                <a:spcPts val="800"/>
              </a:spcAft>
            </a:pPr>
            <a:r>
              <a:rPr sz="1600" b="1" i="0" dirty="0">
                <a:solidFill>
                  <a:srgbClr val="014700"/>
                </a:solidFill>
                <a:latin typeface="Arial"/>
              </a:rPr>
              <a:t>LOCAL RELEVANCE</a:t>
            </a:r>
          </a:p>
          <a:p>
            <a:pPr algn="l">
              <a:lnSpc>
                <a:spcPct val="118000"/>
              </a:lnSpc>
              <a:spcBef>
                <a:spcPts val="0"/>
              </a:spcBef>
              <a:spcAft>
                <a:spcPts val="0"/>
              </a:spcAft>
            </a:pPr>
            <a:r>
              <a:rPr sz="1600" b="0" i="0" dirty="0">
                <a:solidFill>
                  <a:srgbClr val="1C1C1C"/>
                </a:solidFill>
                <a:latin typeface="Arial"/>
              </a:rPr>
              <a:t>In Ghana the vehicle is frequently the household's income-generating asset. Engine down means income zero. A missed fault is not inconvenience — it is loss of livelihood.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731520"/>
            <a:ext cx="1037844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B7A3E"/>
                </a:solidFill>
                <a:latin typeface="Arial"/>
              </a:rPr>
              <a:t>// LITERATURE</a:t>
            </a:r>
          </a:p>
        </p:txBody>
      </p:sp>
      <p:sp>
        <p:nvSpPr>
          <p:cNvPr id="3" name="TextBox 2"/>
          <p:cNvSpPr txBox="1"/>
          <p:nvPr/>
        </p:nvSpPr>
        <p:spPr>
          <a:xfrm>
            <a:off x="914400" y="1005840"/>
            <a:ext cx="10378440" cy="713232"/>
          </a:xfrm>
          <a:prstGeom prst="rect">
            <a:avLst/>
          </a:prstGeom>
          <a:noFill/>
        </p:spPr>
        <p:txBody>
          <a:bodyPr wrap="square" lIns="0" tIns="0" rIns="0" bIns="0" anchor="t">
            <a:spAutoFit/>
          </a:bodyPr>
          <a:lstStyle/>
          <a:p>
            <a:pPr algn="l">
              <a:lnSpc>
                <a:spcPct val="95000"/>
              </a:lnSpc>
              <a:spcBef>
                <a:spcPts val="0"/>
              </a:spcBef>
              <a:spcAft>
                <a:spcPts val="0"/>
              </a:spcAft>
            </a:pPr>
            <a:r>
              <a:rPr sz="2700" b="1" i="0">
                <a:solidFill>
                  <a:srgbClr val="014700"/>
                </a:solidFill>
                <a:latin typeface="Times New Roman"/>
              </a:rPr>
              <a:t>What already exists — and what it misses</a:t>
            </a:r>
          </a:p>
        </p:txBody>
      </p:sp>
      <p:sp>
        <p:nvSpPr>
          <p:cNvPr id="4" name="Rectangle 3"/>
          <p:cNvSpPr/>
          <p:nvPr/>
        </p:nvSpPr>
        <p:spPr>
          <a:xfrm>
            <a:off x="914400" y="1755648"/>
            <a:ext cx="10378440" cy="18288"/>
          </a:xfrm>
          <a:prstGeom prst="rect">
            <a:avLst/>
          </a:prstGeom>
          <a:solidFill>
            <a:srgbClr val="014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897880"/>
            <a:ext cx="5486400" cy="256032"/>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5B5B5B"/>
                </a:solidFill>
                <a:latin typeface="Arial"/>
              </a:rPr>
              <a:t>EngineIQ  ·  Group 11  ·  Department of Computer Science, KNUST</a:t>
            </a:r>
          </a:p>
        </p:txBody>
      </p:sp>
      <p:sp>
        <p:nvSpPr>
          <p:cNvPr id="6" name="TextBox 5"/>
          <p:cNvSpPr txBox="1"/>
          <p:nvPr/>
        </p:nvSpPr>
        <p:spPr>
          <a:xfrm>
            <a:off x="10378440" y="5897880"/>
            <a:ext cx="914400" cy="256032"/>
          </a:xfrm>
          <a:prstGeom prst="rect">
            <a:avLst/>
          </a:prstGeom>
          <a:noFill/>
        </p:spPr>
        <p:txBody>
          <a:bodyPr wrap="square" lIns="0" tIns="0" rIns="0" bIns="0" anchor="t">
            <a:spAutoFit/>
          </a:bodyPr>
          <a:lstStyle/>
          <a:p>
            <a:pPr algn="r">
              <a:lnSpc>
                <a:spcPct val="100000"/>
              </a:lnSpc>
              <a:spcBef>
                <a:spcPts val="0"/>
              </a:spcBef>
              <a:spcAft>
                <a:spcPts val="0"/>
              </a:spcAft>
            </a:pPr>
            <a:r>
              <a:rPr sz="850" b="1" i="0">
                <a:solidFill>
                  <a:srgbClr val="1B7A3E"/>
                </a:solidFill>
                <a:latin typeface="Arial"/>
              </a:rPr>
              <a:t>4</a:t>
            </a:r>
          </a:p>
        </p:txBody>
      </p:sp>
      <p:sp>
        <p:nvSpPr>
          <p:cNvPr id="7" name="TextBox 6"/>
          <p:cNvSpPr txBox="1"/>
          <p:nvPr/>
        </p:nvSpPr>
        <p:spPr>
          <a:xfrm>
            <a:off x="914400" y="1956816"/>
            <a:ext cx="2743200" cy="502920"/>
          </a:xfrm>
          <a:prstGeom prst="rect">
            <a:avLst/>
          </a:prstGeom>
          <a:noFill/>
        </p:spPr>
        <p:txBody>
          <a:bodyPr wrap="square" lIns="0" tIns="0" rIns="0" bIns="0" anchor="t">
            <a:spAutoFit/>
          </a:bodyPr>
          <a:lstStyle/>
          <a:p>
            <a:pPr algn="l">
              <a:lnSpc>
                <a:spcPct val="100000"/>
              </a:lnSpc>
              <a:spcBef>
                <a:spcPts val="0"/>
              </a:spcBef>
              <a:spcAft>
                <a:spcPts val="0"/>
              </a:spcAft>
            </a:pPr>
            <a:r>
              <a:rPr sz="1200" b="1" i="0">
                <a:solidFill>
                  <a:srgbClr val="014700"/>
                </a:solidFill>
                <a:latin typeface="Times New Roman"/>
              </a:rPr>
              <a:t>OBD-II</a:t>
            </a:r>
          </a:p>
        </p:txBody>
      </p:sp>
      <p:sp>
        <p:nvSpPr>
          <p:cNvPr id="8" name="TextBox 7"/>
          <p:cNvSpPr txBox="1"/>
          <p:nvPr/>
        </p:nvSpPr>
        <p:spPr>
          <a:xfrm>
            <a:off x="3840480" y="1938528"/>
            <a:ext cx="7452359" cy="566928"/>
          </a:xfrm>
          <a:prstGeom prst="rect">
            <a:avLst/>
          </a:prstGeom>
          <a:noFill/>
        </p:spPr>
        <p:txBody>
          <a:bodyPr wrap="square" lIns="0" tIns="0" rIns="0" bIns="0" anchor="t">
            <a:spAutoFit/>
          </a:bodyPr>
          <a:lstStyle/>
          <a:p>
            <a:pPr algn="l">
              <a:lnSpc>
                <a:spcPct val="116000"/>
              </a:lnSpc>
              <a:spcBef>
                <a:spcPts val="0"/>
              </a:spcBef>
              <a:spcAft>
                <a:spcPts val="0"/>
              </a:spcAft>
            </a:pPr>
            <a:r>
              <a:rPr sz="1050" b="0" i="0">
                <a:solidFill>
                  <a:srgbClr val="1C1C1C"/>
                </a:solidFill>
                <a:latin typeface="Arial"/>
              </a:rPr>
              <a:t>Reactive by design. Reports a threshold already crossed; cannot see wear developing. Needs a scanner most drivers do not own.</a:t>
            </a:r>
          </a:p>
        </p:txBody>
      </p:sp>
      <p:sp>
        <p:nvSpPr>
          <p:cNvPr id="9" name="Rectangle 8"/>
          <p:cNvSpPr/>
          <p:nvPr/>
        </p:nvSpPr>
        <p:spPr>
          <a:xfrm>
            <a:off x="914400" y="2542032"/>
            <a:ext cx="10378440" cy="7315"/>
          </a:xfrm>
          <a:prstGeom prst="rect">
            <a:avLst/>
          </a:prstGeom>
          <a:solidFill>
            <a:srgbClr val="C3D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615184"/>
            <a:ext cx="2743200" cy="502920"/>
          </a:xfrm>
          <a:prstGeom prst="rect">
            <a:avLst/>
          </a:prstGeom>
          <a:noFill/>
        </p:spPr>
        <p:txBody>
          <a:bodyPr wrap="square" lIns="0" tIns="0" rIns="0" bIns="0" anchor="t">
            <a:spAutoFit/>
          </a:bodyPr>
          <a:lstStyle/>
          <a:p>
            <a:pPr algn="l">
              <a:lnSpc>
                <a:spcPct val="100000"/>
              </a:lnSpc>
              <a:spcBef>
                <a:spcPts val="0"/>
              </a:spcBef>
              <a:spcAft>
                <a:spcPts val="0"/>
              </a:spcAft>
            </a:pPr>
            <a:r>
              <a:rPr sz="1200" b="1" i="0">
                <a:solidFill>
                  <a:srgbClr val="014700"/>
                </a:solidFill>
                <a:latin typeface="Times New Roman"/>
              </a:rPr>
              <a:t>Zhang &amp; Ji (2019)</a:t>
            </a:r>
          </a:p>
        </p:txBody>
      </p:sp>
      <p:sp>
        <p:nvSpPr>
          <p:cNvPr id="11" name="TextBox 10"/>
          <p:cNvSpPr txBox="1"/>
          <p:nvPr/>
        </p:nvSpPr>
        <p:spPr>
          <a:xfrm>
            <a:off x="3840480" y="2596896"/>
            <a:ext cx="7452359" cy="566928"/>
          </a:xfrm>
          <a:prstGeom prst="rect">
            <a:avLst/>
          </a:prstGeom>
          <a:noFill/>
        </p:spPr>
        <p:txBody>
          <a:bodyPr wrap="square" lIns="0" tIns="0" rIns="0" bIns="0" anchor="t">
            <a:spAutoFit/>
          </a:bodyPr>
          <a:lstStyle/>
          <a:p>
            <a:pPr algn="l">
              <a:lnSpc>
                <a:spcPct val="116000"/>
              </a:lnSpc>
              <a:spcBef>
                <a:spcPts val="0"/>
              </a:spcBef>
              <a:spcAft>
                <a:spcPts val="0"/>
              </a:spcAft>
            </a:pPr>
            <a:r>
              <a:rPr sz="1050" b="0" i="0">
                <a:solidFill>
                  <a:srgbClr val="1C1C1C"/>
                </a:solidFill>
                <a:latin typeface="Arial"/>
              </a:rPr>
              <a:t>Static frequency thresholds — prone to false positives as engine load varies.</a:t>
            </a:r>
          </a:p>
        </p:txBody>
      </p:sp>
      <p:sp>
        <p:nvSpPr>
          <p:cNvPr id="12" name="Rectangle 11"/>
          <p:cNvSpPr/>
          <p:nvPr/>
        </p:nvSpPr>
        <p:spPr>
          <a:xfrm>
            <a:off x="914400" y="3200400"/>
            <a:ext cx="10378440" cy="7315"/>
          </a:xfrm>
          <a:prstGeom prst="rect">
            <a:avLst/>
          </a:prstGeom>
          <a:solidFill>
            <a:srgbClr val="C3D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4400" y="3273551"/>
            <a:ext cx="2743200" cy="502920"/>
          </a:xfrm>
          <a:prstGeom prst="rect">
            <a:avLst/>
          </a:prstGeom>
          <a:noFill/>
        </p:spPr>
        <p:txBody>
          <a:bodyPr wrap="square" lIns="0" tIns="0" rIns="0" bIns="0" anchor="t">
            <a:spAutoFit/>
          </a:bodyPr>
          <a:lstStyle/>
          <a:p>
            <a:pPr algn="l">
              <a:lnSpc>
                <a:spcPct val="100000"/>
              </a:lnSpc>
              <a:spcBef>
                <a:spcPts val="0"/>
              </a:spcBef>
              <a:spcAft>
                <a:spcPts val="0"/>
              </a:spcAft>
            </a:pPr>
            <a:r>
              <a:rPr sz="1200" b="1" i="0">
                <a:solidFill>
                  <a:srgbClr val="014700"/>
                </a:solidFill>
                <a:latin typeface="Times New Roman"/>
              </a:rPr>
              <a:t>Malhotra et al. (2016)</a:t>
            </a:r>
          </a:p>
        </p:txBody>
      </p:sp>
      <p:sp>
        <p:nvSpPr>
          <p:cNvPr id="14" name="TextBox 13"/>
          <p:cNvSpPr txBox="1"/>
          <p:nvPr/>
        </p:nvSpPr>
        <p:spPr>
          <a:xfrm>
            <a:off x="3840480" y="3255263"/>
            <a:ext cx="7452359" cy="566928"/>
          </a:xfrm>
          <a:prstGeom prst="rect">
            <a:avLst/>
          </a:prstGeom>
          <a:noFill/>
        </p:spPr>
        <p:txBody>
          <a:bodyPr wrap="square" lIns="0" tIns="0" rIns="0" bIns="0" anchor="t">
            <a:spAutoFit/>
          </a:bodyPr>
          <a:lstStyle/>
          <a:p>
            <a:pPr algn="l">
              <a:lnSpc>
                <a:spcPct val="116000"/>
              </a:lnSpc>
              <a:spcBef>
                <a:spcPts val="0"/>
              </a:spcBef>
              <a:spcAft>
                <a:spcPts val="0"/>
              </a:spcAft>
            </a:pPr>
            <a:r>
              <a:rPr sz="1050" b="0" i="0">
                <a:solidFill>
                  <a:srgbClr val="1C1C1C"/>
                </a:solidFill>
                <a:latin typeface="Arial"/>
              </a:rPr>
              <a:t>Powerful LSTM encoder-decoder, but lab-only validation and too heavy for edge deployment.</a:t>
            </a:r>
          </a:p>
        </p:txBody>
      </p:sp>
      <p:sp>
        <p:nvSpPr>
          <p:cNvPr id="15" name="Rectangle 14"/>
          <p:cNvSpPr/>
          <p:nvPr/>
        </p:nvSpPr>
        <p:spPr>
          <a:xfrm>
            <a:off x="914400" y="3858768"/>
            <a:ext cx="10378440" cy="7315"/>
          </a:xfrm>
          <a:prstGeom prst="rect">
            <a:avLst/>
          </a:prstGeom>
          <a:solidFill>
            <a:srgbClr val="C3D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3931919"/>
            <a:ext cx="2743200" cy="502920"/>
          </a:xfrm>
          <a:prstGeom prst="rect">
            <a:avLst/>
          </a:prstGeom>
          <a:noFill/>
        </p:spPr>
        <p:txBody>
          <a:bodyPr wrap="square" lIns="0" tIns="0" rIns="0" bIns="0" anchor="t">
            <a:spAutoFit/>
          </a:bodyPr>
          <a:lstStyle/>
          <a:p>
            <a:pPr algn="l">
              <a:lnSpc>
                <a:spcPct val="100000"/>
              </a:lnSpc>
              <a:spcBef>
                <a:spcPts val="0"/>
              </a:spcBef>
              <a:spcAft>
                <a:spcPts val="0"/>
              </a:spcAft>
            </a:pPr>
            <a:r>
              <a:rPr sz="1200" b="1" i="0">
                <a:solidFill>
                  <a:srgbClr val="014700"/>
                </a:solidFill>
                <a:latin typeface="Times New Roman"/>
              </a:rPr>
              <a:t>Kanawaday &amp; Sane (2017)</a:t>
            </a:r>
          </a:p>
        </p:txBody>
      </p:sp>
      <p:sp>
        <p:nvSpPr>
          <p:cNvPr id="17" name="TextBox 16"/>
          <p:cNvSpPr txBox="1"/>
          <p:nvPr/>
        </p:nvSpPr>
        <p:spPr>
          <a:xfrm>
            <a:off x="3840480" y="3913631"/>
            <a:ext cx="7452359" cy="566928"/>
          </a:xfrm>
          <a:prstGeom prst="rect">
            <a:avLst/>
          </a:prstGeom>
          <a:noFill/>
        </p:spPr>
        <p:txBody>
          <a:bodyPr wrap="square" lIns="0" tIns="0" rIns="0" bIns="0" anchor="t">
            <a:spAutoFit/>
          </a:bodyPr>
          <a:lstStyle/>
          <a:p>
            <a:pPr algn="l">
              <a:lnSpc>
                <a:spcPct val="116000"/>
              </a:lnSpc>
              <a:spcBef>
                <a:spcPts val="0"/>
              </a:spcBef>
              <a:spcAft>
                <a:spcPts val="0"/>
              </a:spcAft>
            </a:pPr>
            <a:r>
              <a:rPr sz="1050" b="0" i="0">
                <a:solidFill>
                  <a:srgbClr val="1C1C1C"/>
                </a:solidFill>
                <a:latin typeface="Arial"/>
              </a:rPr>
              <a:t>Proved Isolation Forest works for predictive maintenance — on industrial hardware, impractical for one vehicle owner.</a:t>
            </a:r>
          </a:p>
        </p:txBody>
      </p:sp>
      <p:sp>
        <p:nvSpPr>
          <p:cNvPr id="18" name="Rectangle 17"/>
          <p:cNvSpPr/>
          <p:nvPr/>
        </p:nvSpPr>
        <p:spPr>
          <a:xfrm>
            <a:off x="914400" y="4517136"/>
            <a:ext cx="10378440" cy="7315"/>
          </a:xfrm>
          <a:prstGeom prst="rect">
            <a:avLst/>
          </a:prstGeom>
          <a:solidFill>
            <a:srgbClr val="C3DB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4590287"/>
            <a:ext cx="2743200" cy="502920"/>
          </a:xfrm>
          <a:prstGeom prst="rect">
            <a:avLst/>
          </a:prstGeom>
          <a:noFill/>
        </p:spPr>
        <p:txBody>
          <a:bodyPr wrap="square" lIns="0" tIns="0" rIns="0" bIns="0" anchor="t">
            <a:spAutoFit/>
          </a:bodyPr>
          <a:lstStyle/>
          <a:p>
            <a:pPr algn="l">
              <a:lnSpc>
                <a:spcPct val="100000"/>
              </a:lnSpc>
              <a:spcBef>
                <a:spcPts val="0"/>
              </a:spcBef>
              <a:spcAft>
                <a:spcPts val="0"/>
              </a:spcAft>
            </a:pPr>
            <a:r>
              <a:rPr sz="1200" b="1" i="0">
                <a:solidFill>
                  <a:srgbClr val="014700"/>
                </a:solidFill>
                <a:latin typeface="Times New Roman"/>
              </a:rPr>
              <a:t>Samsara / Geotab</a:t>
            </a:r>
          </a:p>
        </p:txBody>
      </p:sp>
      <p:sp>
        <p:nvSpPr>
          <p:cNvPr id="20" name="TextBox 19"/>
          <p:cNvSpPr txBox="1"/>
          <p:nvPr/>
        </p:nvSpPr>
        <p:spPr>
          <a:xfrm>
            <a:off x="3840480" y="4571999"/>
            <a:ext cx="7452359" cy="566928"/>
          </a:xfrm>
          <a:prstGeom prst="rect">
            <a:avLst/>
          </a:prstGeom>
          <a:noFill/>
        </p:spPr>
        <p:txBody>
          <a:bodyPr wrap="square" lIns="0" tIns="0" rIns="0" bIns="0" anchor="t">
            <a:spAutoFit/>
          </a:bodyPr>
          <a:lstStyle/>
          <a:p>
            <a:pPr algn="l">
              <a:lnSpc>
                <a:spcPct val="116000"/>
              </a:lnSpc>
              <a:spcBef>
                <a:spcPts val="0"/>
              </a:spcBef>
              <a:spcAft>
                <a:spcPts val="0"/>
              </a:spcAft>
            </a:pPr>
            <a:r>
              <a:rPr sz="1050" b="0" i="0">
                <a:solidFill>
                  <a:srgbClr val="1C1C1C"/>
                </a:solidFill>
                <a:latin typeface="Arial"/>
              </a:rPr>
              <a:t>Work perfectly well — at $25–70 per vehicle per month, in foreign currency, indefinitely.</a:t>
            </a:r>
          </a:p>
        </p:txBody>
      </p:sp>
      <p:sp>
        <p:nvSpPr>
          <p:cNvPr id="21" name="Rounded Rectangle 20"/>
          <p:cNvSpPr/>
          <p:nvPr/>
        </p:nvSpPr>
        <p:spPr>
          <a:xfrm>
            <a:off x="914400" y="5303520"/>
            <a:ext cx="10378440" cy="475488"/>
          </a:xfrm>
          <a:prstGeom prst="roundRect">
            <a:avLst>
              <a:gd name="adj" fmla="val 5000"/>
            </a:avLst>
          </a:prstGeom>
          <a:solidFill>
            <a:srgbClr val="F7F9F6"/>
          </a:solidFill>
          <a:ln w="9525">
            <a:solidFill>
              <a:srgbClr val="1B7A3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2" name="TextBox 21"/>
          <p:cNvSpPr txBox="1"/>
          <p:nvPr/>
        </p:nvSpPr>
        <p:spPr>
          <a:xfrm>
            <a:off x="1133856" y="5413248"/>
            <a:ext cx="9939528" cy="292608"/>
          </a:xfrm>
          <a:prstGeom prst="rect">
            <a:avLst/>
          </a:prstGeom>
          <a:noFill/>
        </p:spPr>
        <p:txBody>
          <a:bodyPr wrap="square" lIns="0" tIns="0" rIns="0" bIns="0" anchor="t">
            <a:spAutoFit/>
          </a:bodyPr>
          <a:lstStyle/>
          <a:p>
            <a:pPr algn="l">
              <a:lnSpc>
                <a:spcPct val="100000"/>
              </a:lnSpc>
              <a:spcBef>
                <a:spcPts val="0"/>
              </a:spcBef>
              <a:spcAft>
                <a:spcPts val="0"/>
              </a:spcAft>
            </a:pPr>
            <a:r>
              <a:rPr sz="1050" b="1" i="0">
                <a:solidFill>
                  <a:srgbClr val="014700"/>
                </a:solidFill>
                <a:latin typeface="Arial"/>
              </a:rPr>
              <a:t>Each system solves one axis. None solve cost AND prediction AND accessibility together — the gap is the intersection.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731520"/>
            <a:ext cx="1037844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B7A3E"/>
                </a:solidFill>
                <a:latin typeface="Arial"/>
              </a:rPr>
              <a:t>// CONTRIBUTION</a:t>
            </a:r>
          </a:p>
        </p:txBody>
      </p:sp>
      <p:sp>
        <p:nvSpPr>
          <p:cNvPr id="3" name="TextBox 2"/>
          <p:cNvSpPr txBox="1"/>
          <p:nvPr/>
        </p:nvSpPr>
        <p:spPr>
          <a:xfrm>
            <a:off x="914400" y="1005840"/>
            <a:ext cx="10378440" cy="713232"/>
          </a:xfrm>
          <a:prstGeom prst="rect">
            <a:avLst/>
          </a:prstGeom>
          <a:noFill/>
        </p:spPr>
        <p:txBody>
          <a:bodyPr wrap="square" lIns="0" tIns="0" rIns="0" bIns="0" anchor="t">
            <a:spAutoFit/>
          </a:bodyPr>
          <a:lstStyle/>
          <a:p>
            <a:pPr algn="l">
              <a:lnSpc>
                <a:spcPct val="95000"/>
              </a:lnSpc>
              <a:spcBef>
                <a:spcPts val="0"/>
              </a:spcBef>
              <a:spcAft>
                <a:spcPts val="0"/>
              </a:spcAft>
            </a:pPr>
            <a:r>
              <a:rPr sz="2700" b="1" i="0">
                <a:solidFill>
                  <a:srgbClr val="014700"/>
                </a:solidFill>
                <a:latin typeface="Times New Roman"/>
              </a:rPr>
              <a:t>What this project contributes</a:t>
            </a:r>
          </a:p>
        </p:txBody>
      </p:sp>
      <p:sp>
        <p:nvSpPr>
          <p:cNvPr id="4" name="Rectangle 3"/>
          <p:cNvSpPr/>
          <p:nvPr/>
        </p:nvSpPr>
        <p:spPr>
          <a:xfrm>
            <a:off x="914400" y="1755648"/>
            <a:ext cx="10378440" cy="18288"/>
          </a:xfrm>
          <a:prstGeom prst="rect">
            <a:avLst/>
          </a:prstGeom>
          <a:solidFill>
            <a:srgbClr val="014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897880"/>
            <a:ext cx="5486400" cy="256032"/>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5B5B5B"/>
                </a:solidFill>
                <a:latin typeface="Arial"/>
              </a:rPr>
              <a:t>EngineIQ  ·  Group 11  ·  Department of Computer Science, KNUST</a:t>
            </a:r>
          </a:p>
        </p:txBody>
      </p:sp>
      <p:sp>
        <p:nvSpPr>
          <p:cNvPr id="6" name="TextBox 5"/>
          <p:cNvSpPr txBox="1"/>
          <p:nvPr/>
        </p:nvSpPr>
        <p:spPr>
          <a:xfrm>
            <a:off x="10378440" y="5897880"/>
            <a:ext cx="914400" cy="256032"/>
          </a:xfrm>
          <a:prstGeom prst="rect">
            <a:avLst/>
          </a:prstGeom>
          <a:noFill/>
        </p:spPr>
        <p:txBody>
          <a:bodyPr wrap="square" lIns="0" tIns="0" rIns="0" bIns="0" anchor="t">
            <a:spAutoFit/>
          </a:bodyPr>
          <a:lstStyle/>
          <a:p>
            <a:pPr algn="r">
              <a:lnSpc>
                <a:spcPct val="100000"/>
              </a:lnSpc>
              <a:spcBef>
                <a:spcPts val="0"/>
              </a:spcBef>
              <a:spcAft>
                <a:spcPts val="0"/>
              </a:spcAft>
            </a:pPr>
            <a:r>
              <a:rPr sz="850" b="1" i="0">
                <a:solidFill>
                  <a:srgbClr val="1B7A3E"/>
                </a:solidFill>
                <a:latin typeface="Arial"/>
              </a:rPr>
              <a:t>5</a:t>
            </a:r>
          </a:p>
        </p:txBody>
      </p:sp>
      <p:sp>
        <p:nvSpPr>
          <p:cNvPr id="7" name="Rectangle 6"/>
          <p:cNvSpPr/>
          <p:nvPr/>
        </p:nvSpPr>
        <p:spPr>
          <a:xfrm>
            <a:off x="914400" y="2075688"/>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2144" y="2011680"/>
            <a:ext cx="10140696" cy="540533"/>
          </a:xfrm>
          <a:prstGeom prst="rect">
            <a:avLst/>
          </a:prstGeom>
          <a:noFill/>
        </p:spPr>
        <p:txBody>
          <a:bodyPr wrap="square" lIns="0" tIns="0" rIns="0" bIns="0" anchor="t">
            <a:spAutoFit/>
          </a:bodyPr>
          <a:lstStyle/>
          <a:p>
            <a:pPr algn="l">
              <a:lnSpc>
                <a:spcPct val="100000"/>
              </a:lnSpc>
              <a:spcBef>
                <a:spcPts val="0"/>
              </a:spcBef>
              <a:spcAft>
                <a:spcPts val="300"/>
              </a:spcAft>
            </a:pPr>
            <a:r>
              <a:rPr b="1" i="0" dirty="0">
                <a:solidFill>
                  <a:srgbClr val="014700"/>
                </a:solidFill>
                <a:latin typeface="Times New Roman"/>
              </a:rPr>
              <a:t>A price point that changes who can participate</a:t>
            </a:r>
          </a:p>
          <a:p>
            <a:pPr algn="l">
              <a:lnSpc>
                <a:spcPct val="114000"/>
              </a:lnSpc>
              <a:spcBef>
                <a:spcPts val="0"/>
              </a:spcBef>
              <a:spcAft>
                <a:spcPts val="0"/>
              </a:spcAft>
            </a:pPr>
            <a:r>
              <a:rPr sz="1400" b="0" i="0" dirty="0">
                <a:solidFill>
                  <a:srgbClr val="1C1C1C"/>
                </a:solidFill>
                <a:latin typeface="Arial"/>
              </a:rPr>
              <a:t>Under GHS 400 in one-time hardware, against a recurring foreign-currency subscription with no end date.</a:t>
            </a:r>
          </a:p>
        </p:txBody>
      </p:sp>
      <p:sp>
        <p:nvSpPr>
          <p:cNvPr id="9" name="Rectangle 8"/>
          <p:cNvSpPr/>
          <p:nvPr/>
        </p:nvSpPr>
        <p:spPr>
          <a:xfrm>
            <a:off x="914400" y="3017520"/>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2144" y="2953512"/>
            <a:ext cx="10140696" cy="786113"/>
          </a:xfrm>
          <a:prstGeom prst="rect">
            <a:avLst/>
          </a:prstGeom>
          <a:noFill/>
        </p:spPr>
        <p:txBody>
          <a:bodyPr wrap="square" lIns="0" tIns="0" rIns="0" bIns="0" anchor="t">
            <a:spAutoFit/>
          </a:bodyPr>
          <a:lstStyle/>
          <a:p>
            <a:pPr algn="l">
              <a:lnSpc>
                <a:spcPct val="100000"/>
              </a:lnSpc>
              <a:spcBef>
                <a:spcPts val="0"/>
              </a:spcBef>
              <a:spcAft>
                <a:spcPts val="300"/>
              </a:spcAft>
            </a:pPr>
            <a:r>
              <a:rPr b="1" i="0" dirty="0">
                <a:solidFill>
                  <a:srgbClr val="014700"/>
                </a:solidFill>
                <a:latin typeface="Times New Roman"/>
              </a:rPr>
              <a:t>Prediction rather than reaction</a:t>
            </a:r>
          </a:p>
          <a:p>
            <a:pPr algn="l">
              <a:lnSpc>
                <a:spcPct val="114000"/>
              </a:lnSpc>
              <a:spcBef>
                <a:spcPts val="0"/>
              </a:spcBef>
              <a:spcAft>
                <a:spcPts val="0"/>
              </a:spcAft>
            </a:pPr>
            <a:r>
              <a:rPr sz="1400" b="0" i="0" dirty="0">
                <a:solidFill>
                  <a:srgbClr val="1C1C1C"/>
                </a:solidFill>
                <a:latin typeface="Arial"/>
              </a:rPr>
              <a:t>Active physical telemetry — vibration and surface temperature — finds developing mechanical wear before the ECU ever logs a code</a:t>
            </a:r>
            <a:r>
              <a:rPr sz="1050" b="0" i="0" dirty="0">
                <a:solidFill>
                  <a:srgbClr val="1C1C1C"/>
                </a:solidFill>
                <a:latin typeface="Arial"/>
              </a:rPr>
              <a:t>.</a:t>
            </a:r>
          </a:p>
        </p:txBody>
      </p:sp>
      <p:sp>
        <p:nvSpPr>
          <p:cNvPr id="11" name="Rectangle 10"/>
          <p:cNvSpPr/>
          <p:nvPr/>
        </p:nvSpPr>
        <p:spPr>
          <a:xfrm>
            <a:off x="914400" y="3959352"/>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52144" y="3895344"/>
            <a:ext cx="10140696" cy="786113"/>
          </a:xfrm>
          <a:prstGeom prst="rect">
            <a:avLst/>
          </a:prstGeom>
          <a:noFill/>
        </p:spPr>
        <p:txBody>
          <a:bodyPr wrap="square" lIns="0" tIns="0" rIns="0" bIns="0" anchor="t">
            <a:spAutoFit/>
          </a:bodyPr>
          <a:lstStyle/>
          <a:p>
            <a:pPr algn="l">
              <a:lnSpc>
                <a:spcPct val="100000"/>
              </a:lnSpc>
              <a:spcBef>
                <a:spcPts val="0"/>
              </a:spcBef>
              <a:spcAft>
                <a:spcPts val="300"/>
              </a:spcAft>
            </a:pPr>
            <a:r>
              <a:rPr b="1" i="0" dirty="0">
                <a:solidFill>
                  <a:srgbClr val="014700"/>
                </a:solidFill>
                <a:latin typeface="Times New Roman"/>
              </a:rPr>
              <a:t>A dynamic baseline rather than fixed thresholds</a:t>
            </a:r>
          </a:p>
          <a:p>
            <a:pPr algn="l">
              <a:lnSpc>
                <a:spcPct val="114000"/>
              </a:lnSpc>
              <a:spcBef>
                <a:spcPts val="0"/>
              </a:spcBef>
              <a:spcAft>
                <a:spcPts val="0"/>
              </a:spcAft>
            </a:pPr>
            <a:r>
              <a:rPr sz="1400" b="0" i="0" dirty="0">
                <a:solidFill>
                  <a:srgbClr val="1C1C1C"/>
                </a:solidFill>
                <a:latin typeface="Arial"/>
              </a:rPr>
              <a:t>The model learns each engine's own normal signature instead of applying rigid limits that misfire under changing load and road conditions</a:t>
            </a:r>
            <a:r>
              <a:rPr sz="1050" b="0" i="0" dirty="0">
                <a:solidFill>
                  <a:srgbClr val="1C1C1C"/>
                </a:solidFill>
                <a:latin typeface="Arial"/>
              </a:rPr>
              <a:t>.</a:t>
            </a:r>
          </a:p>
        </p:txBody>
      </p:sp>
      <p:sp>
        <p:nvSpPr>
          <p:cNvPr id="13" name="Rectangle 12"/>
          <p:cNvSpPr/>
          <p:nvPr/>
        </p:nvSpPr>
        <p:spPr>
          <a:xfrm>
            <a:off x="914400" y="4901184"/>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52144" y="4837176"/>
            <a:ext cx="10140696" cy="786113"/>
          </a:xfrm>
          <a:prstGeom prst="rect">
            <a:avLst/>
          </a:prstGeom>
          <a:noFill/>
        </p:spPr>
        <p:txBody>
          <a:bodyPr wrap="square" lIns="0" tIns="0" rIns="0" bIns="0" anchor="t">
            <a:spAutoFit/>
          </a:bodyPr>
          <a:lstStyle/>
          <a:p>
            <a:pPr algn="l">
              <a:lnSpc>
                <a:spcPct val="100000"/>
              </a:lnSpc>
              <a:spcBef>
                <a:spcPts val="0"/>
              </a:spcBef>
              <a:spcAft>
                <a:spcPts val="300"/>
              </a:spcAft>
            </a:pPr>
            <a:r>
              <a:rPr b="1" i="0" dirty="0">
                <a:solidFill>
                  <a:srgbClr val="014700"/>
                </a:solidFill>
                <a:latin typeface="Times New Roman"/>
              </a:rPr>
              <a:t>Reproducible on open-source tools</a:t>
            </a:r>
          </a:p>
          <a:p>
            <a:pPr algn="l">
              <a:lnSpc>
                <a:spcPct val="114000"/>
              </a:lnSpc>
              <a:spcBef>
                <a:spcPts val="0"/>
              </a:spcBef>
              <a:spcAft>
                <a:spcPts val="0"/>
              </a:spcAft>
            </a:pPr>
            <a:r>
              <a:rPr sz="1400" b="0" i="0" dirty="0">
                <a:solidFill>
                  <a:srgbClr val="1C1C1C"/>
                </a:solidFill>
                <a:latin typeface="Arial"/>
              </a:rPr>
              <a:t>The architecture can be replicated, scaled or </a:t>
            </a:r>
            <a:r>
              <a:rPr sz="1400" b="0" i="0" dirty="0" err="1">
                <a:solidFill>
                  <a:srgbClr val="1C1C1C"/>
                </a:solidFill>
                <a:latin typeface="Arial"/>
              </a:rPr>
              <a:t>commercialised</a:t>
            </a:r>
            <a:r>
              <a:rPr sz="1400" b="0" i="0" dirty="0">
                <a:solidFill>
                  <a:srgbClr val="1C1C1C"/>
                </a:solidFill>
                <a:latin typeface="Arial"/>
              </a:rPr>
              <a:t> by other developers with no licensing cost. That reproducibility is part of the contribution</a:t>
            </a:r>
            <a:r>
              <a:rPr sz="1050" b="0" i="0" dirty="0">
                <a:solidFill>
                  <a:srgbClr val="1C1C1C"/>
                </a:solidFill>
                <a:latin typeface="Arial"/>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731520"/>
            <a:ext cx="1037844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B7A3E"/>
                </a:solidFill>
                <a:latin typeface="Arial"/>
              </a:rPr>
              <a:t>// ARCHITECTURE</a:t>
            </a:r>
          </a:p>
        </p:txBody>
      </p:sp>
      <p:sp>
        <p:nvSpPr>
          <p:cNvPr id="3" name="TextBox 2"/>
          <p:cNvSpPr txBox="1"/>
          <p:nvPr/>
        </p:nvSpPr>
        <p:spPr>
          <a:xfrm>
            <a:off x="914400" y="1005840"/>
            <a:ext cx="10378440" cy="713232"/>
          </a:xfrm>
          <a:prstGeom prst="rect">
            <a:avLst/>
          </a:prstGeom>
          <a:noFill/>
        </p:spPr>
        <p:txBody>
          <a:bodyPr wrap="square" lIns="0" tIns="0" rIns="0" bIns="0" anchor="t">
            <a:spAutoFit/>
          </a:bodyPr>
          <a:lstStyle/>
          <a:p>
            <a:pPr algn="l">
              <a:lnSpc>
                <a:spcPct val="95000"/>
              </a:lnSpc>
              <a:spcBef>
                <a:spcPts val="0"/>
              </a:spcBef>
              <a:spcAft>
                <a:spcPts val="0"/>
              </a:spcAft>
            </a:pPr>
            <a:r>
              <a:rPr sz="2700" b="1" i="0">
                <a:solidFill>
                  <a:srgbClr val="014700"/>
                </a:solidFill>
                <a:latin typeface="Times New Roman"/>
              </a:rPr>
              <a:t>Four layers, hardware to handset</a:t>
            </a:r>
          </a:p>
        </p:txBody>
      </p:sp>
      <p:sp>
        <p:nvSpPr>
          <p:cNvPr id="4" name="Rectangle 3"/>
          <p:cNvSpPr/>
          <p:nvPr/>
        </p:nvSpPr>
        <p:spPr>
          <a:xfrm>
            <a:off x="914400" y="1755648"/>
            <a:ext cx="10378440" cy="18288"/>
          </a:xfrm>
          <a:prstGeom prst="rect">
            <a:avLst/>
          </a:prstGeom>
          <a:solidFill>
            <a:srgbClr val="014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897880"/>
            <a:ext cx="5486400" cy="256032"/>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5B5B5B"/>
                </a:solidFill>
                <a:latin typeface="Arial"/>
              </a:rPr>
              <a:t>EngineIQ  ·  Group 11  ·  Department of Computer Science, KNUST</a:t>
            </a:r>
          </a:p>
        </p:txBody>
      </p:sp>
      <p:sp>
        <p:nvSpPr>
          <p:cNvPr id="6" name="TextBox 5"/>
          <p:cNvSpPr txBox="1"/>
          <p:nvPr/>
        </p:nvSpPr>
        <p:spPr>
          <a:xfrm>
            <a:off x="10378440" y="5897880"/>
            <a:ext cx="914400" cy="256032"/>
          </a:xfrm>
          <a:prstGeom prst="rect">
            <a:avLst/>
          </a:prstGeom>
          <a:noFill/>
        </p:spPr>
        <p:txBody>
          <a:bodyPr wrap="square" lIns="0" tIns="0" rIns="0" bIns="0" anchor="t">
            <a:spAutoFit/>
          </a:bodyPr>
          <a:lstStyle/>
          <a:p>
            <a:pPr algn="r">
              <a:lnSpc>
                <a:spcPct val="100000"/>
              </a:lnSpc>
              <a:spcBef>
                <a:spcPts val="0"/>
              </a:spcBef>
              <a:spcAft>
                <a:spcPts val="0"/>
              </a:spcAft>
            </a:pPr>
            <a:r>
              <a:rPr sz="850" b="1" i="0">
                <a:solidFill>
                  <a:srgbClr val="1B7A3E"/>
                </a:solidFill>
                <a:latin typeface="Arial"/>
              </a:rPr>
              <a:t>6</a:t>
            </a:r>
          </a:p>
        </p:txBody>
      </p:sp>
      <p:sp>
        <p:nvSpPr>
          <p:cNvPr id="7" name="Rounded Rectangle 6"/>
          <p:cNvSpPr/>
          <p:nvPr/>
        </p:nvSpPr>
        <p:spPr>
          <a:xfrm>
            <a:off x="914400" y="2011680"/>
            <a:ext cx="2279141" cy="3154680"/>
          </a:xfrm>
          <a:prstGeom prst="roundRect">
            <a:avLst>
              <a:gd name="adj" fmla="val 5000"/>
            </a:avLst>
          </a:prstGeom>
          <a:solidFill>
            <a:srgbClr val="FFFFFF"/>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115568" y="2231136"/>
            <a:ext cx="1876805" cy="1861535"/>
          </a:xfrm>
          <a:prstGeom prst="rect">
            <a:avLst/>
          </a:prstGeom>
          <a:noFill/>
        </p:spPr>
        <p:txBody>
          <a:bodyPr wrap="square" lIns="0" tIns="0" rIns="0" bIns="0" anchor="t">
            <a:spAutoFit/>
          </a:bodyPr>
          <a:lstStyle/>
          <a:p>
            <a:pPr algn="l">
              <a:lnSpc>
                <a:spcPct val="100000"/>
              </a:lnSpc>
              <a:spcBef>
                <a:spcPts val="0"/>
              </a:spcBef>
              <a:spcAft>
                <a:spcPts val="300"/>
              </a:spcAft>
            </a:pPr>
            <a:r>
              <a:rPr sz="1000" b="1" i="0" dirty="0">
                <a:solidFill>
                  <a:srgbClr val="1B7A3E"/>
                </a:solidFill>
                <a:latin typeface="Arial"/>
              </a:rPr>
              <a:t>LAYER 01</a:t>
            </a:r>
          </a:p>
          <a:p>
            <a:pPr algn="l">
              <a:lnSpc>
                <a:spcPct val="100000"/>
              </a:lnSpc>
              <a:spcBef>
                <a:spcPts val="0"/>
              </a:spcBef>
              <a:spcAft>
                <a:spcPts val="800"/>
              </a:spcAft>
            </a:pPr>
            <a:r>
              <a:rPr b="1" i="0" dirty="0">
                <a:solidFill>
                  <a:srgbClr val="014700"/>
                </a:solidFill>
                <a:latin typeface="Times New Roman"/>
              </a:rPr>
              <a:t>Perception</a:t>
            </a:r>
          </a:p>
          <a:p>
            <a:pPr algn="l">
              <a:lnSpc>
                <a:spcPct val="112000"/>
              </a:lnSpc>
              <a:spcBef>
                <a:spcPts val="0"/>
              </a:spcBef>
              <a:spcAft>
                <a:spcPts val="400"/>
              </a:spcAft>
            </a:pPr>
            <a:r>
              <a:rPr sz="1400" b="0" i="0" dirty="0">
                <a:solidFill>
                  <a:srgbClr val="1C1C1C"/>
                </a:solidFill>
                <a:latin typeface="Arial"/>
              </a:rPr>
              <a:t>·  MPU6050 accelerometer</a:t>
            </a:r>
          </a:p>
          <a:p>
            <a:pPr algn="l">
              <a:lnSpc>
                <a:spcPct val="112000"/>
              </a:lnSpc>
              <a:spcBef>
                <a:spcPts val="0"/>
              </a:spcBef>
              <a:spcAft>
                <a:spcPts val="400"/>
              </a:spcAft>
            </a:pPr>
            <a:r>
              <a:rPr sz="1400" b="0" i="0" dirty="0">
                <a:solidFill>
                  <a:srgbClr val="1C1C1C"/>
                </a:solidFill>
                <a:latin typeface="Arial"/>
              </a:rPr>
              <a:t>·  DS18B20 temp sensor</a:t>
            </a:r>
          </a:p>
          <a:p>
            <a:pPr algn="l">
              <a:lnSpc>
                <a:spcPct val="112000"/>
              </a:lnSpc>
              <a:spcBef>
                <a:spcPts val="0"/>
              </a:spcBef>
              <a:spcAft>
                <a:spcPts val="400"/>
              </a:spcAft>
            </a:pPr>
            <a:r>
              <a:rPr sz="1400" b="0" i="0" dirty="0">
                <a:solidFill>
                  <a:srgbClr val="1C1C1C"/>
                </a:solidFill>
                <a:latin typeface="Arial"/>
              </a:rPr>
              <a:t>·  Engine block mount</a:t>
            </a:r>
          </a:p>
        </p:txBody>
      </p:sp>
      <p:sp>
        <p:nvSpPr>
          <p:cNvPr id="9" name="TextBox 8"/>
          <p:cNvSpPr txBox="1"/>
          <p:nvPr/>
        </p:nvSpPr>
        <p:spPr>
          <a:xfrm>
            <a:off x="3193541" y="3337560"/>
            <a:ext cx="420624" cy="365760"/>
          </a:xfrm>
          <a:prstGeom prst="rect">
            <a:avLst/>
          </a:prstGeom>
          <a:noFill/>
        </p:spPr>
        <p:txBody>
          <a:bodyPr wrap="square" lIns="0" tIns="0" rIns="0" bIns="0" anchor="t">
            <a:spAutoFit/>
          </a:bodyPr>
          <a:lstStyle/>
          <a:p>
            <a:pPr algn="ctr">
              <a:lnSpc>
                <a:spcPct val="100000"/>
              </a:lnSpc>
              <a:spcBef>
                <a:spcPts val="0"/>
              </a:spcBef>
              <a:spcAft>
                <a:spcPts val="0"/>
              </a:spcAft>
            </a:pPr>
            <a:r>
              <a:rPr sz="2200" b="1" i="0">
                <a:solidFill>
                  <a:srgbClr val="1B7A3E"/>
                </a:solidFill>
                <a:latin typeface="Arial"/>
              </a:rPr>
              <a:t>›</a:t>
            </a:r>
          </a:p>
        </p:txBody>
      </p:sp>
      <p:sp>
        <p:nvSpPr>
          <p:cNvPr id="10" name="Rounded Rectangle 9"/>
          <p:cNvSpPr/>
          <p:nvPr/>
        </p:nvSpPr>
        <p:spPr>
          <a:xfrm>
            <a:off x="3614165" y="2011680"/>
            <a:ext cx="2279141" cy="3154680"/>
          </a:xfrm>
          <a:prstGeom prst="roundRect">
            <a:avLst>
              <a:gd name="adj" fmla="val 5000"/>
            </a:avLst>
          </a:prstGeom>
          <a:solidFill>
            <a:srgbClr val="FFFFFF"/>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3815333" y="2231136"/>
            <a:ext cx="1876805" cy="2613601"/>
          </a:xfrm>
          <a:prstGeom prst="rect">
            <a:avLst/>
          </a:prstGeom>
          <a:noFill/>
        </p:spPr>
        <p:txBody>
          <a:bodyPr wrap="square" lIns="0" tIns="0" rIns="0" bIns="0" anchor="t">
            <a:spAutoFit/>
          </a:bodyPr>
          <a:lstStyle/>
          <a:p>
            <a:pPr algn="l">
              <a:lnSpc>
                <a:spcPct val="100000"/>
              </a:lnSpc>
              <a:spcBef>
                <a:spcPts val="0"/>
              </a:spcBef>
              <a:spcAft>
                <a:spcPts val="300"/>
              </a:spcAft>
            </a:pPr>
            <a:r>
              <a:rPr sz="1000" b="1" i="0" dirty="0">
                <a:solidFill>
                  <a:srgbClr val="1B7A3E"/>
                </a:solidFill>
                <a:latin typeface="Arial"/>
              </a:rPr>
              <a:t>LAYER 02</a:t>
            </a:r>
          </a:p>
          <a:p>
            <a:pPr algn="l">
              <a:lnSpc>
                <a:spcPct val="100000"/>
              </a:lnSpc>
              <a:spcBef>
                <a:spcPts val="0"/>
              </a:spcBef>
              <a:spcAft>
                <a:spcPts val="800"/>
              </a:spcAft>
            </a:pPr>
            <a:r>
              <a:rPr b="1" i="0" dirty="0">
                <a:solidFill>
                  <a:srgbClr val="014700"/>
                </a:solidFill>
                <a:latin typeface="Times New Roman"/>
              </a:rPr>
              <a:t>Network</a:t>
            </a:r>
          </a:p>
          <a:p>
            <a:pPr algn="l">
              <a:lnSpc>
                <a:spcPct val="112000"/>
              </a:lnSpc>
              <a:spcBef>
                <a:spcPts val="0"/>
              </a:spcBef>
              <a:spcAft>
                <a:spcPts val="400"/>
              </a:spcAft>
            </a:pPr>
            <a:r>
              <a:rPr sz="1400" b="0" i="0" dirty="0">
                <a:solidFill>
                  <a:srgbClr val="1C1C1C"/>
                </a:solidFill>
                <a:latin typeface="Arial"/>
              </a:rPr>
              <a:t>·  ESP32 microcontroller</a:t>
            </a:r>
          </a:p>
          <a:p>
            <a:pPr algn="l">
              <a:lnSpc>
                <a:spcPct val="112000"/>
              </a:lnSpc>
              <a:spcBef>
                <a:spcPts val="0"/>
              </a:spcBef>
              <a:spcAft>
                <a:spcPts val="400"/>
              </a:spcAft>
            </a:pPr>
            <a:r>
              <a:rPr sz="1400" b="0" i="0" dirty="0">
                <a:solidFill>
                  <a:srgbClr val="1C1C1C"/>
                </a:solidFill>
                <a:latin typeface="Arial"/>
              </a:rPr>
              <a:t>·  Bluetooth Low Energy</a:t>
            </a:r>
          </a:p>
          <a:p>
            <a:pPr algn="l">
              <a:lnSpc>
                <a:spcPct val="112000"/>
              </a:lnSpc>
              <a:spcBef>
                <a:spcPts val="0"/>
              </a:spcBef>
              <a:spcAft>
                <a:spcPts val="400"/>
              </a:spcAft>
            </a:pPr>
            <a:r>
              <a:rPr sz="1400" b="0" i="0" dirty="0">
                <a:solidFill>
                  <a:srgbClr val="1C1C1C"/>
                </a:solidFill>
                <a:latin typeface="Arial"/>
              </a:rPr>
              <a:t>·  GATT notify characteristic</a:t>
            </a:r>
          </a:p>
          <a:p>
            <a:pPr algn="l">
              <a:lnSpc>
                <a:spcPct val="112000"/>
              </a:lnSpc>
              <a:spcBef>
                <a:spcPts val="0"/>
              </a:spcBef>
              <a:spcAft>
                <a:spcPts val="400"/>
              </a:spcAft>
            </a:pPr>
            <a:r>
              <a:rPr sz="1400" b="0" i="0" dirty="0">
                <a:solidFill>
                  <a:srgbClr val="1C1C1C"/>
                </a:solidFill>
                <a:latin typeface="Arial"/>
              </a:rPr>
              <a:t>·  Encrypted BLE pairing</a:t>
            </a:r>
          </a:p>
        </p:txBody>
      </p:sp>
      <p:sp>
        <p:nvSpPr>
          <p:cNvPr id="12" name="TextBox 11"/>
          <p:cNvSpPr txBox="1"/>
          <p:nvPr/>
        </p:nvSpPr>
        <p:spPr>
          <a:xfrm>
            <a:off x="5893307" y="3337560"/>
            <a:ext cx="420624" cy="365760"/>
          </a:xfrm>
          <a:prstGeom prst="rect">
            <a:avLst/>
          </a:prstGeom>
          <a:noFill/>
        </p:spPr>
        <p:txBody>
          <a:bodyPr wrap="square" lIns="0" tIns="0" rIns="0" bIns="0" anchor="t">
            <a:spAutoFit/>
          </a:bodyPr>
          <a:lstStyle/>
          <a:p>
            <a:pPr algn="ctr">
              <a:lnSpc>
                <a:spcPct val="100000"/>
              </a:lnSpc>
              <a:spcBef>
                <a:spcPts val="0"/>
              </a:spcBef>
              <a:spcAft>
                <a:spcPts val="0"/>
              </a:spcAft>
            </a:pPr>
            <a:r>
              <a:rPr sz="2200" b="1" i="0">
                <a:solidFill>
                  <a:srgbClr val="1B7A3E"/>
                </a:solidFill>
                <a:latin typeface="Arial"/>
              </a:rPr>
              <a:t>›</a:t>
            </a:r>
          </a:p>
        </p:txBody>
      </p:sp>
      <p:sp>
        <p:nvSpPr>
          <p:cNvPr id="13" name="Rounded Rectangle 12"/>
          <p:cNvSpPr/>
          <p:nvPr/>
        </p:nvSpPr>
        <p:spPr>
          <a:xfrm>
            <a:off x="6313931" y="2011680"/>
            <a:ext cx="2279141" cy="3154680"/>
          </a:xfrm>
          <a:prstGeom prst="roundRect">
            <a:avLst>
              <a:gd name="adj" fmla="val 5000"/>
            </a:avLst>
          </a:prstGeom>
          <a:solidFill>
            <a:srgbClr val="FFFFFF"/>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6515099" y="2231136"/>
            <a:ext cx="1876805" cy="1671548"/>
          </a:xfrm>
          <a:prstGeom prst="rect">
            <a:avLst/>
          </a:prstGeom>
          <a:noFill/>
        </p:spPr>
        <p:txBody>
          <a:bodyPr wrap="square" lIns="0" tIns="0" rIns="0" bIns="0" anchor="t">
            <a:spAutoFit/>
          </a:bodyPr>
          <a:lstStyle/>
          <a:p>
            <a:pPr algn="l">
              <a:lnSpc>
                <a:spcPct val="100000"/>
              </a:lnSpc>
              <a:spcBef>
                <a:spcPts val="0"/>
              </a:spcBef>
              <a:spcAft>
                <a:spcPts val="300"/>
              </a:spcAft>
            </a:pPr>
            <a:r>
              <a:rPr sz="1000" b="1" i="0" dirty="0">
                <a:solidFill>
                  <a:srgbClr val="1B7A3E"/>
                </a:solidFill>
                <a:latin typeface="Arial"/>
              </a:rPr>
              <a:t>LAYER 03</a:t>
            </a:r>
          </a:p>
          <a:p>
            <a:pPr algn="l">
              <a:lnSpc>
                <a:spcPct val="100000"/>
              </a:lnSpc>
              <a:spcBef>
                <a:spcPts val="0"/>
              </a:spcBef>
              <a:spcAft>
                <a:spcPts val="800"/>
              </a:spcAft>
            </a:pPr>
            <a:r>
              <a:rPr b="1" i="0" dirty="0">
                <a:solidFill>
                  <a:srgbClr val="014700"/>
                </a:solidFill>
                <a:latin typeface="Times New Roman"/>
              </a:rPr>
              <a:t>Processing</a:t>
            </a:r>
          </a:p>
          <a:p>
            <a:pPr algn="l">
              <a:lnSpc>
                <a:spcPct val="112000"/>
              </a:lnSpc>
              <a:spcBef>
                <a:spcPts val="0"/>
              </a:spcBef>
              <a:spcAft>
                <a:spcPts val="400"/>
              </a:spcAft>
            </a:pPr>
            <a:r>
              <a:rPr sz="1400" b="0" i="0" dirty="0">
                <a:solidFill>
                  <a:srgbClr val="1C1C1C"/>
                </a:solidFill>
                <a:latin typeface="Arial"/>
              </a:rPr>
              <a:t>·  Butterworth filter</a:t>
            </a:r>
          </a:p>
          <a:p>
            <a:pPr algn="l">
              <a:lnSpc>
                <a:spcPct val="112000"/>
              </a:lnSpc>
              <a:spcBef>
                <a:spcPts val="0"/>
              </a:spcBef>
              <a:spcAft>
                <a:spcPts val="400"/>
              </a:spcAft>
            </a:pPr>
            <a:r>
              <a:rPr sz="1400" b="0" i="0" dirty="0">
                <a:solidFill>
                  <a:srgbClr val="1C1C1C"/>
                </a:solidFill>
                <a:latin typeface="Arial"/>
              </a:rPr>
              <a:t>·  Feature extraction</a:t>
            </a:r>
          </a:p>
          <a:p>
            <a:pPr algn="l">
              <a:lnSpc>
                <a:spcPct val="112000"/>
              </a:lnSpc>
              <a:spcBef>
                <a:spcPts val="0"/>
              </a:spcBef>
              <a:spcAft>
                <a:spcPts val="400"/>
              </a:spcAft>
            </a:pPr>
            <a:r>
              <a:rPr sz="1400" b="0" i="0" dirty="0">
                <a:solidFill>
                  <a:srgbClr val="1C1C1C"/>
                </a:solidFill>
                <a:latin typeface="Arial"/>
              </a:rPr>
              <a:t>·  Isolation Forest ML</a:t>
            </a:r>
          </a:p>
          <a:p>
            <a:pPr algn="l">
              <a:lnSpc>
                <a:spcPct val="112000"/>
              </a:lnSpc>
              <a:spcBef>
                <a:spcPts val="0"/>
              </a:spcBef>
              <a:spcAft>
                <a:spcPts val="400"/>
              </a:spcAft>
            </a:pPr>
            <a:r>
              <a:rPr sz="1400" b="0" i="0" dirty="0">
                <a:solidFill>
                  <a:srgbClr val="1C1C1C"/>
                </a:solidFill>
                <a:latin typeface="Arial"/>
              </a:rPr>
              <a:t>·  Supabase logger</a:t>
            </a:r>
          </a:p>
        </p:txBody>
      </p:sp>
      <p:sp>
        <p:nvSpPr>
          <p:cNvPr id="15" name="TextBox 14"/>
          <p:cNvSpPr txBox="1"/>
          <p:nvPr/>
        </p:nvSpPr>
        <p:spPr>
          <a:xfrm>
            <a:off x="8593074" y="3337560"/>
            <a:ext cx="420624" cy="365760"/>
          </a:xfrm>
          <a:prstGeom prst="rect">
            <a:avLst/>
          </a:prstGeom>
          <a:noFill/>
        </p:spPr>
        <p:txBody>
          <a:bodyPr wrap="square" lIns="0" tIns="0" rIns="0" bIns="0" anchor="t">
            <a:spAutoFit/>
          </a:bodyPr>
          <a:lstStyle/>
          <a:p>
            <a:pPr algn="ctr">
              <a:lnSpc>
                <a:spcPct val="100000"/>
              </a:lnSpc>
              <a:spcBef>
                <a:spcPts val="0"/>
              </a:spcBef>
              <a:spcAft>
                <a:spcPts val="0"/>
              </a:spcAft>
            </a:pPr>
            <a:r>
              <a:rPr sz="2200" b="1" i="0">
                <a:solidFill>
                  <a:srgbClr val="1B7A3E"/>
                </a:solidFill>
                <a:latin typeface="Arial"/>
              </a:rPr>
              <a:t>›</a:t>
            </a:r>
          </a:p>
        </p:txBody>
      </p:sp>
      <p:sp>
        <p:nvSpPr>
          <p:cNvPr id="16" name="Rounded Rectangle 15"/>
          <p:cNvSpPr/>
          <p:nvPr/>
        </p:nvSpPr>
        <p:spPr>
          <a:xfrm>
            <a:off x="9013697" y="2011680"/>
            <a:ext cx="2279141" cy="3154680"/>
          </a:xfrm>
          <a:prstGeom prst="roundRect">
            <a:avLst>
              <a:gd name="adj" fmla="val 5000"/>
            </a:avLst>
          </a:prstGeom>
          <a:solidFill>
            <a:srgbClr val="FFFFFF"/>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9214865" y="2231136"/>
            <a:ext cx="1876805" cy="1671548"/>
          </a:xfrm>
          <a:prstGeom prst="rect">
            <a:avLst/>
          </a:prstGeom>
          <a:noFill/>
        </p:spPr>
        <p:txBody>
          <a:bodyPr wrap="square" lIns="0" tIns="0" rIns="0" bIns="0" anchor="t">
            <a:spAutoFit/>
          </a:bodyPr>
          <a:lstStyle/>
          <a:p>
            <a:pPr algn="l">
              <a:lnSpc>
                <a:spcPct val="100000"/>
              </a:lnSpc>
              <a:spcBef>
                <a:spcPts val="0"/>
              </a:spcBef>
              <a:spcAft>
                <a:spcPts val="300"/>
              </a:spcAft>
            </a:pPr>
            <a:r>
              <a:rPr sz="1000" b="1" i="0" dirty="0">
                <a:solidFill>
                  <a:srgbClr val="1B7A3E"/>
                </a:solidFill>
                <a:latin typeface="Arial"/>
              </a:rPr>
              <a:t>LAYER 04</a:t>
            </a:r>
          </a:p>
          <a:p>
            <a:pPr algn="l">
              <a:lnSpc>
                <a:spcPct val="100000"/>
              </a:lnSpc>
              <a:spcBef>
                <a:spcPts val="0"/>
              </a:spcBef>
              <a:spcAft>
                <a:spcPts val="800"/>
              </a:spcAft>
            </a:pPr>
            <a:r>
              <a:rPr b="1" i="0" dirty="0">
                <a:solidFill>
                  <a:srgbClr val="014700"/>
                </a:solidFill>
                <a:latin typeface="Times New Roman"/>
              </a:rPr>
              <a:t>Application</a:t>
            </a:r>
          </a:p>
          <a:p>
            <a:pPr algn="l">
              <a:lnSpc>
                <a:spcPct val="112000"/>
              </a:lnSpc>
              <a:spcBef>
                <a:spcPts val="0"/>
              </a:spcBef>
              <a:spcAft>
                <a:spcPts val="400"/>
              </a:spcAft>
            </a:pPr>
            <a:r>
              <a:rPr sz="1400" b="0" i="0" dirty="0">
                <a:solidFill>
                  <a:srgbClr val="1C1C1C"/>
                </a:solidFill>
                <a:latin typeface="Arial"/>
              </a:rPr>
              <a:t>·  Web dashboard</a:t>
            </a:r>
          </a:p>
          <a:p>
            <a:pPr algn="l">
              <a:lnSpc>
                <a:spcPct val="112000"/>
              </a:lnSpc>
              <a:spcBef>
                <a:spcPts val="0"/>
              </a:spcBef>
              <a:spcAft>
                <a:spcPts val="400"/>
              </a:spcAft>
            </a:pPr>
            <a:r>
              <a:rPr sz="1400" b="0" i="0" dirty="0">
                <a:solidFill>
                  <a:srgbClr val="1C1C1C"/>
                </a:solidFill>
                <a:latin typeface="Arial"/>
              </a:rPr>
              <a:t>·  Real-time charts</a:t>
            </a:r>
          </a:p>
          <a:p>
            <a:pPr algn="l">
              <a:lnSpc>
                <a:spcPct val="112000"/>
              </a:lnSpc>
              <a:spcBef>
                <a:spcPts val="0"/>
              </a:spcBef>
              <a:spcAft>
                <a:spcPts val="400"/>
              </a:spcAft>
            </a:pPr>
            <a:r>
              <a:rPr sz="1400" b="0" i="0" dirty="0">
                <a:solidFill>
                  <a:srgbClr val="1C1C1C"/>
                </a:solidFill>
                <a:latin typeface="Arial"/>
              </a:rPr>
              <a:t>·  Anomaly alerts</a:t>
            </a:r>
          </a:p>
          <a:p>
            <a:pPr algn="l">
              <a:lnSpc>
                <a:spcPct val="112000"/>
              </a:lnSpc>
              <a:spcBef>
                <a:spcPts val="0"/>
              </a:spcBef>
              <a:spcAft>
                <a:spcPts val="400"/>
              </a:spcAft>
            </a:pPr>
            <a:r>
              <a:rPr sz="1400" b="0" i="0" dirty="0">
                <a:solidFill>
                  <a:srgbClr val="1C1C1C"/>
                </a:solidFill>
                <a:latin typeface="Arial"/>
              </a:rPr>
              <a:t>·  CSV export</a:t>
            </a:r>
          </a:p>
        </p:txBody>
      </p:sp>
      <p:sp>
        <p:nvSpPr>
          <p:cNvPr id="18" name="TextBox 17"/>
          <p:cNvSpPr txBox="1"/>
          <p:nvPr/>
        </p:nvSpPr>
        <p:spPr>
          <a:xfrm>
            <a:off x="914400" y="5394960"/>
            <a:ext cx="10378440" cy="365760"/>
          </a:xfrm>
          <a:prstGeom prst="rect">
            <a:avLst/>
          </a:prstGeom>
          <a:noFill/>
        </p:spPr>
        <p:txBody>
          <a:bodyPr wrap="square" lIns="0" tIns="0" rIns="0" bIns="0" anchor="t">
            <a:spAutoFit/>
          </a:bodyPr>
          <a:lstStyle/>
          <a:p>
            <a:pPr algn="ctr">
              <a:lnSpc>
                <a:spcPct val="100000"/>
              </a:lnSpc>
              <a:spcBef>
                <a:spcPts val="0"/>
              </a:spcBef>
              <a:spcAft>
                <a:spcPts val="0"/>
              </a:spcAft>
            </a:pPr>
            <a:r>
              <a:rPr sz="1050" b="0" i="1">
                <a:solidFill>
                  <a:srgbClr val="5B5B5B"/>
                </a:solidFill>
                <a:latin typeface="Arial"/>
              </a:rPr>
              <a:t>Each layer is replaceable in isolation — the sensor node can change without touching the model, and the model without touching the dashboard.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731520"/>
            <a:ext cx="1037844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B7A3E"/>
                </a:solidFill>
                <a:latin typeface="Arial"/>
              </a:rPr>
              <a:t>// HARDWARE</a:t>
            </a:r>
          </a:p>
        </p:txBody>
      </p:sp>
      <p:sp>
        <p:nvSpPr>
          <p:cNvPr id="3" name="TextBox 2"/>
          <p:cNvSpPr txBox="1"/>
          <p:nvPr/>
        </p:nvSpPr>
        <p:spPr>
          <a:xfrm>
            <a:off x="914400" y="1005840"/>
            <a:ext cx="10378440" cy="713232"/>
          </a:xfrm>
          <a:prstGeom prst="rect">
            <a:avLst/>
          </a:prstGeom>
          <a:noFill/>
        </p:spPr>
        <p:txBody>
          <a:bodyPr wrap="square" lIns="0" tIns="0" rIns="0" bIns="0" anchor="t">
            <a:spAutoFit/>
          </a:bodyPr>
          <a:lstStyle/>
          <a:p>
            <a:pPr algn="l">
              <a:lnSpc>
                <a:spcPct val="95000"/>
              </a:lnSpc>
              <a:spcBef>
                <a:spcPts val="0"/>
              </a:spcBef>
              <a:spcAft>
                <a:spcPts val="0"/>
              </a:spcAft>
            </a:pPr>
            <a:r>
              <a:rPr sz="2700" b="1" i="0">
                <a:solidFill>
                  <a:srgbClr val="014700"/>
                </a:solidFill>
                <a:latin typeface="Times New Roman"/>
              </a:rPr>
              <a:t>The sensor node</a:t>
            </a:r>
          </a:p>
        </p:txBody>
      </p:sp>
      <p:sp>
        <p:nvSpPr>
          <p:cNvPr id="4" name="Rectangle 3"/>
          <p:cNvSpPr/>
          <p:nvPr/>
        </p:nvSpPr>
        <p:spPr>
          <a:xfrm>
            <a:off x="914400" y="1755648"/>
            <a:ext cx="10378440" cy="18288"/>
          </a:xfrm>
          <a:prstGeom prst="rect">
            <a:avLst/>
          </a:prstGeom>
          <a:solidFill>
            <a:srgbClr val="014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897880"/>
            <a:ext cx="5486400" cy="256032"/>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5B5B5B"/>
                </a:solidFill>
                <a:latin typeface="Arial"/>
              </a:rPr>
              <a:t>EngineIQ  ·  Group 11  ·  Department of Computer Science, KNUST</a:t>
            </a:r>
          </a:p>
        </p:txBody>
      </p:sp>
      <p:sp>
        <p:nvSpPr>
          <p:cNvPr id="6" name="TextBox 5"/>
          <p:cNvSpPr txBox="1"/>
          <p:nvPr/>
        </p:nvSpPr>
        <p:spPr>
          <a:xfrm>
            <a:off x="10378440" y="5897880"/>
            <a:ext cx="914400" cy="256032"/>
          </a:xfrm>
          <a:prstGeom prst="rect">
            <a:avLst/>
          </a:prstGeom>
          <a:noFill/>
        </p:spPr>
        <p:txBody>
          <a:bodyPr wrap="square" lIns="0" tIns="0" rIns="0" bIns="0" anchor="t">
            <a:spAutoFit/>
          </a:bodyPr>
          <a:lstStyle/>
          <a:p>
            <a:pPr algn="r">
              <a:lnSpc>
                <a:spcPct val="100000"/>
              </a:lnSpc>
              <a:spcBef>
                <a:spcPts val="0"/>
              </a:spcBef>
              <a:spcAft>
                <a:spcPts val="0"/>
              </a:spcAft>
            </a:pPr>
            <a:r>
              <a:rPr sz="850" b="1" i="0">
                <a:solidFill>
                  <a:srgbClr val="1B7A3E"/>
                </a:solidFill>
                <a:latin typeface="Arial"/>
              </a:rPr>
              <a:t>7</a:t>
            </a:r>
          </a:p>
        </p:txBody>
      </p:sp>
      <p:sp>
        <p:nvSpPr>
          <p:cNvPr id="7" name="Rounded Rectangle 6"/>
          <p:cNvSpPr/>
          <p:nvPr/>
        </p:nvSpPr>
        <p:spPr>
          <a:xfrm>
            <a:off x="914400" y="2011680"/>
            <a:ext cx="4846320" cy="3246120"/>
          </a:xfrm>
          <a:prstGeom prst="roundRect">
            <a:avLst>
              <a:gd name="adj" fmla="val 5000"/>
            </a:avLst>
          </a:prstGeom>
          <a:solidFill>
            <a:srgbClr val="F7F9F6"/>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152144" y="2212848"/>
            <a:ext cx="4370831" cy="1717971"/>
          </a:xfrm>
          <a:prstGeom prst="rect">
            <a:avLst/>
          </a:prstGeom>
          <a:noFill/>
        </p:spPr>
        <p:txBody>
          <a:bodyPr wrap="square" lIns="0" tIns="0" rIns="0" bIns="0" anchor="t">
            <a:spAutoFit/>
          </a:bodyPr>
          <a:lstStyle/>
          <a:p>
            <a:pPr algn="l">
              <a:lnSpc>
                <a:spcPct val="100000"/>
              </a:lnSpc>
              <a:spcBef>
                <a:spcPts val="0"/>
              </a:spcBef>
              <a:spcAft>
                <a:spcPts val="700"/>
              </a:spcAft>
            </a:pPr>
            <a:r>
              <a:rPr sz="1600" b="1" i="0" dirty="0">
                <a:solidFill>
                  <a:srgbClr val="014700"/>
                </a:solidFill>
                <a:latin typeface="Arial"/>
              </a:rPr>
              <a:t>COMPONENTS</a:t>
            </a:r>
          </a:p>
          <a:p>
            <a:pPr algn="l">
              <a:lnSpc>
                <a:spcPct val="116000"/>
              </a:lnSpc>
              <a:spcBef>
                <a:spcPts val="0"/>
              </a:spcBef>
              <a:spcAft>
                <a:spcPts val="600"/>
              </a:spcAft>
            </a:pPr>
            <a:r>
              <a:rPr sz="1400" b="0" i="0" dirty="0">
                <a:solidFill>
                  <a:srgbClr val="1C1C1C"/>
                </a:solidFill>
                <a:latin typeface="Arial"/>
              </a:rPr>
              <a:t>ESP32 — microcontroller · BLE radio · under GHS 100 locally</a:t>
            </a:r>
          </a:p>
          <a:p>
            <a:pPr algn="l">
              <a:lnSpc>
                <a:spcPct val="116000"/>
              </a:lnSpc>
              <a:spcBef>
                <a:spcPts val="0"/>
              </a:spcBef>
              <a:spcAft>
                <a:spcPts val="600"/>
              </a:spcAft>
            </a:pPr>
            <a:r>
              <a:rPr sz="1400" b="0" i="0" dirty="0">
                <a:solidFill>
                  <a:srgbClr val="1C1C1C"/>
                </a:solidFill>
                <a:latin typeface="Arial"/>
              </a:rPr>
              <a:t>MPU6050 — 3-axis accelerometer, vibration on X, Y and Z</a:t>
            </a:r>
          </a:p>
          <a:p>
            <a:pPr algn="l">
              <a:lnSpc>
                <a:spcPct val="116000"/>
              </a:lnSpc>
              <a:spcBef>
                <a:spcPts val="0"/>
              </a:spcBef>
              <a:spcAft>
                <a:spcPts val="600"/>
              </a:spcAft>
            </a:pPr>
            <a:r>
              <a:rPr sz="1400" b="0" i="0" dirty="0">
                <a:solidFill>
                  <a:srgbClr val="1C1C1C"/>
                </a:solidFill>
                <a:latin typeface="Arial"/>
              </a:rPr>
              <a:t>DS18B20 — digital probe, engine surface temperature</a:t>
            </a:r>
          </a:p>
        </p:txBody>
      </p:sp>
      <p:sp>
        <p:nvSpPr>
          <p:cNvPr id="9" name="Rounded Rectangle 8"/>
          <p:cNvSpPr/>
          <p:nvPr/>
        </p:nvSpPr>
        <p:spPr>
          <a:xfrm>
            <a:off x="6446520" y="2011680"/>
            <a:ext cx="4846320" cy="3246120"/>
          </a:xfrm>
          <a:prstGeom prst="roundRect">
            <a:avLst>
              <a:gd name="adj" fmla="val 5000"/>
            </a:avLst>
          </a:prstGeom>
          <a:solidFill>
            <a:srgbClr val="F7F9F6"/>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6684264" y="2212848"/>
            <a:ext cx="4370831" cy="2467791"/>
          </a:xfrm>
          <a:prstGeom prst="rect">
            <a:avLst/>
          </a:prstGeom>
          <a:noFill/>
        </p:spPr>
        <p:txBody>
          <a:bodyPr wrap="square" lIns="0" tIns="0" rIns="0" bIns="0" anchor="t">
            <a:spAutoFit/>
          </a:bodyPr>
          <a:lstStyle/>
          <a:p>
            <a:pPr algn="l">
              <a:lnSpc>
                <a:spcPct val="100000"/>
              </a:lnSpc>
              <a:spcBef>
                <a:spcPts val="0"/>
              </a:spcBef>
              <a:spcAft>
                <a:spcPts val="700"/>
              </a:spcAft>
            </a:pPr>
            <a:r>
              <a:rPr sz="1600" b="1" i="0" dirty="0">
                <a:solidFill>
                  <a:srgbClr val="014700"/>
                </a:solidFill>
                <a:latin typeface="Arial"/>
              </a:rPr>
              <a:t>WHY BLE, NOT WI-FI / MQTT</a:t>
            </a:r>
          </a:p>
          <a:p>
            <a:pPr algn="l">
              <a:lnSpc>
                <a:spcPct val="116000"/>
              </a:lnSpc>
              <a:spcBef>
                <a:spcPts val="0"/>
              </a:spcBef>
              <a:spcAft>
                <a:spcPts val="600"/>
              </a:spcAft>
            </a:pPr>
            <a:r>
              <a:rPr sz="1400" b="0" i="0" dirty="0">
                <a:solidFill>
                  <a:srgbClr val="1C1C1C"/>
                </a:solidFill>
                <a:latin typeface="Arial"/>
              </a:rPr>
              <a:t>Removes two dependencies at once — the Wi-Fi router and the MQTT broker. A car parked anywhere can be monitored, with no internet connection needed for data acquisition.</a:t>
            </a:r>
          </a:p>
          <a:p>
            <a:pPr algn="l">
              <a:lnSpc>
                <a:spcPct val="116000"/>
              </a:lnSpc>
              <a:spcBef>
                <a:spcPts val="0"/>
              </a:spcBef>
              <a:spcAft>
                <a:spcPts val="600"/>
              </a:spcAft>
            </a:pPr>
            <a:r>
              <a:rPr sz="1400" b="0" i="0" dirty="0">
                <a:solidFill>
                  <a:srgbClr val="1C1C1C"/>
                </a:solidFill>
                <a:latin typeface="Arial"/>
              </a:rPr>
              <a:t>THE COST OF THAT CHOICE</a:t>
            </a:r>
          </a:p>
          <a:p>
            <a:pPr algn="l">
              <a:lnSpc>
                <a:spcPct val="116000"/>
              </a:lnSpc>
              <a:spcBef>
                <a:spcPts val="0"/>
              </a:spcBef>
              <a:spcAft>
                <a:spcPts val="600"/>
              </a:spcAft>
            </a:pPr>
            <a:r>
              <a:rPr sz="1400" b="0" i="0" dirty="0">
                <a:solidFill>
                  <a:srgbClr val="1C1C1C"/>
                </a:solidFill>
                <a:latin typeface="Arial"/>
              </a:rPr>
              <a:t>Roughly 10 </a:t>
            </a:r>
            <a:r>
              <a:rPr sz="1400" b="0" i="0" dirty="0" err="1">
                <a:solidFill>
                  <a:srgbClr val="1C1C1C"/>
                </a:solidFill>
                <a:latin typeface="Arial"/>
              </a:rPr>
              <a:t>metres</a:t>
            </a:r>
            <a:r>
              <a:rPr sz="1400" b="0" i="0" dirty="0">
                <a:solidFill>
                  <a:srgbClr val="1C1C1C"/>
                </a:solidFill>
                <a:latin typeface="Arial"/>
              </a:rPr>
              <a:t> of range, and BLE's single-central-device model means one supervising device per sensor unit at a time. We state this openly in Chapter 5.</a:t>
            </a:r>
          </a:p>
        </p:txBody>
      </p:sp>
      <p:sp>
        <p:nvSpPr>
          <p:cNvPr id="11" name="Rounded Rectangle 10"/>
          <p:cNvSpPr/>
          <p:nvPr/>
        </p:nvSpPr>
        <p:spPr>
          <a:xfrm>
            <a:off x="914400" y="5413248"/>
            <a:ext cx="4846320" cy="402336"/>
          </a:xfrm>
          <a:prstGeom prst="roundRect">
            <a:avLst>
              <a:gd name="adj" fmla="val 5000"/>
            </a:avLst>
          </a:prstGeom>
          <a:solidFill>
            <a:srgbClr val="FFFFFF"/>
          </a:solidFill>
          <a:ln w="9525">
            <a:solidFill>
              <a:srgbClr val="1B7A3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1115568" y="5504688"/>
            <a:ext cx="4443983" cy="256032"/>
          </a:xfrm>
          <a:prstGeom prst="rect">
            <a:avLst/>
          </a:prstGeom>
          <a:noFill/>
        </p:spPr>
        <p:txBody>
          <a:bodyPr wrap="square" lIns="0" tIns="0" rIns="0" bIns="0" anchor="t">
            <a:spAutoFit/>
          </a:bodyPr>
          <a:lstStyle/>
          <a:p>
            <a:pPr algn="l">
              <a:lnSpc>
                <a:spcPct val="100000"/>
              </a:lnSpc>
              <a:spcBef>
                <a:spcPts val="0"/>
              </a:spcBef>
              <a:spcAft>
                <a:spcPts val="0"/>
              </a:spcAft>
            </a:pPr>
            <a:r>
              <a:rPr sz="1150" b="1" i="0">
                <a:solidFill>
                  <a:srgbClr val="014700"/>
                </a:solidFill>
                <a:latin typeface="Times New Roman"/>
              </a:rPr>
              <a:t>Total build cost:  under GHS 400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731520"/>
            <a:ext cx="1037844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B7A3E"/>
                </a:solidFill>
                <a:latin typeface="Arial"/>
              </a:rPr>
              <a:t>// SIGNAL PIPELINE</a:t>
            </a:r>
          </a:p>
        </p:txBody>
      </p:sp>
      <p:sp>
        <p:nvSpPr>
          <p:cNvPr id="3" name="TextBox 2"/>
          <p:cNvSpPr txBox="1"/>
          <p:nvPr/>
        </p:nvSpPr>
        <p:spPr>
          <a:xfrm>
            <a:off x="914400" y="1005840"/>
            <a:ext cx="10378440" cy="713232"/>
          </a:xfrm>
          <a:prstGeom prst="rect">
            <a:avLst/>
          </a:prstGeom>
          <a:noFill/>
        </p:spPr>
        <p:txBody>
          <a:bodyPr wrap="square" lIns="0" tIns="0" rIns="0" bIns="0" anchor="t">
            <a:spAutoFit/>
          </a:bodyPr>
          <a:lstStyle/>
          <a:p>
            <a:pPr algn="l">
              <a:lnSpc>
                <a:spcPct val="95000"/>
              </a:lnSpc>
              <a:spcBef>
                <a:spcPts val="0"/>
              </a:spcBef>
              <a:spcAft>
                <a:spcPts val="0"/>
              </a:spcAft>
            </a:pPr>
            <a:r>
              <a:rPr sz="2700" b="1" i="0">
                <a:solidFill>
                  <a:srgbClr val="014700"/>
                </a:solidFill>
                <a:latin typeface="Times New Roman"/>
              </a:rPr>
              <a:t>From raw samples to a score</a:t>
            </a:r>
          </a:p>
        </p:txBody>
      </p:sp>
      <p:sp>
        <p:nvSpPr>
          <p:cNvPr id="4" name="Rectangle 3"/>
          <p:cNvSpPr/>
          <p:nvPr/>
        </p:nvSpPr>
        <p:spPr>
          <a:xfrm>
            <a:off x="914400" y="1755648"/>
            <a:ext cx="10378440" cy="18288"/>
          </a:xfrm>
          <a:prstGeom prst="rect">
            <a:avLst/>
          </a:prstGeom>
          <a:solidFill>
            <a:srgbClr val="014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897880"/>
            <a:ext cx="5486400" cy="256032"/>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5B5B5B"/>
                </a:solidFill>
                <a:latin typeface="Arial"/>
              </a:rPr>
              <a:t>EngineIQ  ·  Group 11  ·  Department of Computer Science, KNUST</a:t>
            </a:r>
          </a:p>
        </p:txBody>
      </p:sp>
      <p:sp>
        <p:nvSpPr>
          <p:cNvPr id="6" name="TextBox 5"/>
          <p:cNvSpPr txBox="1"/>
          <p:nvPr/>
        </p:nvSpPr>
        <p:spPr>
          <a:xfrm>
            <a:off x="10378440" y="5897880"/>
            <a:ext cx="914400" cy="256032"/>
          </a:xfrm>
          <a:prstGeom prst="rect">
            <a:avLst/>
          </a:prstGeom>
          <a:noFill/>
        </p:spPr>
        <p:txBody>
          <a:bodyPr wrap="square" lIns="0" tIns="0" rIns="0" bIns="0" anchor="t">
            <a:spAutoFit/>
          </a:bodyPr>
          <a:lstStyle/>
          <a:p>
            <a:pPr algn="r">
              <a:lnSpc>
                <a:spcPct val="100000"/>
              </a:lnSpc>
              <a:spcBef>
                <a:spcPts val="0"/>
              </a:spcBef>
              <a:spcAft>
                <a:spcPts val="0"/>
              </a:spcAft>
            </a:pPr>
            <a:r>
              <a:rPr sz="850" b="1" i="0">
                <a:solidFill>
                  <a:srgbClr val="1B7A3E"/>
                </a:solidFill>
                <a:latin typeface="Arial"/>
              </a:rPr>
              <a:t>8</a:t>
            </a:r>
          </a:p>
        </p:txBody>
      </p:sp>
      <p:sp>
        <p:nvSpPr>
          <p:cNvPr id="7" name="Rounded Rectangle 6"/>
          <p:cNvSpPr/>
          <p:nvPr/>
        </p:nvSpPr>
        <p:spPr>
          <a:xfrm>
            <a:off x="914400" y="2011680"/>
            <a:ext cx="1501140" cy="1280160"/>
          </a:xfrm>
          <a:prstGeom prst="roundRect">
            <a:avLst>
              <a:gd name="adj" fmla="val 5000"/>
            </a:avLst>
          </a:prstGeom>
          <a:solidFill>
            <a:srgbClr val="FFFFFF"/>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005840" y="2194560"/>
            <a:ext cx="1318260" cy="969263"/>
          </a:xfrm>
          <a:prstGeom prst="rect">
            <a:avLst/>
          </a:prstGeom>
          <a:noFill/>
        </p:spPr>
        <p:txBody>
          <a:bodyPr wrap="square" lIns="0" tIns="0" rIns="0" bIns="0" anchor="t">
            <a:spAutoFit/>
          </a:bodyPr>
          <a:lstStyle/>
          <a:p>
            <a:pPr algn="ctr">
              <a:lnSpc>
                <a:spcPct val="100000"/>
              </a:lnSpc>
              <a:spcBef>
                <a:spcPts val="0"/>
              </a:spcBef>
              <a:spcAft>
                <a:spcPts val="500"/>
              </a:spcAft>
            </a:pPr>
            <a:r>
              <a:rPr sz="1050" b="1" i="0">
                <a:solidFill>
                  <a:srgbClr val="014700"/>
                </a:solidFill>
                <a:latin typeface="Arial"/>
              </a:rPr>
              <a:t>RAW</a:t>
            </a:r>
          </a:p>
          <a:p>
            <a:pPr algn="ctr">
              <a:lnSpc>
                <a:spcPct val="110000"/>
              </a:lnSpc>
              <a:spcBef>
                <a:spcPts val="0"/>
              </a:spcBef>
              <a:spcAft>
                <a:spcPts val="0"/>
              </a:spcAft>
            </a:pPr>
            <a:r>
              <a:rPr sz="800" b="0" i="0">
                <a:solidFill>
                  <a:srgbClr val="1C1C1C"/>
                </a:solidFill>
                <a:latin typeface="Arial"/>
              </a:rPr>
              <a:t>accX, accY, accZ</a:t>
            </a:r>
          </a:p>
          <a:p>
            <a:pPr algn="ctr">
              <a:lnSpc>
                <a:spcPct val="110000"/>
              </a:lnSpc>
              <a:spcBef>
                <a:spcPts val="0"/>
              </a:spcBef>
              <a:spcAft>
                <a:spcPts val="0"/>
              </a:spcAft>
            </a:pPr>
            <a:r>
              <a:rPr sz="800" b="0" i="0">
                <a:solidFill>
                  <a:srgbClr val="5B5B5B"/>
                </a:solidFill>
                <a:latin typeface="Arial"/>
              </a:rPr>
              <a:t>temperature</a:t>
            </a:r>
          </a:p>
        </p:txBody>
      </p:sp>
      <p:sp>
        <p:nvSpPr>
          <p:cNvPr id="9" name="TextBox 8"/>
          <p:cNvSpPr txBox="1"/>
          <p:nvPr/>
        </p:nvSpPr>
        <p:spPr>
          <a:xfrm>
            <a:off x="2415540" y="2450592"/>
            <a:ext cx="274320" cy="365760"/>
          </a:xfrm>
          <a:prstGeom prst="rect">
            <a:avLst/>
          </a:prstGeom>
          <a:noFill/>
        </p:spPr>
        <p:txBody>
          <a:bodyPr wrap="square" lIns="0" tIns="0" rIns="0" bIns="0" anchor="t">
            <a:spAutoFit/>
          </a:bodyPr>
          <a:lstStyle/>
          <a:p>
            <a:pPr algn="ctr">
              <a:lnSpc>
                <a:spcPct val="100000"/>
              </a:lnSpc>
              <a:spcBef>
                <a:spcPts val="0"/>
              </a:spcBef>
              <a:spcAft>
                <a:spcPts val="0"/>
              </a:spcAft>
            </a:pPr>
            <a:r>
              <a:rPr sz="1900" b="1" i="0">
                <a:solidFill>
                  <a:srgbClr val="1B7A3E"/>
                </a:solidFill>
                <a:latin typeface="Arial"/>
              </a:rPr>
              <a:t>›</a:t>
            </a:r>
          </a:p>
        </p:txBody>
      </p:sp>
      <p:sp>
        <p:nvSpPr>
          <p:cNvPr id="10" name="Rounded Rectangle 9"/>
          <p:cNvSpPr/>
          <p:nvPr/>
        </p:nvSpPr>
        <p:spPr>
          <a:xfrm>
            <a:off x="2689860" y="2011680"/>
            <a:ext cx="1501140" cy="1280160"/>
          </a:xfrm>
          <a:prstGeom prst="roundRect">
            <a:avLst>
              <a:gd name="adj" fmla="val 5000"/>
            </a:avLst>
          </a:prstGeom>
          <a:solidFill>
            <a:srgbClr val="FFFFFF"/>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1" name="TextBox 10"/>
          <p:cNvSpPr txBox="1"/>
          <p:nvPr/>
        </p:nvSpPr>
        <p:spPr>
          <a:xfrm>
            <a:off x="2781300" y="2194560"/>
            <a:ext cx="1318260" cy="969263"/>
          </a:xfrm>
          <a:prstGeom prst="rect">
            <a:avLst/>
          </a:prstGeom>
          <a:noFill/>
        </p:spPr>
        <p:txBody>
          <a:bodyPr wrap="square" lIns="0" tIns="0" rIns="0" bIns="0" anchor="t">
            <a:spAutoFit/>
          </a:bodyPr>
          <a:lstStyle/>
          <a:p>
            <a:pPr algn="ctr">
              <a:lnSpc>
                <a:spcPct val="100000"/>
              </a:lnSpc>
              <a:spcBef>
                <a:spcPts val="0"/>
              </a:spcBef>
              <a:spcAft>
                <a:spcPts val="500"/>
              </a:spcAft>
            </a:pPr>
            <a:r>
              <a:rPr sz="1050" b="1" i="0">
                <a:solidFill>
                  <a:srgbClr val="014700"/>
                </a:solidFill>
                <a:latin typeface="Arial"/>
              </a:rPr>
              <a:t>FILTER</a:t>
            </a:r>
          </a:p>
          <a:p>
            <a:pPr algn="ctr">
              <a:lnSpc>
                <a:spcPct val="110000"/>
              </a:lnSpc>
              <a:spcBef>
                <a:spcPts val="0"/>
              </a:spcBef>
              <a:spcAft>
                <a:spcPts val="0"/>
              </a:spcAft>
            </a:pPr>
            <a:r>
              <a:rPr sz="800" b="0" i="0">
                <a:solidFill>
                  <a:srgbClr val="1C1C1C"/>
                </a:solidFill>
                <a:latin typeface="Arial"/>
              </a:rPr>
              <a:t>Butterworth</a:t>
            </a:r>
          </a:p>
          <a:p>
            <a:pPr algn="ctr">
              <a:lnSpc>
                <a:spcPct val="110000"/>
              </a:lnSpc>
              <a:spcBef>
                <a:spcPts val="0"/>
              </a:spcBef>
              <a:spcAft>
                <a:spcPts val="0"/>
              </a:spcAft>
            </a:pPr>
            <a:r>
              <a:rPr sz="800" b="0" i="0">
                <a:solidFill>
                  <a:srgbClr val="5B5B5B"/>
                </a:solidFill>
                <a:latin typeface="Arial"/>
              </a:rPr>
              <a:t>low-pass</a:t>
            </a:r>
          </a:p>
        </p:txBody>
      </p:sp>
      <p:sp>
        <p:nvSpPr>
          <p:cNvPr id="12" name="TextBox 11"/>
          <p:cNvSpPr txBox="1"/>
          <p:nvPr/>
        </p:nvSpPr>
        <p:spPr>
          <a:xfrm>
            <a:off x="4190999" y="2450592"/>
            <a:ext cx="274320" cy="365760"/>
          </a:xfrm>
          <a:prstGeom prst="rect">
            <a:avLst/>
          </a:prstGeom>
          <a:noFill/>
        </p:spPr>
        <p:txBody>
          <a:bodyPr wrap="square" lIns="0" tIns="0" rIns="0" bIns="0" anchor="t">
            <a:spAutoFit/>
          </a:bodyPr>
          <a:lstStyle/>
          <a:p>
            <a:pPr algn="ctr">
              <a:lnSpc>
                <a:spcPct val="100000"/>
              </a:lnSpc>
              <a:spcBef>
                <a:spcPts val="0"/>
              </a:spcBef>
              <a:spcAft>
                <a:spcPts val="0"/>
              </a:spcAft>
            </a:pPr>
            <a:r>
              <a:rPr sz="1900" b="1" i="0">
                <a:solidFill>
                  <a:srgbClr val="1B7A3E"/>
                </a:solidFill>
                <a:latin typeface="Arial"/>
              </a:rPr>
              <a:t>›</a:t>
            </a:r>
          </a:p>
        </p:txBody>
      </p:sp>
      <p:sp>
        <p:nvSpPr>
          <p:cNvPr id="13" name="Rounded Rectangle 12"/>
          <p:cNvSpPr/>
          <p:nvPr/>
        </p:nvSpPr>
        <p:spPr>
          <a:xfrm>
            <a:off x="4465320" y="2011680"/>
            <a:ext cx="1501140" cy="1280160"/>
          </a:xfrm>
          <a:prstGeom prst="roundRect">
            <a:avLst>
              <a:gd name="adj" fmla="val 5000"/>
            </a:avLst>
          </a:prstGeom>
          <a:solidFill>
            <a:srgbClr val="FFFFFF"/>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4556759" y="2194560"/>
            <a:ext cx="1318260" cy="969263"/>
          </a:xfrm>
          <a:prstGeom prst="rect">
            <a:avLst/>
          </a:prstGeom>
          <a:noFill/>
        </p:spPr>
        <p:txBody>
          <a:bodyPr wrap="square" lIns="0" tIns="0" rIns="0" bIns="0" anchor="t">
            <a:spAutoFit/>
          </a:bodyPr>
          <a:lstStyle/>
          <a:p>
            <a:pPr algn="ctr">
              <a:lnSpc>
                <a:spcPct val="100000"/>
              </a:lnSpc>
              <a:spcBef>
                <a:spcPts val="0"/>
              </a:spcBef>
              <a:spcAft>
                <a:spcPts val="500"/>
              </a:spcAft>
            </a:pPr>
            <a:r>
              <a:rPr sz="1050" b="1" i="0">
                <a:solidFill>
                  <a:srgbClr val="014700"/>
                </a:solidFill>
                <a:latin typeface="Arial"/>
              </a:rPr>
              <a:t>WINDOW</a:t>
            </a:r>
          </a:p>
          <a:p>
            <a:pPr algn="ctr">
              <a:lnSpc>
                <a:spcPct val="110000"/>
              </a:lnSpc>
              <a:spcBef>
                <a:spcPts val="0"/>
              </a:spcBef>
              <a:spcAft>
                <a:spcPts val="0"/>
              </a:spcAft>
            </a:pPr>
            <a:r>
              <a:rPr sz="800" b="0" i="0">
                <a:solidFill>
                  <a:srgbClr val="1C1C1C"/>
                </a:solidFill>
                <a:latin typeface="Arial"/>
              </a:rPr>
              <a:t>fixed-length</a:t>
            </a:r>
          </a:p>
          <a:p>
            <a:pPr algn="ctr">
              <a:lnSpc>
                <a:spcPct val="110000"/>
              </a:lnSpc>
              <a:spcBef>
                <a:spcPts val="0"/>
              </a:spcBef>
              <a:spcAft>
                <a:spcPts val="0"/>
              </a:spcAft>
            </a:pPr>
            <a:r>
              <a:rPr sz="800" b="0" i="0">
                <a:solidFill>
                  <a:srgbClr val="5B5B5B"/>
                </a:solidFill>
                <a:latin typeface="Arial"/>
              </a:rPr>
              <a:t>sample windows</a:t>
            </a:r>
          </a:p>
        </p:txBody>
      </p:sp>
      <p:sp>
        <p:nvSpPr>
          <p:cNvPr id="15" name="TextBox 14"/>
          <p:cNvSpPr txBox="1"/>
          <p:nvPr/>
        </p:nvSpPr>
        <p:spPr>
          <a:xfrm>
            <a:off x="5966459" y="2450592"/>
            <a:ext cx="274320" cy="365760"/>
          </a:xfrm>
          <a:prstGeom prst="rect">
            <a:avLst/>
          </a:prstGeom>
          <a:noFill/>
        </p:spPr>
        <p:txBody>
          <a:bodyPr wrap="square" lIns="0" tIns="0" rIns="0" bIns="0" anchor="t">
            <a:spAutoFit/>
          </a:bodyPr>
          <a:lstStyle/>
          <a:p>
            <a:pPr algn="ctr">
              <a:lnSpc>
                <a:spcPct val="100000"/>
              </a:lnSpc>
              <a:spcBef>
                <a:spcPts val="0"/>
              </a:spcBef>
              <a:spcAft>
                <a:spcPts val="0"/>
              </a:spcAft>
            </a:pPr>
            <a:r>
              <a:rPr sz="1900" b="1" i="0">
                <a:solidFill>
                  <a:srgbClr val="1B7A3E"/>
                </a:solidFill>
                <a:latin typeface="Arial"/>
              </a:rPr>
              <a:t>›</a:t>
            </a:r>
          </a:p>
        </p:txBody>
      </p:sp>
      <p:sp>
        <p:nvSpPr>
          <p:cNvPr id="16" name="Rounded Rectangle 15"/>
          <p:cNvSpPr/>
          <p:nvPr/>
        </p:nvSpPr>
        <p:spPr>
          <a:xfrm>
            <a:off x="6240780" y="2011680"/>
            <a:ext cx="1501140" cy="1280160"/>
          </a:xfrm>
          <a:prstGeom prst="roundRect">
            <a:avLst>
              <a:gd name="adj" fmla="val 5000"/>
            </a:avLst>
          </a:prstGeom>
          <a:solidFill>
            <a:srgbClr val="FFFFFF"/>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7" name="TextBox 16"/>
          <p:cNvSpPr txBox="1"/>
          <p:nvPr/>
        </p:nvSpPr>
        <p:spPr>
          <a:xfrm>
            <a:off x="6332220" y="2194560"/>
            <a:ext cx="1318260" cy="969263"/>
          </a:xfrm>
          <a:prstGeom prst="rect">
            <a:avLst/>
          </a:prstGeom>
          <a:noFill/>
        </p:spPr>
        <p:txBody>
          <a:bodyPr wrap="square" lIns="0" tIns="0" rIns="0" bIns="0" anchor="t">
            <a:spAutoFit/>
          </a:bodyPr>
          <a:lstStyle/>
          <a:p>
            <a:pPr algn="ctr">
              <a:lnSpc>
                <a:spcPct val="100000"/>
              </a:lnSpc>
              <a:spcBef>
                <a:spcPts val="0"/>
              </a:spcBef>
              <a:spcAft>
                <a:spcPts val="500"/>
              </a:spcAft>
            </a:pPr>
            <a:r>
              <a:rPr sz="1050" b="1" i="0">
                <a:solidFill>
                  <a:srgbClr val="014700"/>
                </a:solidFill>
                <a:latin typeface="Arial"/>
              </a:rPr>
              <a:t>FEATURES</a:t>
            </a:r>
          </a:p>
          <a:p>
            <a:pPr algn="ctr">
              <a:lnSpc>
                <a:spcPct val="110000"/>
              </a:lnSpc>
              <a:spcBef>
                <a:spcPts val="0"/>
              </a:spcBef>
              <a:spcAft>
                <a:spcPts val="0"/>
              </a:spcAft>
            </a:pPr>
            <a:r>
              <a:rPr sz="800" b="0" i="0">
                <a:solidFill>
                  <a:srgbClr val="1C1C1C"/>
                </a:solidFill>
                <a:latin typeface="Arial"/>
              </a:rPr>
              <a:t>9 statistics</a:t>
            </a:r>
          </a:p>
          <a:p>
            <a:pPr algn="ctr">
              <a:lnSpc>
                <a:spcPct val="110000"/>
              </a:lnSpc>
              <a:spcBef>
                <a:spcPts val="0"/>
              </a:spcBef>
              <a:spcAft>
                <a:spcPts val="0"/>
              </a:spcAft>
            </a:pPr>
            <a:r>
              <a:rPr sz="800" b="0" i="0">
                <a:solidFill>
                  <a:srgbClr val="5B5B5B"/>
                </a:solidFill>
                <a:latin typeface="Arial"/>
              </a:rPr>
              <a:t>per channel</a:t>
            </a:r>
          </a:p>
        </p:txBody>
      </p:sp>
      <p:sp>
        <p:nvSpPr>
          <p:cNvPr id="18" name="TextBox 17"/>
          <p:cNvSpPr txBox="1"/>
          <p:nvPr/>
        </p:nvSpPr>
        <p:spPr>
          <a:xfrm>
            <a:off x="7741920" y="2450592"/>
            <a:ext cx="274320" cy="365760"/>
          </a:xfrm>
          <a:prstGeom prst="rect">
            <a:avLst/>
          </a:prstGeom>
          <a:noFill/>
        </p:spPr>
        <p:txBody>
          <a:bodyPr wrap="square" lIns="0" tIns="0" rIns="0" bIns="0" anchor="t">
            <a:spAutoFit/>
          </a:bodyPr>
          <a:lstStyle/>
          <a:p>
            <a:pPr algn="ctr">
              <a:lnSpc>
                <a:spcPct val="100000"/>
              </a:lnSpc>
              <a:spcBef>
                <a:spcPts val="0"/>
              </a:spcBef>
              <a:spcAft>
                <a:spcPts val="0"/>
              </a:spcAft>
            </a:pPr>
            <a:r>
              <a:rPr sz="1900" b="1" i="0">
                <a:solidFill>
                  <a:srgbClr val="1B7A3E"/>
                </a:solidFill>
                <a:latin typeface="Arial"/>
              </a:rPr>
              <a:t>›</a:t>
            </a:r>
          </a:p>
        </p:txBody>
      </p:sp>
      <p:sp>
        <p:nvSpPr>
          <p:cNvPr id="19" name="Rounded Rectangle 18"/>
          <p:cNvSpPr/>
          <p:nvPr/>
        </p:nvSpPr>
        <p:spPr>
          <a:xfrm>
            <a:off x="8016239" y="2011680"/>
            <a:ext cx="1501140" cy="1280160"/>
          </a:xfrm>
          <a:prstGeom prst="roundRect">
            <a:avLst>
              <a:gd name="adj" fmla="val 5000"/>
            </a:avLst>
          </a:prstGeom>
          <a:solidFill>
            <a:srgbClr val="FFFFFF"/>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0" name="TextBox 19"/>
          <p:cNvSpPr txBox="1"/>
          <p:nvPr/>
        </p:nvSpPr>
        <p:spPr>
          <a:xfrm>
            <a:off x="8107679" y="2194560"/>
            <a:ext cx="1318260" cy="969263"/>
          </a:xfrm>
          <a:prstGeom prst="rect">
            <a:avLst/>
          </a:prstGeom>
          <a:noFill/>
        </p:spPr>
        <p:txBody>
          <a:bodyPr wrap="square" lIns="0" tIns="0" rIns="0" bIns="0" anchor="t">
            <a:spAutoFit/>
          </a:bodyPr>
          <a:lstStyle/>
          <a:p>
            <a:pPr algn="ctr">
              <a:lnSpc>
                <a:spcPct val="100000"/>
              </a:lnSpc>
              <a:spcBef>
                <a:spcPts val="0"/>
              </a:spcBef>
              <a:spcAft>
                <a:spcPts val="500"/>
              </a:spcAft>
            </a:pPr>
            <a:r>
              <a:rPr sz="1050" b="1" i="0">
                <a:solidFill>
                  <a:srgbClr val="014700"/>
                </a:solidFill>
                <a:latin typeface="Arial"/>
              </a:rPr>
              <a:t>MODEL</a:t>
            </a:r>
          </a:p>
          <a:p>
            <a:pPr algn="ctr">
              <a:lnSpc>
                <a:spcPct val="110000"/>
              </a:lnSpc>
              <a:spcBef>
                <a:spcPts val="0"/>
              </a:spcBef>
              <a:spcAft>
                <a:spcPts val="0"/>
              </a:spcAft>
            </a:pPr>
            <a:r>
              <a:rPr sz="800" b="0" i="0">
                <a:solidFill>
                  <a:srgbClr val="1C1C1C"/>
                </a:solidFill>
                <a:latin typeface="Arial"/>
              </a:rPr>
              <a:t>Isolation Forest</a:t>
            </a:r>
          </a:p>
          <a:p>
            <a:pPr algn="ctr">
              <a:lnSpc>
                <a:spcPct val="110000"/>
              </a:lnSpc>
              <a:spcBef>
                <a:spcPts val="0"/>
              </a:spcBef>
              <a:spcAft>
                <a:spcPts val="0"/>
              </a:spcAft>
            </a:pPr>
            <a:r>
              <a:rPr sz="800" b="0" i="0">
                <a:solidFill>
                  <a:srgbClr val="5B5B5B"/>
                </a:solidFill>
                <a:latin typeface="Arial"/>
              </a:rPr>
              <a:t>anomaly score</a:t>
            </a:r>
          </a:p>
        </p:txBody>
      </p:sp>
      <p:sp>
        <p:nvSpPr>
          <p:cNvPr id="21" name="TextBox 20"/>
          <p:cNvSpPr txBox="1"/>
          <p:nvPr/>
        </p:nvSpPr>
        <p:spPr>
          <a:xfrm>
            <a:off x="9517379" y="2450592"/>
            <a:ext cx="274320" cy="365760"/>
          </a:xfrm>
          <a:prstGeom prst="rect">
            <a:avLst/>
          </a:prstGeom>
          <a:noFill/>
        </p:spPr>
        <p:txBody>
          <a:bodyPr wrap="square" lIns="0" tIns="0" rIns="0" bIns="0" anchor="t">
            <a:spAutoFit/>
          </a:bodyPr>
          <a:lstStyle/>
          <a:p>
            <a:pPr algn="ctr">
              <a:lnSpc>
                <a:spcPct val="100000"/>
              </a:lnSpc>
              <a:spcBef>
                <a:spcPts val="0"/>
              </a:spcBef>
              <a:spcAft>
                <a:spcPts val="0"/>
              </a:spcAft>
            </a:pPr>
            <a:r>
              <a:rPr sz="1900" b="1" i="0">
                <a:solidFill>
                  <a:srgbClr val="1B7A3E"/>
                </a:solidFill>
                <a:latin typeface="Arial"/>
              </a:rPr>
              <a:t>›</a:t>
            </a:r>
          </a:p>
        </p:txBody>
      </p:sp>
      <p:sp>
        <p:nvSpPr>
          <p:cNvPr id="22" name="Rounded Rectangle 21"/>
          <p:cNvSpPr/>
          <p:nvPr/>
        </p:nvSpPr>
        <p:spPr>
          <a:xfrm>
            <a:off x="9791700" y="2011680"/>
            <a:ext cx="1501140" cy="1280160"/>
          </a:xfrm>
          <a:prstGeom prst="roundRect">
            <a:avLst>
              <a:gd name="adj" fmla="val 5000"/>
            </a:avLst>
          </a:prstGeom>
          <a:solidFill>
            <a:srgbClr val="FFFFFF"/>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23" name="TextBox 22"/>
          <p:cNvSpPr txBox="1"/>
          <p:nvPr/>
        </p:nvSpPr>
        <p:spPr>
          <a:xfrm>
            <a:off x="9883140" y="2194560"/>
            <a:ext cx="1318260" cy="969263"/>
          </a:xfrm>
          <a:prstGeom prst="rect">
            <a:avLst/>
          </a:prstGeom>
          <a:noFill/>
        </p:spPr>
        <p:txBody>
          <a:bodyPr wrap="square" lIns="0" tIns="0" rIns="0" bIns="0" anchor="t">
            <a:spAutoFit/>
          </a:bodyPr>
          <a:lstStyle/>
          <a:p>
            <a:pPr algn="ctr">
              <a:lnSpc>
                <a:spcPct val="100000"/>
              </a:lnSpc>
              <a:spcBef>
                <a:spcPts val="0"/>
              </a:spcBef>
              <a:spcAft>
                <a:spcPts val="500"/>
              </a:spcAft>
            </a:pPr>
            <a:r>
              <a:rPr sz="1050" b="1" i="0">
                <a:solidFill>
                  <a:srgbClr val="014700"/>
                </a:solidFill>
                <a:latin typeface="Arial"/>
              </a:rPr>
              <a:t>LOG</a:t>
            </a:r>
          </a:p>
          <a:p>
            <a:pPr algn="ctr">
              <a:lnSpc>
                <a:spcPct val="110000"/>
              </a:lnSpc>
              <a:spcBef>
                <a:spcPts val="0"/>
              </a:spcBef>
              <a:spcAft>
                <a:spcPts val="0"/>
              </a:spcAft>
            </a:pPr>
            <a:r>
              <a:rPr sz="800" b="0" i="0">
                <a:solidFill>
                  <a:srgbClr val="1C1C1C"/>
                </a:solidFill>
                <a:latin typeface="Arial"/>
              </a:rPr>
              <a:t>Supabase</a:t>
            </a:r>
          </a:p>
          <a:p>
            <a:pPr algn="ctr">
              <a:lnSpc>
                <a:spcPct val="110000"/>
              </a:lnSpc>
              <a:spcBef>
                <a:spcPts val="0"/>
              </a:spcBef>
              <a:spcAft>
                <a:spcPts val="0"/>
              </a:spcAft>
            </a:pPr>
            <a:r>
              <a:rPr sz="800" b="0" i="0">
                <a:solidFill>
                  <a:srgbClr val="5B5B5B"/>
                </a:solidFill>
                <a:latin typeface="Arial"/>
              </a:rPr>
              <a:t>Postgres row</a:t>
            </a:r>
          </a:p>
        </p:txBody>
      </p:sp>
      <p:sp>
        <p:nvSpPr>
          <p:cNvPr id="24" name="TextBox 23"/>
          <p:cNvSpPr txBox="1"/>
          <p:nvPr/>
        </p:nvSpPr>
        <p:spPr>
          <a:xfrm>
            <a:off x="914400" y="3611880"/>
            <a:ext cx="10378440" cy="2148840"/>
          </a:xfrm>
          <a:prstGeom prst="rect">
            <a:avLst/>
          </a:prstGeom>
          <a:noFill/>
        </p:spPr>
        <p:txBody>
          <a:bodyPr wrap="square" lIns="0" tIns="0" rIns="0" bIns="0" anchor="t">
            <a:spAutoFit/>
          </a:bodyPr>
          <a:lstStyle/>
          <a:p>
            <a:pPr algn="l">
              <a:lnSpc>
                <a:spcPct val="110000"/>
              </a:lnSpc>
              <a:spcBef>
                <a:spcPts val="0"/>
              </a:spcBef>
              <a:spcAft>
                <a:spcPts val="600"/>
              </a:spcAft>
            </a:pPr>
            <a:r>
              <a:rPr sz="1200" b="1" i="0">
                <a:solidFill>
                  <a:srgbClr val="014700"/>
                </a:solidFill>
                <a:latin typeface="Times New Roman"/>
              </a:rPr>
              <a:t>Every scored window is logged — not only the anomalies.</a:t>
            </a:r>
          </a:p>
          <a:p>
            <a:pPr algn="l">
              <a:lnSpc>
                <a:spcPct val="116000"/>
              </a:lnSpc>
              <a:spcBef>
                <a:spcPts val="0"/>
              </a:spcBef>
              <a:spcAft>
                <a:spcPts val="600"/>
              </a:spcAft>
            </a:pPr>
            <a:r>
              <a:rPr sz="1050" b="0" i="0">
                <a:solidFill>
                  <a:srgbClr val="1C1C1C"/>
                </a:solidFill>
                <a:latin typeface="Arial"/>
              </a:rPr>
              <a:t>A deliberate design decision. An engine-health history is only interpretable if it records what normal operation looked like, not only the exceptions. Without it, a technician reviewing an exported CSV sees a list of alarms with no context for the engine's healthy baseline. 5,122 records were logged over the testing period.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731520"/>
            <a:ext cx="1037844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B7A3E"/>
                </a:solidFill>
                <a:latin typeface="Arial"/>
              </a:rPr>
              <a:t>// METHOD</a:t>
            </a:r>
          </a:p>
        </p:txBody>
      </p:sp>
      <p:sp>
        <p:nvSpPr>
          <p:cNvPr id="3" name="TextBox 2"/>
          <p:cNvSpPr txBox="1"/>
          <p:nvPr/>
        </p:nvSpPr>
        <p:spPr>
          <a:xfrm>
            <a:off x="914400" y="1005840"/>
            <a:ext cx="10378440" cy="713232"/>
          </a:xfrm>
          <a:prstGeom prst="rect">
            <a:avLst/>
          </a:prstGeom>
          <a:noFill/>
        </p:spPr>
        <p:txBody>
          <a:bodyPr wrap="square" lIns="0" tIns="0" rIns="0" bIns="0" anchor="t">
            <a:spAutoFit/>
          </a:bodyPr>
          <a:lstStyle/>
          <a:p>
            <a:pPr algn="l">
              <a:lnSpc>
                <a:spcPct val="95000"/>
              </a:lnSpc>
              <a:spcBef>
                <a:spcPts val="0"/>
              </a:spcBef>
              <a:spcAft>
                <a:spcPts val="0"/>
              </a:spcAft>
            </a:pPr>
            <a:r>
              <a:rPr sz="2700" b="1" i="0">
                <a:solidFill>
                  <a:srgbClr val="014700"/>
                </a:solidFill>
                <a:latin typeface="Times New Roman"/>
              </a:rPr>
              <a:t>Why unsupervised, and why this model</a:t>
            </a:r>
          </a:p>
        </p:txBody>
      </p:sp>
      <p:sp>
        <p:nvSpPr>
          <p:cNvPr id="4" name="Rectangle 3"/>
          <p:cNvSpPr/>
          <p:nvPr/>
        </p:nvSpPr>
        <p:spPr>
          <a:xfrm>
            <a:off x="914400" y="1755648"/>
            <a:ext cx="10378440" cy="18288"/>
          </a:xfrm>
          <a:prstGeom prst="rect">
            <a:avLst/>
          </a:prstGeom>
          <a:solidFill>
            <a:srgbClr val="014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897880"/>
            <a:ext cx="5486400" cy="256032"/>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5B5B5B"/>
                </a:solidFill>
                <a:latin typeface="Arial"/>
              </a:rPr>
              <a:t>EngineIQ  ·  Group 11  ·  Department of Computer Science, KNUST</a:t>
            </a:r>
          </a:p>
        </p:txBody>
      </p:sp>
      <p:sp>
        <p:nvSpPr>
          <p:cNvPr id="6" name="TextBox 5"/>
          <p:cNvSpPr txBox="1"/>
          <p:nvPr/>
        </p:nvSpPr>
        <p:spPr>
          <a:xfrm>
            <a:off x="10378440" y="5897880"/>
            <a:ext cx="914400" cy="256032"/>
          </a:xfrm>
          <a:prstGeom prst="rect">
            <a:avLst/>
          </a:prstGeom>
          <a:noFill/>
        </p:spPr>
        <p:txBody>
          <a:bodyPr wrap="square" lIns="0" tIns="0" rIns="0" bIns="0" anchor="t">
            <a:spAutoFit/>
          </a:bodyPr>
          <a:lstStyle/>
          <a:p>
            <a:pPr algn="r">
              <a:lnSpc>
                <a:spcPct val="100000"/>
              </a:lnSpc>
              <a:spcBef>
                <a:spcPts val="0"/>
              </a:spcBef>
              <a:spcAft>
                <a:spcPts val="0"/>
              </a:spcAft>
            </a:pPr>
            <a:r>
              <a:rPr sz="850" b="1" i="0">
                <a:solidFill>
                  <a:srgbClr val="1B7A3E"/>
                </a:solidFill>
                <a:latin typeface="Arial"/>
              </a:rPr>
              <a:t>9</a:t>
            </a:r>
          </a:p>
        </p:txBody>
      </p:sp>
      <p:sp>
        <p:nvSpPr>
          <p:cNvPr id="7" name="Rounded Rectangle 6"/>
          <p:cNvSpPr/>
          <p:nvPr/>
        </p:nvSpPr>
        <p:spPr>
          <a:xfrm>
            <a:off x="914400" y="2011680"/>
            <a:ext cx="4846320" cy="3703320"/>
          </a:xfrm>
          <a:prstGeom prst="roundRect">
            <a:avLst>
              <a:gd name="adj" fmla="val 5000"/>
            </a:avLst>
          </a:prstGeom>
          <a:solidFill>
            <a:srgbClr val="F7F9F6"/>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152144" y="2212848"/>
            <a:ext cx="4370831" cy="3300984"/>
          </a:xfrm>
          <a:prstGeom prst="rect">
            <a:avLst/>
          </a:prstGeom>
          <a:noFill/>
        </p:spPr>
        <p:txBody>
          <a:bodyPr wrap="square" lIns="0" tIns="0" rIns="0" bIns="0" anchor="t">
            <a:spAutoFit/>
          </a:bodyPr>
          <a:lstStyle/>
          <a:p>
            <a:pPr algn="l">
              <a:lnSpc>
                <a:spcPct val="100000"/>
              </a:lnSpc>
              <a:spcBef>
                <a:spcPts val="0"/>
              </a:spcBef>
              <a:spcAft>
                <a:spcPts val="700"/>
              </a:spcAft>
            </a:pPr>
            <a:r>
              <a:rPr sz="1200" b="1" i="0">
                <a:solidFill>
                  <a:srgbClr val="014700"/>
                </a:solidFill>
                <a:latin typeface="Arial"/>
              </a:rPr>
              <a:t>WHY NOT SUPERVISED?</a:t>
            </a:r>
          </a:p>
          <a:p>
            <a:pPr algn="l">
              <a:lnSpc>
                <a:spcPct val="116000"/>
              </a:lnSpc>
              <a:spcBef>
                <a:spcPts val="0"/>
              </a:spcBef>
              <a:spcAft>
                <a:spcPts val="600"/>
              </a:spcAft>
            </a:pPr>
            <a:r>
              <a:rPr sz="1000" b="0" i="0">
                <a:solidFill>
                  <a:srgbClr val="1C1C1C"/>
                </a:solidFill>
                <a:latin typeface="Arial"/>
              </a:rPr>
              <a:t>Labelled fault data from a real Ghanaian engine does not exist and cannot be affordably produced. Nobody will let us destroy a bearing to generate training labels.</a:t>
            </a:r>
          </a:p>
          <a:p>
            <a:pPr algn="l">
              <a:lnSpc>
                <a:spcPct val="116000"/>
              </a:lnSpc>
              <a:spcBef>
                <a:spcPts val="0"/>
              </a:spcBef>
              <a:spcAft>
                <a:spcPts val="600"/>
              </a:spcAft>
            </a:pPr>
            <a:r>
              <a:rPr sz="1000" b="0" i="0">
                <a:solidFill>
                  <a:srgbClr val="1C1C1C"/>
                </a:solidFill>
                <a:latin typeface="Arial"/>
              </a:rPr>
              <a:t>Isolation Forest learns only what normal operation looks like — the only data we can actually collect. Everything deviating from that baseline is flagged.</a:t>
            </a:r>
          </a:p>
          <a:p>
            <a:pPr algn="l">
              <a:lnSpc>
                <a:spcPct val="116000"/>
              </a:lnSpc>
              <a:spcBef>
                <a:spcPts val="0"/>
              </a:spcBef>
              <a:spcAft>
                <a:spcPts val="600"/>
              </a:spcAft>
            </a:pPr>
            <a:r>
              <a:rPr sz="1000" b="0" i="0">
                <a:solidFill>
                  <a:srgbClr val="1C1C1C"/>
                </a:solidFill>
                <a:latin typeface="Arial"/>
              </a:rPr>
              <a:t>That constraint drove the method choice, not the other way round.</a:t>
            </a:r>
          </a:p>
        </p:txBody>
      </p:sp>
      <p:sp>
        <p:nvSpPr>
          <p:cNvPr id="9" name="Rounded Rectangle 8"/>
          <p:cNvSpPr/>
          <p:nvPr/>
        </p:nvSpPr>
        <p:spPr>
          <a:xfrm>
            <a:off x="6446520" y="2011680"/>
            <a:ext cx="4846320" cy="3703320"/>
          </a:xfrm>
          <a:prstGeom prst="roundRect">
            <a:avLst>
              <a:gd name="adj" fmla="val 5000"/>
            </a:avLst>
          </a:prstGeom>
          <a:solidFill>
            <a:srgbClr val="F7F9F6"/>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6684264" y="2212848"/>
            <a:ext cx="4370831" cy="3300984"/>
          </a:xfrm>
          <a:prstGeom prst="rect">
            <a:avLst/>
          </a:prstGeom>
          <a:noFill/>
        </p:spPr>
        <p:txBody>
          <a:bodyPr wrap="square" lIns="0" tIns="0" rIns="0" bIns="0" anchor="t">
            <a:spAutoFit/>
          </a:bodyPr>
          <a:lstStyle/>
          <a:p>
            <a:pPr algn="l">
              <a:lnSpc>
                <a:spcPct val="100000"/>
              </a:lnSpc>
              <a:spcBef>
                <a:spcPts val="0"/>
              </a:spcBef>
              <a:spcAft>
                <a:spcPts val="700"/>
              </a:spcAft>
            </a:pPr>
            <a:r>
              <a:rPr sz="1200" b="1" i="0">
                <a:solidFill>
                  <a:srgbClr val="014700"/>
                </a:solidFill>
                <a:latin typeface="Arial"/>
              </a:rPr>
              <a:t>WHY NOT LSTM OR AN AUTOENCODER?</a:t>
            </a:r>
          </a:p>
          <a:p>
            <a:pPr algn="l">
              <a:lnSpc>
                <a:spcPct val="116000"/>
              </a:lnSpc>
              <a:spcBef>
                <a:spcPts val="0"/>
              </a:spcBef>
              <a:spcAft>
                <a:spcPts val="600"/>
              </a:spcAft>
            </a:pPr>
            <a:r>
              <a:rPr sz="1000" b="0" i="0">
                <a:solidFill>
                  <a:srgbClr val="1C1C1C"/>
                </a:solidFill>
                <a:latin typeface="Arial"/>
              </a:rPr>
              <a:t>Malhotra's LSTM encoder-decoder is more powerful for contextual anomalies — but computationally heavy, and validated lab-only.</a:t>
            </a:r>
          </a:p>
          <a:p>
            <a:pPr algn="l">
              <a:lnSpc>
                <a:spcPct val="116000"/>
              </a:lnSpc>
              <a:spcBef>
                <a:spcPts val="0"/>
              </a:spcBef>
              <a:spcAft>
                <a:spcPts val="600"/>
              </a:spcAft>
            </a:pPr>
            <a:r>
              <a:rPr sz="1000" b="0" i="0">
                <a:solidFill>
                  <a:srgbClr val="1C1C1C"/>
                </a:solidFill>
                <a:latin typeface="Arial"/>
              </a:rPr>
              <a:t>Isolation Forest is distribution-free, trains on a few hundred windows, and runs on a laptop with no GPU and no cloud bill.</a:t>
            </a:r>
          </a:p>
          <a:p>
            <a:pPr algn="l">
              <a:lnSpc>
                <a:spcPct val="116000"/>
              </a:lnSpc>
              <a:spcBef>
                <a:spcPts val="0"/>
              </a:spcBef>
              <a:spcAft>
                <a:spcPts val="600"/>
              </a:spcAft>
            </a:pPr>
            <a:r>
              <a:rPr sz="1000" b="0" i="0">
                <a:solidFill>
                  <a:srgbClr val="1C1C1C"/>
                </a:solidFill>
                <a:latin typeface="Arial"/>
              </a:rPr>
              <a:t>We traded some sensitivity to contextual faults for the ability to deploy at all in a resource-constrained setting — a deliberate engineering trade-off, not a limitation of ambition.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731520"/>
            <a:ext cx="1037844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B7A3E"/>
                </a:solidFill>
                <a:latin typeface="Arial"/>
              </a:rPr>
              <a:t>// RESULTS</a:t>
            </a:r>
          </a:p>
        </p:txBody>
      </p:sp>
      <p:sp>
        <p:nvSpPr>
          <p:cNvPr id="3" name="TextBox 2"/>
          <p:cNvSpPr txBox="1"/>
          <p:nvPr/>
        </p:nvSpPr>
        <p:spPr>
          <a:xfrm>
            <a:off x="914400" y="1005840"/>
            <a:ext cx="10378440" cy="713232"/>
          </a:xfrm>
          <a:prstGeom prst="rect">
            <a:avLst/>
          </a:prstGeom>
          <a:noFill/>
        </p:spPr>
        <p:txBody>
          <a:bodyPr wrap="square" lIns="0" tIns="0" rIns="0" bIns="0" anchor="t">
            <a:spAutoFit/>
          </a:bodyPr>
          <a:lstStyle/>
          <a:p>
            <a:pPr algn="l">
              <a:lnSpc>
                <a:spcPct val="95000"/>
              </a:lnSpc>
              <a:spcBef>
                <a:spcPts val="0"/>
              </a:spcBef>
              <a:spcAft>
                <a:spcPts val="0"/>
              </a:spcAft>
            </a:pPr>
            <a:r>
              <a:rPr sz="2700" b="1" i="0">
                <a:solidFill>
                  <a:srgbClr val="014700"/>
                </a:solidFill>
                <a:latin typeface="Times New Roman"/>
              </a:rPr>
              <a:t>Detector performance — AI4I path</a:t>
            </a:r>
          </a:p>
        </p:txBody>
      </p:sp>
      <p:sp>
        <p:nvSpPr>
          <p:cNvPr id="4" name="Rectangle 3"/>
          <p:cNvSpPr/>
          <p:nvPr/>
        </p:nvSpPr>
        <p:spPr>
          <a:xfrm>
            <a:off x="914400" y="1755648"/>
            <a:ext cx="10378440" cy="18288"/>
          </a:xfrm>
          <a:prstGeom prst="rect">
            <a:avLst/>
          </a:prstGeom>
          <a:solidFill>
            <a:srgbClr val="014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897880"/>
            <a:ext cx="5486400" cy="256032"/>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5B5B5B"/>
                </a:solidFill>
                <a:latin typeface="Arial"/>
              </a:rPr>
              <a:t>EngineIQ  ·  Group 11  ·  Department of Computer Science, KNUST</a:t>
            </a:r>
          </a:p>
        </p:txBody>
      </p:sp>
      <p:sp>
        <p:nvSpPr>
          <p:cNvPr id="6" name="TextBox 5"/>
          <p:cNvSpPr txBox="1"/>
          <p:nvPr/>
        </p:nvSpPr>
        <p:spPr>
          <a:xfrm>
            <a:off x="10378440" y="5897880"/>
            <a:ext cx="914400" cy="256032"/>
          </a:xfrm>
          <a:prstGeom prst="rect">
            <a:avLst/>
          </a:prstGeom>
          <a:noFill/>
        </p:spPr>
        <p:txBody>
          <a:bodyPr wrap="square" lIns="0" tIns="0" rIns="0" bIns="0" anchor="t">
            <a:spAutoFit/>
          </a:bodyPr>
          <a:lstStyle/>
          <a:p>
            <a:pPr algn="r">
              <a:lnSpc>
                <a:spcPct val="100000"/>
              </a:lnSpc>
              <a:spcBef>
                <a:spcPts val="0"/>
              </a:spcBef>
              <a:spcAft>
                <a:spcPts val="0"/>
              </a:spcAft>
            </a:pPr>
            <a:r>
              <a:rPr sz="850" b="1" i="0">
                <a:solidFill>
                  <a:srgbClr val="1B7A3E"/>
                </a:solidFill>
                <a:latin typeface="Arial"/>
              </a:rPr>
              <a:t>10</a:t>
            </a:r>
          </a:p>
        </p:txBody>
      </p:sp>
      <p:sp>
        <p:nvSpPr>
          <p:cNvPr id="7" name="Rounded Rectangle 6"/>
          <p:cNvSpPr/>
          <p:nvPr/>
        </p:nvSpPr>
        <p:spPr>
          <a:xfrm>
            <a:off x="914400" y="1965960"/>
            <a:ext cx="2388870" cy="1234440"/>
          </a:xfrm>
          <a:prstGeom prst="roundRect">
            <a:avLst>
              <a:gd name="adj" fmla="val 5000"/>
            </a:avLst>
          </a:prstGeom>
          <a:solidFill>
            <a:srgbClr val="FFFFFF"/>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042416" y="2084831"/>
            <a:ext cx="2132837" cy="779637"/>
          </a:xfrm>
          <a:prstGeom prst="rect">
            <a:avLst/>
          </a:prstGeom>
          <a:noFill/>
        </p:spPr>
        <p:txBody>
          <a:bodyPr wrap="square" lIns="0" tIns="0" rIns="0" bIns="0" anchor="t">
            <a:spAutoFit/>
          </a:bodyPr>
          <a:lstStyle/>
          <a:p>
            <a:pPr algn="l">
              <a:lnSpc>
                <a:spcPct val="100000"/>
              </a:lnSpc>
              <a:spcBef>
                <a:spcPts val="0"/>
              </a:spcBef>
              <a:spcAft>
                <a:spcPts val="400"/>
              </a:spcAft>
            </a:pPr>
            <a:r>
              <a:rPr sz="2300" b="1" i="0" dirty="0">
                <a:solidFill>
                  <a:srgbClr val="014700"/>
                </a:solidFill>
                <a:latin typeface="Times New Roman"/>
              </a:rPr>
              <a:t>100%</a:t>
            </a:r>
          </a:p>
          <a:p>
            <a:pPr algn="l">
              <a:lnSpc>
                <a:spcPct val="105000"/>
              </a:lnSpc>
              <a:spcBef>
                <a:spcPts val="0"/>
              </a:spcBef>
              <a:spcAft>
                <a:spcPts val="0"/>
              </a:spcAft>
            </a:pPr>
            <a:r>
              <a:rPr sz="1200" b="1" i="0" dirty="0">
                <a:solidFill>
                  <a:srgbClr val="1C1C1C"/>
                </a:solidFill>
                <a:latin typeface="Arial"/>
              </a:rPr>
              <a:t>RECALL ON 12 HELD-OUT</a:t>
            </a:r>
          </a:p>
          <a:p>
            <a:pPr algn="l">
              <a:lnSpc>
                <a:spcPct val="105000"/>
              </a:lnSpc>
              <a:spcBef>
                <a:spcPts val="0"/>
              </a:spcBef>
              <a:spcAft>
                <a:spcPts val="0"/>
              </a:spcAft>
            </a:pPr>
            <a:r>
              <a:rPr sz="1200" b="0" i="0" dirty="0">
                <a:solidFill>
                  <a:srgbClr val="5B5B5B"/>
                </a:solidFill>
                <a:latin typeface="Arial"/>
              </a:rPr>
              <a:t>FAULT WINDOWS</a:t>
            </a:r>
          </a:p>
        </p:txBody>
      </p:sp>
      <p:sp>
        <p:nvSpPr>
          <p:cNvPr id="9" name="Rounded Rectangle 8"/>
          <p:cNvSpPr/>
          <p:nvPr/>
        </p:nvSpPr>
        <p:spPr>
          <a:xfrm>
            <a:off x="3577589" y="1965960"/>
            <a:ext cx="2388870" cy="1234440"/>
          </a:xfrm>
          <a:prstGeom prst="roundRect">
            <a:avLst>
              <a:gd name="adj" fmla="val 5000"/>
            </a:avLst>
          </a:prstGeom>
          <a:solidFill>
            <a:srgbClr val="FFFFFF"/>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3705605" y="2084831"/>
            <a:ext cx="2132837" cy="779637"/>
          </a:xfrm>
          <a:prstGeom prst="rect">
            <a:avLst/>
          </a:prstGeom>
          <a:noFill/>
        </p:spPr>
        <p:txBody>
          <a:bodyPr wrap="square" lIns="0" tIns="0" rIns="0" bIns="0" anchor="t">
            <a:spAutoFit/>
          </a:bodyPr>
          <a:lstStyle/>
          <a:p>
            <a:pPr algn="l">
              <a:lnSpc>
                <a:spcPct val="100000"/>
              </a:lnSpc>
              <a:spcBef>
                <a:spcPts val="0"/>
              </a:spcBef>
              <a:spcAft>
                <a:spcPts val="400"/>
              </a:spcAft>
            </a:pPr>
            <a:r>
              <a:rPr sz="2300" b="1" i="0" dirty="0">
                <a:solidFill>
                  <a:srgbClr val="014700"/>
                </a:solidFill>
                <a:latin typeface="Times New Roman"/>
              </a:rPr>
              <a:t>89.5%</a:t>
            </a:r>
          </a:p>
          <a:p>
            <a:pPr algn="l">
              <a:lnSpc>
                <a:spcPct val="105000"/>
              </a:lnSpc>
              <a:spcBef>
                <a:spcPts val="0"/>
              </a:spcBef>
              <a:spcAft>
                <a:spcPts val="0"/>
              </a:spcAft>
            </a:pPr>
            <a:r>
              <a:rPr sz="1200" b="1" i="0" dirty="0">
                <a:solidFill>
                  <a:srgbClr val="1C1C1C"/>
                </a:solidFill>
                <a:latin typeface="Arial"/>
              </a:rPr>
              <a:t>OVERALL DETECTION</a:t>
            </a:r>
          </a:p>
          <a:p>
            <a:pPr algn="l">
              <a:lnSpc>
                <a:spcPct val="105000"/>
              </a:lnSpc>
              <a:spcBef>
                <a:spcPts val="0"/>
              </a:spcBef>
              <a:spcAft>
                <a:spcPts val="0"/>
              </a:spcAft>
            </a:pPr>
            <a:r>
              <a:rPr sz="1200" b="0" i="0" dirty="0">
                <a:solidFill>
                  <a:srgbClr val="5B5B5B"/>
                </a:solidFill>
                <a:latin typeface="Arial"/>
              </a:rPr>
              <a:t>ACCURACY</a:t>
            </a:r>
          </a:p>
        </p:txBody>
      </p:sp>
      <p:sp>
        <p:nvSpPr>
          <p:cNvPr id="11" name="Rounded Rectangle 10"/>
          <p:cNvSpPr/>
          <p:nvPr/>
        </p:nvSpPr>
        <p:spPr>
          <a:xfrm>
            <a:off x="6240779" y="1965960"/>
            <a:ext cx="2388870" cy="1234440"/>
          </a:xfrm>
          <a:prstGeom prst="roundRect">
            <a:avLst>
              <a:gd name="adj" fmla="val 5000"/>
            </a:avLst>
          </a:prstGeom>
          <a:solidFill>
            <a:srgbClr val="FFFFFF"/>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2" name="TextBox 11"/>
          <p:cNvSpPr txBox="1"/>
          <p:nvPr/>
        </p:nvSpPr>
        <p:spPr>
          <a:xfrm>
            <a:off x="6368795" y="2084831"/>
            <a:ext cx="2132837" cy="779637"/>
          </a:xfrm>
          <a:prstGeom prst="rect">
            <a:avLst/>
          </a:prstGeom>
          <a:noFill/>
        </p:spPr>
        <p:txBody>
          <a:bodyPr wrap="square" lIns="0" tIns="0" rIns="0" bIns="0" anchor="t">
            <a:spAutoFit/>
          </a:bodyPr>
          <a:lstStyle/>
          <a:p>
            <a:pPr algn="l">
              <a:lnSpc>
                <a:spcPct val="100000"/>
              </a:lnSpc>
              <a:spcBef>
                <a:spcPts val="0"/>
              </a:spcBef>
              <a:spcAft>
                <a:spcPts val="400"/>
              </a:spcAft>
            </a:pPr>
            <a:r>
              <a:rPr sz="2300" b="1" i="0" dirty="0">
                <a:solidFill>
                  <a:srgbClr val="014700"/>
                </a:solidFill>
                <a:latin typeface="Times New Roman"/>
              </a:rPr>
              <a:t>5.2%</a:t>
            </a:r>
          </a:p>
          <a:p>
            <a:pPr algn="l">
              <a:lnSpc>
                <a:spcPct val="105000"/>
              </a:lnSpc>
              <a:spcBef>
                <a:spcPts val="0"/>
              </a:spcBef>
              <a:spcAft>
                <a:spcPts val="0"/>
              </a:spcAft>
            </a:pPr>
            <a:r>
              <a:rPr sz="1200" b="1" i="0" dirty="0">
                <a:solidFill>
                  <a:srgbClr val="1C1C1C"/>
                </a:solidFill>
                <a:latin typeface="Arial"/>
              </a:rPr>
              <a:t>FALSE POSITIVE</a:t>
            </a:r>
          </a:p>
          <a:p>
            <a:pPr algn="l">
              <a:lnSpc>
                <a:spcPct val="105000"/>
              </a:lnSpc>
              <a:spcBef>
                <a:spcPts val="0"/>
              </a:spcBef>
              <a:spcAft>
                <a:spcPts val="0"/>
              </a:spcAft>
            </a:pPr>
            <a:r>
              <a:rPr sz="1200" b="0" i="0" dirty="0">
                <a:solidFill>
                  <a:srgbClr val="5B5B5B"/>
                </a:solidFill>
                <a:latin typeface="Arial"/>
              </a:rPr>
              <a:t>RATE</a:t>
            </a:r>
          </a:p>
        </p:txBody>
      </p:sp>
      <p:sp>
        <p:nvSpPr>
          <p:cNvPr id="13" name="Rounded Rectangle 12"/>
          <p:cNvSpPr/>
          <p:nvPr/>
        </p:nvSpPr>
        <p:spPr>
          <a:xfrm>
            <a:off x="8903969" y="1965960"/>
            <a:ext cx="2388870" cy="1234440"/>
          </a:xfrm>
          <a:prstGeom prst="roundRect">
            <a:avLst>
              <a:gd name="adj" fmla="val 5000"/>
            </a:avLst>
          </a:prstGeom>
          <a:solidFill>
            <a:srgbClr val="FFFFFF"/>
          </a:solidFill>
          <a:ln w="9525">
            <a:solidFill>
              <a:srgbClr val="C3DBC9"/>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4" name="TextBox 13"/>
          <p:cNvSpPr txBox="1"/>
          <p:nvPr/>
        </p:nvSpPr>
        <p:spPr>
          <a:xfrm>
            <a:off x="9031986" y="2084831"/>
            <a:ext cx="2132837" cy="779637"/>
          </a:xfrm>
          <a:prstGeom prst="rect">
            <a:avLst/>
          </a:prstGeom>
          <a:noFill/>
        </p:spPr>
        <p:txBody>
          <a:bodyPr wrap="square" lIns="0" tIns="0" rIns="0" bIns="0" anchor="t">
            <a:spAutoFit/>
          </a:bodyPr>
          <a:lstStyle/>
          <a:p>
            <a:pPr algn="l">
              <a:lnSpc>
                <a:spcPct val="100000"/>
              </a:lnSpc>
              <a:spcBef>
                <a:spcPts val="0"/>
              </a:spcBef>
              <a:spcAft>
                <a:spcPts val="400"/>
              </a:spcAft>
            </a:pPr>
            <a:r>
              <a:rPr sz="2300" b="1" i="0" dirty="0">
                <a:solidFill>
                  <a:srgbClr val="014700"/>
                </a:solidFill>
                <a:latin typeface="Times New Roman"/>
              </a:rPr>
              <a:t>−0.5155</a:t>
            </a:r>
          </a:p>
          <a:p>
            <a:pPr algn="l">
              <a:lnSpc>
                <a:spcPct val="105000"/>
              </a:lnSpc>
              <a:spcBef>
                <a:spcPts val="0"/>
              </a:spcBef>
              <a:spcAft>
                <a:spcPts val="0"/>
              </a:spcAft>
            </a:pPr>
            <a:r>
              <a:rPr sz="1200" b="1" i="0" dirty="0">
                <a:solidFill>
                  <a:srgbClr val="1C1C1C"/>
                </a:solidFill>
                <a:latin typeface="Arial"/>
              </a:rPr>
              <a:t>AUTO-TUNED</a:t>
            </a:r>
          </a:p>
          <a:p>
            <a:pPr algn="l">
              <a:lnSpc>
                <a:spcPct val="105000"/>
              </a:lnSpc>
              <a:spcBef>
                <a:spcPts val="0"/>
              </a:spcBef>
              <a:spcAft>
                <a:spcPts val="0"/>
              </a:spcAft>
            </a:pPr>
            <a:r>
              <a:rPr sz="1200" b="0" i="0" dirty="0">
                <a:solidFill>
                  <a:srgbClr val="5B5B5B"/>
                </a:solidFill>
                <a:latin typeface="Arial"/>
              </a:rPr>
              <a:t>THRESHOLD</a:t>
            </a:r>
          </a:p>
        </p:txBody>
      </p:sp>
      <p:sp>
        <p:nvSpPr>
          <p:cNvPr id="15" name="TextBox 14"/>
          <p:cNvSpPr txBox="1"/>
          <p:nvPr/>
        </p:nvSpPr>
        <p:spPr>
          <a:xfrm>
            <a:off x="914400" y="3401568"/>
            <a:ext cx="10378440" cy="1402885"/>
          </a:xfrm>
          <a:prstGeom prst="rect">
            <a:avLst/>
          </a:prstGeom>
          <a:noFill/>
        </p:spPr>
        <p:txBody>
          <a:bodyPr wrap="square" lIns="0" tIns="0" rIns="0" bIns="0" anchor="t">
            <a:spAutoFit/>
          </a:bodyPr>
          <a:lstStyle/>
          <a:p>
            <a:pPr algn="l">
              <a:lnSpc>
                <a:spcPct val="110000"/>
              </a:lnSpc>
              <a:spcBef>
                <a:spcPts val="0"/>
              </a:spcBef>
              <a:spcAft>
                <a:spcPts val="600"/>
              </a:spcAft>
            </a:pPr>
            <a:r>
              <a:rPr sz="1600" b="1" i="0" dirty="0">
                <a:solidFill>
                  <a:srgbClr val="014700"/>
                </a:solidFill>
                <a:latin typeface="Times New Roman"/>
              </a:rPr>
              <a:t>On the contamination parameter — be direct.</a:t>
            </a:r>
          </a:p>
          <a:p>
            <a:pPr algn="l">
              <a:lnSpc>
                <a:spcPct val="116000"/>
              </a:lnSpc>
              <a:spcBef>
                <a:spcPts val="0"/>
              </a:spcBef>
              <a:spcAft>
                <a:spcPts val="600"/>
              </a:spcAft>
            </a:pPr>
            <a:r>
              <a:rPr sz="1400" b="0" i="0" dirty="0">
                <a:solidFill>
                  <a:srgbClr val="1C1C1C"/>
                </a:solidFill>
                <a:latin typeface="Arial"/>
              </a:rPr>
              <a:t>Contamination = 5% sets the percentile at which the threshold is auto-tuned from the model's own training scores. 5% was a design choice, not a value derived from engine physics — and an observed FPR of 5.2% falling out of a 5% setting is close to circular.</a:t>
            </a:r>
          </a:p>
          <a:p>
            <a:pPr algn="l">
              <a:lnSpc>
                <a:spcPct val="116000"/>
              </a:lnSpc>
              <a:spcBef>
                <a:spcPts val="0"/>
              </a:spcBef>
              <a:spcAft>
                <a:spcPts val="600"/>
              </a:spcAft>
            </a:pPr>
            <a:r>
              <a:rPr sz="1400" b="0" i="0" dirty="0">
                <a:solidFill>
                  <a:srgbClr val="1C1C1C"/>
                </a:solidFill>
                <a:latin typeface="Arial"/>
              </a:rPr>
              <a:t>What we defend is the mechanism: auto-tuning from the contamination percentile proved more robust than hardcoding a value, and it meant the BLE model received a threshold suited to its own score distribution rather than inheriting the AI4I model's.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731520"/>
            <a:ext cx="1037844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B7A3E"/>
                </a:solidFill>
                <a:latin typeface="Arial"/>
              </a:rPr>
              <a:t>// THE HONEST SLIDE</a:t>
            </a:r>
          </a:p>
        </p:txBody>
      </p:sp>
      <p:sp>
        <p:nvSpPr>
          <p:cNvPr id="3" name="TextBox 2"/>
          <p:cNvSpPr txBox="1"/>
          <p:nvPr/>
        </p:nvSpPr>
        <p:spPr>
          <a:xfrm>
            <a:off x="914400" y="1005840"/>
            <a:ext cx="10378440" cy="713232"/>
          </a:xfrm>
          <a:prstGeom prst="rect">
            <a:avLst/>
          </a:prstGeom>
          <a:noFill/>
        </p:spPr>
        <p:txBody>
          <a:bodyPr wrap="square" lIns="0" tIns="0" rIns="0" bIns="0" anchor="t">
            <a:spAutoFit/>
          </a:bodyPr>
          <a:lstStyle/>
          <a:p>
            <a:pPr algn="l">
              <a:lnSpc>
                <a:spcPct val="95000"/>
              </a:lnSpc>
              <a:spcBef>
                <a:spcPts val="0"/>
              </a:spcBef>
              <a:spcAft>
                <a:spcPts val="0"/>
              </a:spcAft>
            </a:pPr>
            <a:r>
              <a:rPr sz="2700" b="1" i="0">
                <a:solidFill>
                  <a:srgbClr val="014700"/>
                </a:solidFill>
                <a:latin typeface="Times New Roman"/>
              </a:rPr>
              <a:t>Why one number says 100% and another says 25%</a:t>
            </a:r>
          </a:p>
        </p:txBody>
      </p:sp>
      <p:sp>
        <p:nvSpPr>
          <p:cNvPr id="4" name="Rectangle 3"/>
          <p:cNvSpPr/>
          <p:nvPr/>
        </p:nvSpPr>
        <p:spPr>
          <a:xfrm>
            <a:off x="914400" y="1755648"/>
            <a:ext cx="10378440" cy="18288"/>
          </a:xfrm>
          <a:prstGeom prst="rect">
            <a:avLst/>
          </a:prstGeom>
          <a:solidFill>
            <a:srgbClr val="014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897880"/>
            <a:ext cx="5486400" cy="256032"/>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5B5B5B"/>
                </a:solidFill>
                <a:latin typeface="Arial"/>
              </a:rPr>
              <a:t>EngineIQ  ·  Group 11  ·  Department of Computer Science, KNUST</a:t>
            </a:r>
          </a:p>
        </p:txBody>
      </p:sp>
      <p:sp>
        <p:nvSpPr>
          <p:cNvPr id="6" name="TextBox 5"/>
          <p:cNvSpPr txBox="1"/>
          <p:nvPr/>
        </p:nvSpPr>
        <p:spPr>
          <a:xfrm>
            <a:off x="10378440" y="5897880"/>
            <a:ext cx="914400" cy="256032"/>
          </a:xfrm>
          <a:prstGeom prst="rect">
            <a:avLst/>
          </a:prstGeom>
          <a:noFill/>
        </p:spPr>
        <p:txBody>
          <a:bodyPr wrap="square" lIns="0" tIns="0" rIns="0" bIns="0" anchor="t">
            <a:spAutoFit/>
          </a:bodyPr>
          <a:lstStyle/>
          <a:p>
            <a:pPr algn="r">
              <a:lnSpc>
                <a:spcPct val="100000"/>
              </a:lnSpc>
              <a:spcBef>
                <a:spcPts val="0"/>
              </a:spcBef>
              <a:spcAft>
                <a:spcPts val="0"/>
              </a:spcAft>
            </a:pPr>
            <a:r>
              <a:rPr sz="850" b="1" i="0">
                <a:solidFill>
                  <a:srgbClr val="1B7A3E"/>
                </a:solidFill>
                <a:latin typeface="Arial"/>
              </a:rPr>
              <a:t>11</a:t>
            </a:r>
          </a:p>
        </p:txBody>
      </p:sp>
      <p:sp>
        <p:nvSpPr>
          <p:cNvPr id="7" name="Rounded Rectangle 6"/>
          <p:cNvSpPr/>
          <p:nvPr/>
        </p:nvSpPr>
        <p:spPr>
          <a:xfrm>
            <a:off x="914400" y="2011680"/>
            <a:ext cx="4846320" cy="1325880"/>
          </a:xfrm>
          <a:prstGeom prst="roundRect">
            <a:avLst>
              <a:gd name="adj" fmla="val 5000"/>
            </a:avLst>
          </a:prstGeom>
          <a:solidFill>
            <a:srgbClr val="FFFFFF"/>
          </a:solidFill>
          <a:ln w="15875">
            <a:solidFill>
              <a:srgbClr val="014700"/>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8" name="TextBox 7"/>
          <p:cNvSpPr txBox="1"/>
          <p:nvPr/>
        </p:nvSpPr>
        <p:spPr>
          <a:xfrm>
            <a:off x="1152144" y="2176272"/>
            <a:ext cx="4370831" cy="772840"/>
          </a:xfrm>
          <a:prstGeom prst="rect">
            <a:avLst/>
          </a:prstGeom>
          <a:noFill/>
        </p:spPr>
        <p:txBody>
          <a:bodyPr wrap="square" lIns="0" tIns="0" rIns="0" bIns="0" anchor="t">
            <a:spAutoFit/>
          </a:bodyPr>
          <a:lstStyle/>
          <a:p>
            <a:pPr algn="l">
              <a:lnSpc>
                <a:spcPct val="100000"/>
              </a:lnSpc>
              <a:spcBef>
                <a:spcPts val="0"/>
              </a:spcBef>
              <a:spcAft>
                <a:spcPts val="600"/>
              </a:spcAft>
            </a:pPr>
            <a:r>
              <a:rPr sz="1900" b="1" i="0" dirty="0">
                <a:solidFill>
                  <a:srgbClr val="014700"/>
                </a:solidFill>
                <a:latin typeface="Times New Roman"/>
              </a:rPr>
              <a:t>100%  RECALL</a:t>
            </a:r>
          </a:p>
          <a:p>
            <a:pPr algn="l">
              <a:lnSpc>
                <a:spcPct val="114000"/>
              </a:lnSpc>
              <a:spcBef>
                <a:spcPts val="0"/>
              </a:spcBef>
              <a:spcAft>
                <a:spcPts val="0"/>
              </a:spcAft>
            </a:pPr>
            <a:r>
              <a:rPr sz="1200" b="0" i="0" dirty="0">
                <a:solidFill>
                  <a:srgbClr val="1C1C1C"/>
                </a:solidFill>
                <a:latin typeface="Arial"/>
              </a:rPr>
              <a:t>Section 4.4.1 — a clean, purpose-built split.
This measures THE DETECTOR.</a:t>
            </a:r>
          </a:p>
        </p:txBody>
      </p:sp>
      <p:sp>
        <p:nvSpPr>
          <p:cNvPr id="9" name="Rounded Rectangle 8"/>
          <p:cNvSpPr/>
          <p:nvPr/>
        </p:nvSpPr>
        <p:spPr>
          <a:xfrm>
            <a:off x="6446520" y="2011680"/>
            <a:ext cx="4846320" cy="1325880"/>
          </a:xfrm>
          <a:prstGeom prst="roundRect">
            <a:avLst>
              <a:gd name="adj" fmla="val 5000"/>
            </a:avLst>
          </a:prstGeom>
          <a:solidFill>
            <a:srgbClr val="FFFFFF"/>
          </a:solidFill>
          <a:ln w="15875">
            <a:solidFill>
              <a:srgbClr val="A6501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10" name="TextBox 9"/>
          <p:cNvSpPr txBox="1"/>
          <p:nvPr/>
        </p:nvSpPr>
        <p:spPr>
          <a:xfrm>
            <a:off x="6684264" y="2176272"/>
            <a:ext cx="4370831" cy="1005840"/>
          </a:xfrm>
          <a:prstGeom prst="rect">
            <a:avLst/>
          </a:prstGeom>
          <a:noFill/>
        </p:spPr>
        <p:txBody>
          <a:bodyPr wrap="square" lIns="0" tIns="0" rIns="0" bIns="0" anchor="t">
            <a:spAutoFit/>
          </a:bodyPr>
          <a:lstStyle/>
          <a:p>
            <a:pPr algn="l">
              <a:lnSpc>
                <a:spcPct val="100000"/>
              </a:lnSpc>
              <a:spcBef>
                <a:spcPts val="0"/>
              </a:spcBef>
              <a:spcAft>
                <a:spcPts val="600"/>
              </a:spcAft>
            </a:pPr>
            <a:r>
              <a:rPr sz="1900" b="1" i="0" dirty="0">
                <a:solidFill>
                  <a:srgbClr val="A6501B"/>
                </a:solidFill>
                <a:latin typeface="Times New Roman"/>
              </a:rPr>
              <a:t>25%  RECALL</a:t>
            </a:r>
          </a:p>
          <a:p>
            <a:pPr algn="l">
              <a:lnSpc>
                <a:spcPct val="114000"/>
              </a:lnSpc>
              <a:spcBef>
                <a:spcPts val="0"/>
              </a:spcBef>
              <a:spcAft>
                <a:spcPts val="0"/>
              </a:spcAft>
            </a:pPr>
            <a:r>
              <a:rPr sz="1200" b="0" i="0" dirty="0">
                <a:solidFill>
                  <a:srgbClr val="1C1C1C"/>
                </a:solidFill>
                <a:latin typeface="Arial"/>
              </a:rPr>
              <a:t>Section 4.4.3 — the cumulative run.
This measures THE DATASET'S UNSUITABILITY FOR WINDOWING.</a:t>
            </a:r>
          </a:p>
        </p:txBody>
      </p:sp>
      <p:sp>
        <p:nvSpPr>
          <p:cNvPr id="11" name="TextBox 10"/>
          <p:cNvSpPr txBox="1"/>
          <p:nvPr/>
        </p:nvSpPr>
        <p:spPr>
          <a:xfrm>
            <a:off x="914400" y="3566160"/>
            <a:ext cx="10378440" cy="1686680"/>
          </a:xfrm>
          <a:prstGeom prst="rect">
            <a:avLst/>
          </a:prstGeom>
          <a:noFill/>
        </p:spPr>
        <p:txBody>
          <a:bodyPr wrap="square" lIns="0" tIns="0" rIns="0" bIns="0" anchor="t">
            <a:spAutoFit/>
          </a:bodyPr>
          <a:lstStyle/>
          <a:p>
            <a:pPr algn="l">
              <a:lnSpc>
                <a:spcPct val="110000"/>
              </a:lnSpc>
              <a:spcBef>
                <a:spcPts val="0"/>
              </a:spcBef>
              <a:spcAft>
                <a:spcPts val="600"/>
              </a:spcAft>
            </a:pPr>
            <a:r>
              <a:rPr b="1" i="0" dirty="0">
                <a:solidFill>
                  <a:srgbClr val="014700"/>
                </a:solidFill>
                <a:latin typeface="Times New Roman"/>
              </a:rPr>
              <a:t>The two numbers measure different things.</a:t>
            </a:r>
          </a:p>
          <a:p>
            <a:pPr algn="l">
              <a:lnSpc>
                <a:spcPct val="116000"/>
              </a:lnSpc>
              <a:spcBef>
                <a:spcPts val="0"/>
              </a:spcBef>
              <a:spcAft>
                <a:spcPts val="600"/>
              </a:spcAft>
            </a:pPr>
            <a:r>
              <a:rPr sz="1400" b="0" i="0" dirty="0">
                <a:solidFill>
                  <a:srgbClr val="1C1C1C"/>
                </a:solidFill>
                <a:latin typeface="Arial"/>
              </a:rPr>
              <a:t>AI4I 2020 rows are independent tabular samples, not a true time series. A 50-sample window built from a shuffled simulation stream mixes fault rows and normal rows together, diluting the fault signature the feature extractor depends on. This does not affect the live BLE path, where consecutive samples are genuine, temporally-ordered data.</a:t>
            </a:r>
          </a:p>
          <a:p>
            <a:pPr algn="l">
              <a:lnSpc>
                <a:spcPct val="116000"/>
              </a:lnSpc>
              <a:spcBef>
                <a:spcPts val="0"/>
              </a:spcBef>
              <a:spcAft>
                <a:spcPts val="600"/>
              </a:spcAft>
            </a:pPr>
            <a:r>
              <a:rPr sz="1400" b="0" i="0" dirty="0">
                <a:solidFill>
                  <a:srgbClr val="1C1C1C"/>
                </a:solidFill>
                <a:latin typeface="Arial"/>
              </a:rPr>
              <a:t>We reported both numbers rather than selecting the flattering one. Detection metrics for this class of system are highly sensitive to how test windows are constructed — we consider that a finding in its own right</a:t>
            </a:r>
            <a:r>
              <a:rPr sz="1050" b="0" i="0" dirty="0">
                <a:solidFill>
                  <a:srgbClr val="1C1C1C"/>
                </a:solidFill>
                <a:latin typeface="Arial"/>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731520"/>
            <a:ext cx="1037844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B7A3E"/>
                </a:solidFill>
                <a:latin typeface="Arial"/>
              </a:rPr>
              <a:t>// VALIDATION STATUS</a:t>
            </a:r>
          </a:p>
        </p:txBody>
      </p:sp>
      <p:sp>
        <p:nvSpPr>
          <p:cNvPr id="3" name="TextBox 2"/>
          <p:cNvSpPr txBox="1"/>
          <p:nvPr/>
        </p:nvSpPr>
        <p:spPr>
          <a:xfrm>
            <a:off x="914400" y="1005840"/>
            <a:ext cx="10378440" cy="713232"/>
          </a:xfrm>
          <a:prstGeom prst="rect">
            <a:avLst/>
          </a:prstGeom>
          <a:noFill/>
        </p:spPr>
        <p:txBody>
          <a:bodyPr wrap="square" lIns="0" tIns="0" rIns="0" bIns="0" anchor="t">
            <a:spAutoFit/>
          </a:bodyPr>
          <a:lstStyle/>
          <a:p>
            <a:pPr algn="l">
              <a:lnSpc>
                <a:spcPct val="95000"/>
              </a:lnSpc>
              <a:spcBef>
                <a:spcPts val="0"/>
              </a:spcBef>
              <a:spcAft>
                <a:spcPts val="0"/>
              </a:spcAft>
            </a:pPr>
            <a:r>
              <a:rPr sz="2700" b="1" i="0">
                <a:solidFill>
                  <a:srgbClr val="014700"/>
                </a:solidFill>
                <a:latin typeface="Times New Roman"/>
              </a:rPr>
              <a:t>Did we test on a real running engine?  No.</a:t>
            </a:r>
          </a:p>
        </p:txBody>
      </p:sp>
      <p:sp>
        <p:nvSpPr>
          <p:cNvPr id="4" name="Rectangle 3"/>
          <p:cNvSpPr/>
          <p:nvPr/>
        </p:nvSpPr>
        <p:spPr>
          <a:xfrm>
            <a:off x="914400" y="1755648"/>
            <a:ext cx="10378440" cy="18288"/>
          </a:xfrm>
          <a:prstGeom prst="rect">
            <a:avLst/>
          </a:prstGeom>
          <a:solidFill>
            <a:srgbClr val="014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897880"/>
            <a:ext cx="5486400" cy="256032"/>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5B5B5B"/>
                </a:solidFill>
                <a:latin typeface="Arial"/>
              </a:rPr>
              <a:t>EngineIQ  ·  Group 11  ·  Department of Computer Science, KNUST</a:t>
            </a:r>
          </a:p>
        </p:txBody>
      </p:sp>
      <p:sp>
        <p:nvSpPr>
          <p:cNvPr id="6" name="TextBox 5"/>
          <p:cNvSpPr txBox="1"/>
          <p:nvPr/>
        </p:nvSpPr>
        <p:spPr>
          <a:xfrm>
            <a:off x="10378440" y="5897880"/>
            <a:ext cx="914400" cy="256032"/>
          </a:xfrm>
          <a:prstGeom prst="rect">
            <a:avLst/>
          </a:prstGeom>
          <a:noFill/>
        </p:spPr>
        <p:txBody>
          <a:bodyPr wrap="square" lIns="0" tIns="0" rIns="0" bIns="0" anchor="t">
            <a:spAutoFit/>
          </a:bodyPr>
          <a:lstStyle/>
          <a:p>
            <a:pPr algn="r">
              <a:lnSpc>
                <a:spcPct val="100000"/>
              </a:lnSpc>
              <a:spcBef>
                <a:spcPts val="0"/>
              </a:spcBef>
              <a:spcAft>
                <a:spcPts val="0"/>
              </a:spcAft>
            </a:pPr>
            <a:r>
              <a:rPr sz="850" b="1" i="0">
                <a:solidFill>
                  <a:srgbClr val="1B7A3E"/>
                </a:solidFill>
                <a:latin typeface="Arial"/>
              </a:rPr>
              <a:t>12</a:t>
            </a:r>
          </a:p>
        </p:txBody>
      </p:sp>
      <p:sp>
        <p:nvSpPr>
          <p:cNvPr id="7" name="Rectangle 6"/>
          <p:cNvSpPr/>
          <p:nvPr/>
        </p:nvSpPr>
        <p:spPr>
          <a:xfrm>
            <a:off x="914400" y="2075688"/>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2144" y="2011680"/>
            <a:ext cx="10140696" cy="540533"/>
          </a:xfrm>
          <a:prstGeom prst="rect">
            <a:avLst/>
          </a:prstGeom>
          <a:noFill/>
        </p:spPr>
        <p:txBody>
          <a:bodyPr wrap="square" lIns="0" tIns="0" rIns="0" bIns="0" anchor="t">
            <a:spAutoFit/>
          </a:bodyPr>
          <a:lstStyle/>
          <a:p>
            <a:pPr algn="l">
              <a:lnSpc>
                <a:spcPct val="100000"/>
              </a:lnSpc>
              <a:spcBef>
                <a:spcPts val="0"/>
              </a:spcBef>
              <a:spcAft>
                <a:spcPts val="300"/>
              </a:spcAft>
            </a:pPr>
            <a:r>
              <a:rPr b="1" i="0" dirty="0">
                <a:solidFill>
                  <a:srgbClr val="014700"/>
                </a:solidFill>
                <a:latin typeface="Times New Roman"/>
              </a:rPr>
              <a:t>The BLE baseline was collected from the prototype at rest on a bench</a:t>
            </a:r>
          </a:p>
          <a:p>
            <a:pPr algn="l">
              <a:lnSpc>
                <a:spcPct val="114000"/>
              </a:lnSpc>
              <a:spcBef>
                <a:spcPts val="0"/>
              </a:spcBef>
              <a:spcAft>
                <a:spcPts val="0"/>
              </a:spcAft>
            </a:pPr>
            <a:r>
              <a:rPr sz="1400" b="0" i="0" dirty="0">
                <a:solidFill>
                  <a:srgbClr val="1C1C1C"/>
                </a:solidFill>
                <a:latin typeface="Arial"/>
              </a:rPr>
              <a:t>7,579 raw readings over 2.5 minutes, producing 302 feature windows.</a:t>
            </a:r>
          </a:p>
        </p:txBody>
      </p:sp>
      <p:sp>
        <p:nvSpPr>
          <p:cNvPr id="9" name="Rectangle 8"/>
          <p:cNvSpPr/>
          <p:nvPr/>
        </p:nvSpPr>
        <p:spPr>
          <a:xfrm>
            <a:off x="914400" y="3017520"/>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2144" y="2953512"/>
            <a:ext cx="10140696" cy="540533"/>
          </a:xfrm>
          <a:prstGeom prst="rect">
            <a:avLst/>
          </a:prstGeom>
          <a:noFill/>
        </p:spPr>
        <p:txBody>
          <a:bodyPr wrap="square" lIns="0" tIns="0" rIns="0" bIns="0" anchor="t">
            <a:spAutoFit/>
          </a:bodyPr>
          <a:lstStyle/>
          <a:p>
            <a:pPr algn="l">
              <a:lnSpc>
                <a:spcPct val="100000"/>
              </a:lnSpc>
              <a:spcBef>
                <a:spcPts val="0"/>
              </a:spcBef>
              <a:spcAft>
                <a:spcPts val="300"/>
              </a:spcAft>
            </a:pPr>
            <a:r>
              <a:rPr b="1" i="0" dirty="0">
                <a:solidFill>
                  <a:srgbClr val="014700"/>
                </a:solidFill>
                <a:latin typeface="Times New Roman"/>
              </a:rPr>
              <a:t>Every one of those windows returned an identical score of −0.5000</a:t>
            </a:r>
          </a:p>
          <a:p>
            <a:pPr algn="l">
              <a:lnSpc>
                <a:spcPct val="114000"/>
              </a:lnSpc>
              <a:spcBef>
                <a:spcPts val="0"/>
              </a:spcBef>
              <a:spcAft>
                <a:spcPts val="0"/>
              </a:spcAft>
            </a:pPr>
            <a:r>
              <a:rPr sz="1400" b="0" i="0" dirty="0">
                <a:solidFill>
                  <a:srgbClr val="1C1C1C"/>
                </a:solidFill>
                <a:latin typeface="Arial"/>
              </a:rPr>
              <a:t>A saturated distribution — the signal had no meaningful variance to learn from.</a:t>
            </a:r>
          </a:p>
        </p:txBody>
      </p:sp>
      <p:sp>
        <p:nvSpPr>
          <p:cNvPr id="11" name="Rectangle 10"/>
          <p:cNvSpPr/>
          <p:nvPr/>
        </p:nvSpPr>
        <p:spPr>
          <a:xfrm>
            <a:off x="914400" y="3959352"/>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52144" y="3895344"/>
            <a:ext cx="10140696" cy="540533"/>
          </a:xfrm>
          <a:prstGeom prst="rect">
            <a:avLst/>
          </a:prstGeom>
          <a:noFill/>
        </p:spPr>
        <p:txBody>
          <a:bodyPr wrap="square" lIns="0" tIns="0" rIns="0" bIns="0" anchor="t">
            <a:spAutoFit/>
          </a:bodyPr>
          <a:lstStyle/>
          <a:p>
            <a:pPr algn="l">
              <a:lnSpc>
                <a:spcPct val="100000"/>
              </a:lnSpc>
              <a:spcBef>
                <a:spcPts val="0"/>
              </a:spcBef>
              <a:spcAft>
                <a:spcPts val="300"/>
              </a:spcAft>
            </a:pPr>
            <a:r>
              <a:rPr b="1" i="0" dirty="0">
                <a:solidFill>
                  <a:srgbClr val="014700"/>
                </a:solidFill>
                <a:latin typeface="Times New Roman"/>
              </a:rPr>
              <a:t>So the BLE path is a validated pipeline, not yet a validated detector</a:t>
            </a:r>
          </a:p>
          <a:p>
            <a:pPr algn="l">
              <a:lnSpc>
                <a:spcPct val="114000"/>
              </a:lnSpc>
              <a:spcBef>
                <a:spcPts val="0"/>
              </a:spcBef>
              <a:spcAft>
                <a:spcPts val="0"/>
              </a:spcAft>
            </a:pPr>
            <a:r>
              <a:rPr sz="1400" b="0" i="0" dirty="0">
                <a:solidFill>
                  <a:srgbClr val="1C1C1C"/>
                </a:solidFill>
                <a:latin typeface="Arial"/>
              </a:rPr>
              <a:t>Stated explicitly in Section 4.4.2 and carried into our recommendations.</a:t>
            </a:r>
          </a:p>
        </p:txBody>
      </p:sp>
      <p:sp>
        <p:nvSpPr>
          <p:cNvPr id="13" name="Rectangle 12"/>
          <p:cNvSpPr/>
          <p:nvPr/>
        </p:nvSpPr>
        <p:spPr>
          <a:xfrm>
            <a:off x="914400" y="4901184"/>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52144" y="4837176"/>
            <a:ext cx="10140696" cy="786113"/>
          </a:xfrm>
          <a:prstGeom prst="rect">
            <a:avLst/>
          </a:prstGeom>
          <a:noFill/>
        </p:spPr>
        <p:txBody>
          <a:bodyPr wrap="square" lIns="0" tIns="0" rIns="0" bIns="0" anchor="t">
            <a:spAutoFit/>
          </a:bodyPr>
          <a:lstStyle/>
          <a:p>
            <a:pPr algn="l">
              <a:lnSpc>
                <a:spcPct val="100000"/>
              </a:lnSpc>
              <a:spcBef>
                <a:spcPts val="0"/>
              </a:spcBef>
              <a:spcAft>
                <a:spcPts val="300"/>
              </a:spcAft>
            </a:pPr>
            <a:r>
              <a:rPr b="1" i="0" dirty="0">
                <a:solidFill>
                  <a:srgbClr val="014700"/>
                </a:solidFill>
                <a:latin typeface="Times New Roman"/>
              </a:rPr>
              <a:t>The baseline must be re-collected from a running mechanical source</a:t>
            </a:r>
          </a:p>
          <a:p>
            <a:pPr algn="l">
              <a:lnSpc>
                <a:spcPct val="114000"/>
              </a:lnSpc>
              <a:spcBef>
                <a:spcPts val="0"/>
              </a:spcBef>
              <a:spcAft>
                <a:spcPts val="0"/>
              </a:spcAft>
            </a:pPr>
            <a:r>
              <a:rPr sz="1400" b="0" i="0" dirty="0">
                <a:solidFill>
                  <a:srgbClr val="1C1C1C"/>
                </a:solidFill>
                <a:latin typeface="Arial"/>
              </a:rPr>
              <a:t>An actual engine, or a substitute such as a small motor or fan with an induced imbalance fault, before the live path matches the AI4I standard</a:t>
            </a:r>
            <a:r>
              <a:rPr sz="1050" b="0" i="0" dirty="0">
                <a:solidFill>
                  <a:srgbClr val="1C1C1C"/>
                </a:solidFill>
                <a:latin typeface="Arial"/>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731520"/>
            <a:ext cx="1037844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B7A3E"/>
                </a:solidFill>
                <a:latin typeface="Arial"/>
              </a:rPr>
              <a:t>// THE SYSTEM</a:t>
            </a:r>
          </a:p>
        </p:txBody>
      </p:sp>
      <p:sp>
        <p:nvSpPr>
          <p:cNvPr id="3" name="TextBox 2"/>
          <p:cNvSpPr txBox="1"/>
          <p:nvPr/>
        </p:nvSpPr>
        <p:spPr>
          <a:xfrm>
            <a:off x="914400" y="1005840"/>
            <a:ext cx="10378440" cy="713232"/>
          </a:xfrm>
          <a:prstGeom prst="rect">
            <a:avLst/>
          </a:prstGeom>
          <a:noFill/>
        </p:spPr>
        <p:txBody>
          <a:bodyPr wrap="square" lIns="0" tIns="0" rIns="0" bIns="0" anchor="t">
            <a:spAutoFit/>
          </a:bodyPr>
          <a:lstStyle/>
          <a:p>
            <a:pPr algn="l">
              <a:lnSpc>
                <a:spcPct val="95000"/>
              </a:lnSpc>
              <a:spcBef>
                <a:spcPts val="0"/>
              </a:spcBef>
              <a:spcAft>
                <a:spcPts val="0"/>
              </a:spcAft>
            </a:pPr>
            <a:r>
              <a:rPr sz="2700" b="1" i="0">
                <a:solidFill>
                  <a:srgbClr val="014700"/>
                </a:solidFill>
                <a:latin typeface="Times New Roman"/>
              </a:rPr>
              <a:t>What a driver actually uses</a:t>
            </a:r>
          </a:p>
        </p:txBody>
      </p:sp>
      <p:sp>
        <p:nvSpPr>
          <p:cNvPr id="4" name="Rectangle 3"/>
          <p:cNvSpPr/>
          <p:nvPr/>
        </p:nvSpPr>
        <p:spPr>
          <a:xfrm>
            <a:off x="914400" y="1755648"/>
            <a:ext cx="10378440" cy="18288"/>
          </a:xfrm>
          <a:prstGeom prst="rect">
            <a:avLst/>
          </a:prstGeom>
          <a:solidFill>
            <a:srgbClr val="014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897880"/>
            <a:ext cx="5486400" cy="256032"/>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5B5B5B"/>
                </a:solidFill>
                <a:latin typeface="Arial"/>
              </a:rPr>
              <a:t>EngineIQ  ·  Group 11  ·  Department of Computer Science, KNUST</a:t>
            </a:r>
          </a:p>
        </p:txBody>
      </p:sp>
      <p:sp>
        <p:nvSpPr>
          <p:cNvPr id="6" name="TextBox 5"/>
          <p:cNvSpPr txBox="1"/>
          <p:nvPr/>
        </p:nvSpPr>
        <p:spPr>
          <a:xfrm>
            <a:off x="10378440" y="5897880"/>
            <a:ext cx="914400" cy="256032"/>
          </a:xfrm>
          <a:prstGeom prst="rect">
            <a:avLst/>
          </a:prstGeom>
          <a:noFill/>
        </p:spPr>
        <p:txBody>
          <a:bodyPr wrap="square" lIns="0" tIns="0" rIns="0" bIns="0" anchor="t">
            <a:spAutoFit/>
          </a:bodyPr>
          <a:lstStyle/>
          <a:p>
            <a:pPr algn="r">
              <a:lnSpc>
                <a:spcPct val="100000"/>
              </a:lnSpc>
              <a:spcBef>
                <a:spcPts val="0"/>
              </a:spcBef>
              <a:spcAft>
                <a:spcPts val="0"/>
              </a:spcAft>
            </a:pPr>
            <a:r>
              <a:rPr sz="850" b="1" i="0">
                <a:solidFill>
                  <a:srgbClr val="1B7A3E"/>
                </a:solidFill>
                <a:latin typeface="Arial"/>
              </a:rPr>
              <a:t>13</a:t>
            </a:r>
          </a:p>
        </p:txBody>
      </p:sp>
      <p:sp>
        <p:nvSpPr>
          <p:cNvPr id="7" name="Rectangle 6"/>
          <p:cNvSpPr/>
          <p:nvPr/>
        </p:nvSpPr>
        <p:spPr>
          <a:xfrm>
            <a:off x="914400" y="2075688"/>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2144" y="2011680"/>
            <a:ext cx="5294376" cy="786113"/>
          </a:xfrm>
          <a:prstGeom prst="rect">
            <a:avLst/>
          </a:prstGeom>
          <a:noFill/>
        </p:spPr>
        <p:txBody>
          <a:bodyPr wrap="square" lIns="0" tIns="0" rIns="0" bIns="0" anchor="t">
            <a:spAutoFit/>
          </a:bodyPr>
          <a:lstStyle/>
          <a:p>
            <a:pPr algn="l">
              <a:lnSpc>
                <a:spcPct val="100000"/>
              </a:lnSpc>
              <a:spcBef>
                <a:spcPts val="0"/>
              </a:spcBef>
              <a:spcAft>
                <a:spcPts val="300"/>
              </a:spcAft>
            </a:pPr>
            <a:r>
              <a:rPr b="1" i="0" dirty="0">
                <a:solidFill>
                  <a:srgbClr val="014700"/>
                </a:solidFill>
                <a:latin typeface="Times New Roman"/>
              </a:rPr>
              <a:t>Secure authentication</a:t>
            </a:r>
          </a:p>
          <a:p>
            <a:pPr algn="l">
              <a:lnSpc>
                <a:spcPct val="114000"/>
              </a:lnSpc>
              <a:spcBef>
                <a:spcPts val="0"/>
              </a:spcBef>
              <a:spcAft>
                <a:spcPts val="0"/>
              </a:spcAft>
            </a:pPr>
            <a:r>
              <a:rPr sz="1400" b="0" i="0" dirty="0">
                <a:solidFill>
                  <a:srgbClr val="1C1C1C"/>
                </a:solidFill>
                <a:latin typeface="Arial"/>
              </a:rPr>
              <a:t>Email confirmation, password recovery, Supabase Auth with row-level security on every read</a:t>
            </a:r>
            <a:r>
              <a:rPr sz="1050" b="0" i="0" dirty="0">
                <a:solidFill>
                  <a:srgbClr val="1C1C1C"/>
                </a:solidFill>
                <a:latin typeface="Arial"/>
              </a:rPr>
              <a:t>.</a:t>
            </a:r>
          </a:p>
        </p:txBody>
      </p:sp>
      <p:sp>
        <p:nvSpPr>
          <p:cNvPr id="9" name="Rectangle 8"/>
          <p:cNvSpPr/>
          <p:nvPr/>
        </p:nvSpPr>
        <p:spPr>
          <a:xfrm>
            <a:off x="914400" y="3017520"/>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2144" y="2953512"/>
            <a:ext cx="5294376" cy="786113"/>
          </a:xfrm>
          <a:prstGeom prst="rect">
            <a:avLst/>
          </a:prstGeom>
          <a:noFill/>
        </p:spPr>
        <p:txBody>
          <a:bodyPr wrap="square" lIns="0" tIns="0" rIns="0" bIns="0" anchor="t">
            <a:spAutoFit/>
          </a:bodyPr>
          <a:lstStyle/>
          <a:p>
            <a:pPr algn="l">
              <a:lnSpc>
                <a:spcPct val="100000"/>
              </a:lnSpc>
              <a:spcBef>
                <a:spcPts val="0"/>
              </a:spcBef>
              <a:spcAft>
                <a:spcPts val="300"/>
              </a:spcAft>
            </a:pPr>
            <a:r>
              <a:rPr b="1" i="0" dirty="0">
                <a:solidFill>
                  <a:srgbClr val="014700"/>
                </a:solidFill>
                <a:latin typeface="Times New Roman"/>
              </a:rPr>
              <a:t>Live engine monitor</a:t>
            </a:r>
          </a:p>
          <a:p>
            <a:pPr algn="l">
              <a:lnSpc>
                <a:spcPct val="114000"/>
              </a:lnSpc>
              <a:spcBef>
                <a:spcPts val="0"/>
              </a:spcBef>
              <a:spcAft>
                <a:spcPts val="0"/>
              </a:spcAft>
            </a:pPr>
            <a:r>
              <a:rPr sz="1400" b="0" i="0" dirty="0">
                <a:solidFill>
                  <a:srgbClr val="1C1C1C"/>
                </a:solidFill>
                <a:latin typeface="Arial"/>
              </a:rPr>
              <a:t>Real-time anomaly score, vibration chart across X/Y/Z, temperature, and a running window count.</a:t>
            </a:r>
          </a:p>
        </p:txBody>
      </p:sp>
      <p:sp>
        <p:nvSpPr>
          <p:cNvPr id="11" name="Rectangle 10"/>
          <p:cNvSpPr/>
          <p:nvPr/>
        </p:nvSpPr>
        <p:spPr>
          <a:xfrm>
            <a:off x="914400" y="3959352"/>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52144" y="3895344"/>
            <a:ext cx="5294376" cy="786113"/>
          </a:xfrm>
          <a:prstGeom prst="rect">
            <a:avLst/>
          </a:prstGeom>
          <a:noFill/>
        </p:spPr>
        <p:txBody>
          <a:bodyPr wrap="square" lIns="0" tIns="0" rIns="0" bIns="0" anchor="t">
            <a:spAutoFit/>
          </a:bodyPr>
          <a:lstStyle/>
          <a:p>
            <a:pPr algn="l">
              <a:lnSpc>
                <a:spcPct val="100000"/>
              </a:lnSpc>
              <a:spcBef>
                <a:spcPts val="0"/>
              </a:spcBef>
              <a:spcAft>
                <a:spcPts val="300"/>
              </a:spcAft>
            </a:pPr>
            <a:r>
              <a:rPr b="1" i="0" dirty="0">
                <a:solidFill>
                  <a:srgbClr val="014700"/>
                </a:solidFill>
                <a:latin typeface="Times New Roman"/>
              </a:rPr>
              <a:t>Anomaly log and severity</a:t>
            </a:r>
          </a:p>
          <a:p>
            <a:pPr algn="l">
              <a:lnSpc>
                <a:spcPct val="114000"/>
              </a:lnSpc>
              <a:spcBef>
                <a:spcPts val="0"/>
              </a:spcBef>
              <a:spcAft>
                <a:spcPts val="0"/>
              </a:spcAft>
            </a:pPr>
            <a:r>
              <a:rPr sz="1400" b="0" i="0" dirty="0">
                <a:solidFill>
                  <a:srgbClr val="1C1C1C"/>
                </a:solidFill>
                <a:latin typeface="Arial"/>
              </a:rPr>
              <a:t>Recent events with timestamp, score and severity class — normal, low, medium, high</a:t>
            </a:r>
            <a:r>
              <a:rPr sz="1050" b="0" i="0" dirty="0">
                <a:solidFill>
                  <a:srgbClr val="1C1C1C"/>
                </a:solidFill>
                <a:latin typeface="Arial"/>
              </a:rPr>
              <a:t>.</a:t>
            </a:r>
          </a:p>
        </p:txBody>
      </p:sp>
      <p:sp>
        <p:nvSpPr>
          <p:cNvPr id="13" name="Rectangle 12"/>
          <p:cNvSpPr/>
          <p:nvPr/>
        </p:nvSpPr>
        <p:spPr>
          <a:xfrm>
            <a:off x="914400" y="4901184"/>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52144" y="4837176"/>
            <a:ext cx="5294376" cy="786113"/>
          </a:xfrm>
          <a:prstGeom prst="rect">
            <a:avLst/>
          </a:prstGeom>
          <a:noFill/>
        </p:spPr>
        <p:txBody>
          <a:bodyPr wrap="square" lIns="0" tIns="0" rIns="0" bIns="0" anchor="t">
            <a:spAutoFit/>
          </a:bodyPr>
          <a:lstStyle/>
          <a:p>
            <a:pPr algn="l">
              <a:lnSpc>
                <a:spcPct val="100000"/>
              </a:lnSpc>
              <a:spcBef>
                <a:spcPts val="0"/>
              </a:spcBef>
              <a:spcAft>
                <a:spcPts val="300"/>
              </a:spcAft>
            </a:pPr>
            <a:r>
              <a:rPr b="1" i="0" dirty="0">
                <a:solidFill>
                  <a:srgbClr val="014700"/>
                </a:solidFill>
                <a:latin typeface="Times New Roman"/>
              </a:rPr>
              <a:t>Download engine history</a:t>
            </a:r>
          </a:p>
          <a:p>
            <a:pPr algn="l">
              <a:lnSpc>
                <a:spcPct val="114000"/>
              </a:lnSpc>
              <a:spcBef>
                <a:spcPts val="0"/>
              </a:spcBef>
              <a:spcAft>
                <a:spcPts val="0"/>
              </a:spcAft>
            </a:pPr>
            <a:r>
              <a:rPr sz="1400" b="0" i="0" dirty="0">
                <a:solidFill>
                  <a:srgbClr val="1C1C1C"/>
                </a:solidFill>
                <a:latin typeface="Arial"/>
              </a:rPr>
              <a:t>Export any date range to CSV to hand to a mechanic or keep as a service record</a:t>
            </a:r>
            <a:r>
              <a:rPr sz="1050" b="0" i="0" dirty="0">
                <a:solidFill>
                  <a:srgbClr val="1C1C1C"/>
                </a:solidFill>
                <a:latin typeface="Arial"/>
              </a:rPr>
              <a:t>.</a:t>
            </a:r>
          </a:p>
        </p:txBody>
      </p:sp>
      <p:pic>
        <p:nvPicPr>
          <p:cNvPr id="15" name="Picture 14" descr="image1.jpg"/>
          <p:cNvPicPr>
            <a:picLocks noChangeAspect="1"/>
          </p:cNvPicPr>
          <p:nvPr/>
        </p:nvPicPr>
        <p:blipFill>
          <a:blip r:embed="rId2"/>
          <a:stretch>
            <a:fillRect/>
          </a:stretch>
        </p:blipFill>
        <p:spPr>
          <a:xfrm>
            <a:off x="6903720" y="2148840"/>
            <a:ext cx="4389120" cy="1947672"/>
          </a:xfrm>
          <a:prstGeom prst="rect">
            <a:avLst/>
          </a:prstGeom>
          <a:ln w="9525">
            <a:solidFill>
              <a:srgbClr val="C3DBC9"/>
            </a:solidFill>
          </a:ln>
        </p:spPr>
      </p:pic>
      <p:sp>
        <p:nvSpPr>
          <p:cNvPr id="16" name="TextBox 15"/>
          <p:cNvSpPr txBox="1"/>
          <p:nvPr/>
        </p:nvSpPr>
        <p:spPr>
          <a:xfrm>
            <a:off x="6903720" y="4206240"/>
            <a:ext cx="4389120" cy="274320"/>
          </a:xfrm>
          <a:prstGeom prst="rect">
            <a:avLst/>
          </a:prstGeom>
          <a:noFill/>
        </p:spPr>
        <p:txBody>
          <a:bodyPr wrap="square" lIns="0" tIns="0" rIns="0" bIns="0" anchor="t">
            <a:spAutoFit/>
          </a:bodyPr>
          <a:lstStyle/>
          <a:p>
            <a:pPr algn="ctr">
              <a:lnSpc>
                <a:spcPct val="100000"/>
              </a:lnSpc>
              <a:spcBef>
                <a:spcPts val="0"/>
              </a:spcBef>
              <a:spcAft>
                <a:spcPts val="0"/>
              </a:spcAft>
            </a:pPr>
            <a:r>
              <a:rPr sz="900" b="0" i="1">
                <a:solidFill>
                  <a:srgbClr val="5B5B5B"/>
                </a:solidFill>
                <a:latin typeface="Arial"/>
              </a:rPr>
              <a:t>Live monitor — deployed on GitHub Pages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17720" y="2468880"/>
            <a:ext cx="6812280" cy="292608"/>
          </a:xfrm>
          <a:prstGeom prst="rect">
            <a:avLst/>
          </a:prstGeom>
          <a:noFill/>
        </p:spPr>
        <p:txBody>
          <a:bodyPr wrap="square" lIns="0" tIns="0" rIns="0" bIns="0" anchor="t">
            <a:spAutoFit/>
          </a:bodyPr>
          <a:lstStyle/>
          <a:p>
            <a:pPr algn="l">
              <a:lnSpc>
                <a:spcPct val="100000"/>
              </a:lnSpc>
              <a:spcBef>
                <a:spcPts val="0"/>
              </a:spcBef>
              <a:spcAft>
                <a:spcPts val="0"/>
              </a:spcAft>
            </a:pPr>
            <a:r>
              <a:rPr sz="1200" b="1" i="0">
                <a:solidFill>
                  <a:srgbClr val="1B7A3E"/>
                </a:solidFill>
                <a:latin typeface="Arial"/>
              </a:rPr>
              <a:t>// LIVE DEMONSTRATION</a:t>
            </a:r>
          </a:p>
        </p:txBody>
      </p:sp>
      <p:sp>
        <p:nvSpPr>
          <p:cNvPr id="3" name="TextBox 2"/>
          <p:cNvSpPr txBox="1"/>
          <p:nvPr/>
        </p:nvSpPr>
        <p:spPr>
          <a:xfrm>
            <a:off x="4617720" y="2834640"/>
            <a:ext cx="6812280" cy="1005840"/>
          </a:xfrm>
          <a:prstGeom prst="rect">
            <a:avLst/>
          </a:prstGeom>
          <a:noFill/>
        </p:spPr>
        <p:txBody>
          <a:bodyPr wrap="square" lIns="0" tIns="0" rIns="0" bIns="0" anchor="t">
            <a:spAutoFit/>
          </a:bodyPr>
          <a:lstStyle/>
          <a:p>
            <a:pPr algn="l">
              <a:lnSpc>
                <a:spcPct val="100000"/>
              </a:lnSpc>
              <a:spcBef>
                <a:spcPts val="0"/>
              </a:spcBef>
              <a:spcAft>
                <a:spcPts val="0"/>
              </a:spcAft>
            </a:pPr>
            <a:r>
              <a:rPr sz="5000" b="1" i="0">
                <a:solidFill>
                  <a:srgbClr val="014700"/>
                </a:solidFill>
                <a:latin typeface="Times New Roman"/>
              </a:rPr>
              <a:t>Demo</a:t>
            </a:r>
          </a:p>
        </p:txBody>
      </p:sp>
      <p:sp>
        <p:nvSpPr>
          <p:cNvPr id="4" name="Rectangle 3"/>
          <p:cNvSpPr/>
          <p:nvPr/>
        </p:nvSpPr>
        <p:spPr>
          <a:xfrm>
            <a:off x="4617720" y="3840480"/>
            <a:ext cx="2011680" cy="18288"/>
          </a:xfrm>
          <a:prstGeom prst="rect">
            <a:avLst/>
          </a:prstGeom>
          <a:solidFill>
            <a:srgbClr val="014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617720" y="4114800"/>
            <a:ext cx="6812280" cy="731520"/>
          </a:xfrm>
          <a:prstGeom prst="rect">
            <a:avLst/>
          </a:prstGeom>
          <a:noFill/>
        </p:spPr>
        <p:txBody>
          <a:bodyPr wrap="square" lIns="0" tIns="0" rIns="0" bIns="0" anchor="t">
            <a:spAutoFit/>
          </a:bodyPr>
          <a:lstStyle/>
          <a:p>
            <a:pPr algn="l">
              <a:lnSpc>
                <a:spcPct val="120000"/>
              </a:lnSpc>
              <a:spcBef>
                <a:spcPts val="0"/>
              </a:spcBef>
              <a:spcAft>
                <a:spcPts val="0"/>
              </a:spcAft>
            </a:pPr>
            <a:r>
              <a:rPr sz="1300" b="0" i="0">
                <a:solidFill>
                  <a:srgbClr val="1C1C1C"/>
                </a:solidFill>
                <a:latin typeface="Arial"/>
              </a:rPr>
              <a:t>Sign in with the pre-made account  ·  live monitor  ·  anomaly log  ·  CSV export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731520"/>
            <a:ext cx="1037844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B7A3E"/>
                </a:solidFill>
                <a:latin typeface="Arial"/>
              </a:rPr>
              <a:t>// LIMITATIONS</a:t>
            </a:r>
          </a:p>
        </p:txBody>
      </p:sp>
      <p:sp>
        <p:nvSpPr>
          <p:cNvPr id="3" name="TextBox 2"/>
          <p:cNvSpPr txBox="1"/>
          <p:nvPr/>
        </p:nvSpPr>
        <p:spPr>
          <a:xfrm>
            <a:off x="914400" y="1005840"/>
            <a:ext cx="10378440" cy="713232"/>
          </a:xfrm>
          <a:prstGeom prst="rect">
            <a:avLst/>
          </a:prstGeom>
          <a:noFill/>
        </p:spPr>
        <p:txBody>
          <a:bodyPr wrap="square" lIns="0" tIns="0" rIns="0" bIns="0" anchor="t">
            <a:spAutoFit/>
          </a:bodyPr>
          <a:lstStyle/>
          <a:p>
            <a:pPr algn="l">
              <a:lnSpc>
                <a:spcPct val="95000"/>
              </a:lnSpc>
              <a:spcBef>
                <a:spcPts val="0"/>
              </a:spcBef>
              <a:spcAft>
                <a:spcPts val="0"/>
              </a:spcAft>
            </a:pPr>
            <a:r>
              <a:rPr sz="2700" b="1" i="0">
                <a:solidFill>
                  <a:srgbClr val="014700"/>
                </a:solidFill>
                <a:latin typeface="Times New Roman"/>
              </a:rPr>
              <a:t>What this system does not yet do</a:t>
            </a:r>
          </a:p>
        </p:txBody>
      </p:sp>
      <p:sp>
        <p:nvSpPr>
          <p:cNvPr id="4" name="Rectangle 3"/>
          <p:cNvSpPr/>
          <p:nvPr/>
        </p:nvSpPr>
        <p:spPr>
          <a:xfrm>
            <a:off x="914400" y="1755648"/>
            <a:ext cx="10378440" cy="18288"/>
          </a:xfrm>
          <a:prstGeom prst="rect">
            <a:avLst/>
          </a:prstGeom>
          <a:solidFill>
            <a:srgbClr val="014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897880"/>
            <a:ext cx="5486400" cy="256032"/>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5B5B5B"/>
                </a:solidFill>
                <a:latin typeface="Arial"/>
              </a:rPr>
              <a:t>EngineIQ  ·  Group 11  ·  Department of Computer Science, KNUST</a:t>
            </a:r>
          </a:p>
        </p:txBody>
      </p:sp>
      <p:sp>
        <p:nvSpPr>
          <p:cNvPr id="6" name="TextBox 5"/>
          <p:cNvSpPr txBox="1"/>
          <p:nvPr/>
        </p:nvSpPr>
        <p:spPr>
          <a:xfrm>
            <a:off x="10378440" y="5897880"/>
            <a:ext cx="914400" cy="256032"/>
          </a:xfrm>
          <a:prstGeom prst="rect">
            <a:avLst/>
          </a:prstGeom>
          <a:noFill/>
        </p:spPr>
        <p:txBody>
          <a:bodyPr wrap="square" lIns="0" tIns="0" rIns="0" bIns="0" anchor="t">
            <a:spAutoFit/>
          </a:bodyPr>
          <a:lstStyle/>
          <a:p>
            <a:pPr algn="r">
              <a:lnSpc>
                <a:spcPct val="100000"/>
              </a:lnSpc>
              <a:spcBef>
                <a:spcPts val="0"/>
              </a:spcBef>
              <a:spcAft>
                <a:spcPts val="0"/>
              </a:spcAft>
            </a:pPr>
            <a:r>
              <a:rPr sz="850" b="1" i="0">
                <a:solidFill>
                  <a:srgbClr val="1B7A3E"/>
                </a:solidFill>
                <a:latin typeface="Arial"/>
              </a:rPr>
              <a:t>15</a:t>
            </a:r>
          </a:p>
        </p:txBody>
      </p:sp>
      <p:sp>
        <p:nvSpPr>
          <p:cNvPr id="7" name="Rectangle 6"/>
          <p:cNvSpPr/>
          <p:nvPr/>
        </p:nvSpPr>
        <p:spPr>
          <a:xfrm>
            <a:off x="914400" y="2020824"/>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2144" y="1956816"/>
            <a:ext cx="10140696" cy="509755"/>
          </a:xfrm>
          <a:prstGeom prst="rect">
            <a:avLst/>
          </a:prstGeom>
          <a:noFill/>
        </p:spPr>
        <p:txBody>
          <a:bodyPr wrap="square" lIns="0" tIns="0" rIns="0" bIns="0" anchor="t">
            <a:spAutoFit/>
          </a:bodyPr>
          <a:lstStyle/>
          <a:p>
            <a:pPr algn="l">
              <a:lnSpc>
                <a:spcPct val="100000"/>
              </a:lnSpc>
              <a:spcBef>
                <a:spcPts val="0"/>
              </a:spcBef>
              <a:spcAft>
                <a:spcPts val="300"/>
              </a:spcAft>
            </a:pPr>
            <a:r>
              <a:rPr sz="1600" b="1" i="0" dirty="0">
                <a:solidFill>
                  <a:srgbClr val="014700"/>
                </a:solidFill>
                <a:latin typeface="Times New Roman"/>
              </a:rPr>
              <a:t>The live detector is not validated on a running engine</a:t>
            </a:r>
          </a:p>
          <a:p>
            <a:pPr algn="l">
              <a:lnSpc>
                <a:spcPct val="114000"/>
              </a:lnSpc>
              <a:spcBef>
                <a:spcPts val="0"/>
              </a:spcBef>
              <a:spcAft>
                <a:spcPts val="0"/>
              </a:spcAft>
            </a:pPr>
            <a:r>
              <a:rPr sz="1400" b="0" i="0" dirty="0">
                <a:solidFill>
                  <a:srgbClr val="1C1C1C"/>
                </a:solidFill>
                <a:latin typeface="Arial"/>
              </a:rPr>
              <a:t>Bench-rest baseline only — a validated pipeline, not a validated detector.</a:t>
            </a:r>
          </a:p>
        </p:txBody>
      </p:sp>
      <p:sp>
        <p:nvSpPr>
          <p:cNvPr id="9" name="Rectangle 8"/>
          <p:cNvSpPr/>
          <p:nvPr/>
        </p:nvSpPr>
        <p:spPr>
          <a:xfrm>
            <a:off x="914400" y="2788920"/>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2144" y="2724912"/>
            <a:ext cx="10140696" cy="755335"/>
          </a:xfrm>
          <a:prstGeom prst="rect">
            <a:avLst/>
          </a:prstGeom>
          <a:noFill/>
        </p:spPr>
        <p:txBody>
          <a:bodyPr wrap="square" lIns="0" tIns="0" rIns="0" bIns="0" anchor="t">
            <a:spAutoFit/>
          </a:bodyPr>
          <a:lstStyle/>
          <a:p>
            <a:pPr algn="l">
              <a:lnSpc>
                <a:spcPct val="100000"/>
              </a:lnSpc>
              <a:spcBef>
                <a:spcPts val="0"/>
              </a:spcBef>
              <a:spcAft>
                <a:spcPts val="300"/>
              </a:spcAft>
            </a:pPr>
            <a:r>
              <a:rPr sz="1600" b="1" i="0" dirty="0">
                <a:solidFill>
                  <a:srgbClr val="014700"/>
                </a:solidFill>
                <a:latin typeface="Times New Roman"/>
              </a:rPr>
              <a:t>Fault-class precision is 0.38</a:t>
            </a:r>
          </a:p>
          <a:p>
            <a:pPr algn="l">
              <a:lnSpc>
                <a:spcPct val="114000"/>
              </a:lnSpc>
              <a:spcBef>
                <a:spcPts val="0"/>
              </a:spcBef>
              <a:spcAft>
                <a:spcPts val="0"/>
              </a:spcAft>
            </a:pPr>
            <a:r>
              <a:rPr sz="1400" b="0" i="0" dirty="0">
                <a:solidFill>
                  <a:srgbClr val="1C1C1C"/>
                </a:solidFill>
                <a:latin typeface="Arial"/>
              </a:rPr>
              <a:t>12 fault windows against 385 normal ones; precision collapses under that imbalance by construction. Recall is the operative metric for early warning</a:t>
            </a:r>
            <a:r>
              <a:rPr sz="1000" b="0" i="0" dirty="0">
                <a:solidFill>
                  <a:srgbClr val="1C1C1C"/>
                </a:solidFill>
                <a:latin typeface="Arial"/>
              </a:rPr>
              <a:t>.</a:t>
            </a:r>
          </a:p>
        </p:txBody>
      </p:sp>
      <p:sp>
        <p:nvSpPr>
          <p:cNvPr id="11" name="Rectangle 10"/>
          <p:cNvSpPr/>
          <p:nvPr/>
        </p:nvSpPr>
        <p:spPr>
          <a:xfrm>
            <a:off x="914400" y="3557016"/>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52144" y="3493008"/>
            <a:ext cx="10140696" cy="509755"/>
          </a:xfrm>
          <a:prstGeom prst="rect">
            <a:avLst/>
          </a:prstGeom>
          <a:noFill/>
        </p:spPr>
        <p:txBody>
          <a:bodyPr wrap="square" lIns="0" tIns="0" rIns="0" bIns="0" anchor="t">
            <a:spAutoFit/>
          </a:bodyPr>
          <a:lstStyle/>
          <a:p>
            <a:pPr algn="l">
              <a:lnSpc>
                <a:spcPct val="100000"/>
              </a:lnSpc>
              <a:spcBef>
                <a:spcPts val="0"/>
              </a:spcBef>
              <a:spcAft>
                <a:spcPts val="300"/>
              </a:spcAft>
            </a:pPr>
            <a:r>
              <a:rPr sz="1600" b="1" i="0" dirty="0">
                <a:solidFill>
                  <a:srgbClr val="014700"/>
                </a:solidFill>
                <a:latin typeface="Times New Roman"/>
              </a:rPr>
              <a:t>BLE range is roughly 10 </a:t>
            </a:r>
            <a:r>
              <a:rPr sz="1600" b="1" i="0" dirty="0" err="1">
                <a:solidFill>
                  <a:srgbClr val="014700"/>
                </a:solidFill>
                <a:latin typeface="Times New Roman"/>
              </a:rPr>
              <a:t>metres</a:t>
            </a:r>
            <a:r>
              <a:rPr sz="1600" b="1" i="0" dirty="0">
                <a:solidFill>
                  <a:srgbClr val="014700"/>
                </a:solidFill>
                <a:latin typeface="Times New Roman"/>
              </a:rPr>
              <a:t>, one central device at a time</a:t>
            </a:r>
          </a:p>
          <a:p>
            <a:pPr algn="l">
              <a:lnSpc>
                <a:spcPct val="114000"/>
              </a:lnSpc>
              <a:spcBef>
                <a:spcPts val="0"/>
              </a:spcBef>
              <a:spcAft>
                <a:spcPts val="0"/>
              </a:spcAft>
            </a:pPr>
            <a:r>
              <a:rPr sz="1400" b="0" i="0" dirty="0">
                <a:solidFill>
                  <a:srgbClr val="1C1C1C"/>
                </a:solidFill>
                <a:latin typeface="Arial"/>
              </a:rPr>
              <a:t>Inherited from the BLE standard, not from our implementation</a:t>
            </a:r>
            <a:r>
              <a:rPr sz="1000" b="0" i="0" dirty="0">
                <a:solidFill>
                  <a:srgbClr val="1C1C1C"/>
                </a:solidFill>
                <a:latin typeface="Arial"/>
              </a:rPr>
              <a:t>.</a:t>
            </a:r>
          </a:p>
        </p:txBody>
      </p:sp>
      <p:sp>
        <p:nvSpPr>
          <p:cNvPr id="13" name="Rectangle 12"/>
          <p:cNvSpPr/>
          <p:nvPr/>
        </p:nvSpPr>
        <p:spPr>
          <a:xfrm>
            <a:off x="914400" y="4325112"/>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52144" y="4261104"/>
            <a:ext cx="10140696" cy="755335"/>
          </a:xfrm>
          <a:prstGeom prst="rect">
            <a:avLst/>
          </a:prstGeom>
          <a:noFill/>
        </p:spPr>
        <p:txBody>
          <a:bodyPr wrap="square" lIns="0" tIns="0" rIns="0" bIns="0" anchor="t">
            <a:spAutoFit/>
          </a:bodyPr>
          <a:lstStyle/>
          <a:p>
            <a:pPr algn="l">
              <a:lnSpc>
                <a:spcPct val="100000"/>
              </a:lnSpc>
              <a:spcBef>
                <a:spcPts val="0"/>
              </a:spcBef>
              <a:spcAft>
                <a:spcPts val="300"/>
              </a:spcAft>
            </a:pPr>
            <a:r>
              <a:rPr sz="1600" b="1" i="0" dirty="0">
                <a:solidFill>
                  <a:srgbClr val="014700"/>
                </a:solidFill>
                <a:latin typeface="Times New Roman"/>
              </a:rPr>
              <a:t>Pairing uses the Just Works model</a:t>
            </a:r>
          </a:p>
          <a:p>
            <a:pPr algn="l">
              <a:lnSpc>
                <a:spcPct val="114000"/>
              </a:lnSpc>
              <a:spcBef>
                <a:spcPts val="0"/>
              </a:spcBef>
              <a:spcAft>
                <a:spcPts val="0"/>
              </a:spcAft>
            </a:pPr>
            <a:r>
              <a:rPr sz="1400" b="0" i="0" dirty="0">
                <a:solidFill>
                  <a:srgbClr val="1C1C1C"/>
                </a:solidFill>
                <a:latin typeface="Arial"/>
              </a:rPr>
              <a:t>The node has no display or keypad. Protects against passive eavesdropping — not an active man-in-the-middle present at the moment of pairing.</a:t>
            </a:r>
          </a:p>
        </p:txBody>
      </p:sp>
      <p:sp>
        <p:nvSpPr>
          <p:cNvPr id="15" name="Rectangle 14"/>
          <p:cNvSpPr/>
          <p:nvPr/>
        </p:nvSpPr>
        <p:spPr>
          <a:xfrm>
            <a:off x="914400" y="5093208"/>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52144" y="5029200"/>
            <a:ext cx="10140696" cy="509755"/>
          </a:xfrm>
          <a:prstGeom prst="rect">
            <a:avLst/>
          </a:prstGeom>
          <a:noFill/>
        </p:spPr>
        <p:txBody>
          <a:bodyPr wrap="square" lIns="0" tIns="0" rIns="0" bIns="0" anchor="t">
            <a:spAutoFit/>
          </a:bodyPr>
          <a:lstStyle/>
          <a:p>
            <a:pPr algn="l">
              <a:lnSpc>
                <a:spcPct val="100000"/>
              </a:lnSpc>
              <a:spcBef>
                <a:spcPts val="0"/>
              </a:spcBef>
              <a:spcAft>
                <a:spcPts val="300"/>
              </a:spcAft>
            </a:pPr>
            <a:r>
              <a:rPr sz="1600" b="1" i="0" dirty="0">
                <a:solidFill>
                  <a:srgbClr val="014700"/>
                </a:solidFill>
                <a:latin typeface="Times New Roman"/>
              </a:rPr>
              <a:t>Simulation testing used shuffled tabular rows</a:t>
            </a:r>
          </a:p>
          <a:p>
            <a:pPr algn="l">
              <a:lnSpc>
                <a:spcPct val="114000"/>
              </a:lnSpc>
              <a:spcBef>
                <a:spcPts val="0"/>
              </a:spcBef>
              <a:spcAft>
                <a:spcPts val="0"/>
              </a:spcAft>
            </a:pPr>
            <a:r>
              <a:rPr sz="1400" b="0" i="0" dirty="0">
                <a:solidFill>
                  <a:srgbClr val="1C1C1C"/>
                </a:solidFill>
                <a:latin typeface="Arial"/>
              </a:rPr>
              <a:t>AI4I 2020 is not a true time series, which is what produced the 25% figure</a:t>
            </a:r>
            <a:r>
              <a:rPr sz="1000" b="0" i="0" dirty="0">
                <a:solidFill>
                  <a:srgbClr val="1C1C1C"/>
                </a:solidFill>
                <a:latin typeface="Arial"/>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731520"/>
            <a:ext cx="1037844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B7A3E"/>
                </a:solidFill>
                <a:latin typeface="Arial"/>
              </a:rPr>
              <a:t>// FUTURE WORK</a:t>
            </a:r>
          </a:p>
        </p:txBody>
      </p:sp>
      <p:sp>
        <p:nvSpPr>
          <p:cNvPr id="3" name="TextBox 2"/>
          <p:cNvSpPr txBox="1"/>
          <p:nvPr/>
        </p:nvSpPr>
        <p:spPr>
          <a:xfrm>
            <a:off x="914400" y="1005840"/>
            <a:ext cx="10378440" cy="713232"/>
          </a:xfrm>
          <a:prstGeom prst="rect">
            <a:avLst/>
          </a:prstGeom>
          <a:noFill/>
        </p:spPr>
        <p:txBody>
          <a:bodyPr wrap="square" lIns="0" tIns="0" rIns="0" bIns="0" anchor="t">
            <a:spAutoFit/>
          </a:bodyPr>
          <a:lstStyle/>
          <a:p>
            <a:pPr algn="l">
              <a:lnSpc>
                <a:spcPct val="95000"/>
              </a:lnSpc>
              <a:spcBef>
                <a:spcPts val="0"/>
              </a:spcBef>
              <a:spcAft>
                <a:spcPts val="0"/>
              </a:spcAft>
            </a:pPr>
            <a:r>
              <a:rPr sz="2700" b="1" i="0">
                <a:solidFill>
                  <a:srgbClr val="014700"/>
                </a:solidFill>
                <a:latin typeface="Times New Roman"/>
              </a:rPr>
              <a:t>Where this goes next</a:t>
            </a:r>
          </a:p>
        </p:txBody>
      </p:sp>
      <p:sp>
        <p:nvSpPr>
          <p:cNvPr id="4" name="Rectangle 3"/>
          <p:cNvSpPr/>
          <p:nvPr/>
        </p:nvSpPr>
        <p:spPr>
          <a:xfrm>
            <a:off x="914400" y="1755648"/>
            <a:ext cx="10378440" cy="18288"/>
          </a:xfrm>
          <a:prstGeom prst="rect">
            <a:avLst/>
          </a:prstGeom>
          <a:solidFill>
            <a:srgbClr val="014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897880"/>
            <a:ext cx="5486400" cy="256032"/>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5B5B5B"/>
                </a:solidFill>
                <a:latin typeface="Arial"/>
              </a:rPr>
              <a:t>EngineIQ  ·  Group 11  ·  Department of Computer Science, KNUST</a:t>
            </a:r>
          </a:p>
        </p:txBody>
      </p:sp>
      <p:sp>
        <p:nvSpPr>
          <p:cNvPr id="6" name="TextBox 5"/>
          <p:cNvSpPr txBox="1"/>
          <p:nvPr/>
        </p:nvSpPr>
        <p:spPr>
          <a:xfrm>
            <a:off x="10378440" y="5897880"/>
            <a:ext cx="914400" cy="256032"/>
          </a:xfrm>
          <a:prstGeom prst="rect">
            <a:avLst/>
          </a:prstGeom>
          <a:noFill/>
        </p:spPr>
        <p:txBody>
          <a:bodyPr wrap="square" lIns="0" tIns="0" rIns="0" bIns="0" anchor="t">
            <a:spAutoFit/>
          </a:bodyPr>
          <a:lstStyle/>
          <a:p>
            <a:pPr algn="r">
              <a:lnSpc>
                <a:spcPct val="100000"/>
              </a:lnSpc>
              <a:spcBef>
                <a:spcPts val="0"/>
              </a:spcBef>
              <a:spcAft>
                <a:spcPts val="0"/>
              </a:spcAft>
            </a:pPr>
            <a:r>
              <a:rPr sz="850" b="1" i="0">
                <a:solidFill>
                  <a:srgbClr val="1B7A3E"/>
                </a:solidFill>
                <a:latin typeface="Arial"/>
              </a:rPr>
              <a:t>16</a:t>
            </a:r>
          </a:p>
        </p:txBody>
      </p:sp>
      <p:sp>
        <p:nvSpPr>
          <p:cNvPr id="7" name="Rectangle 6"/>
          <p:cNvSpPr/>
          <p:nvPr/>
        </p:nvSpPr>
        <p:spPr>
          <a:xfrm>
            <a:off x="914400" y="2020824"/>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2144" y="1956816"/>
            <a:ext cx="10140696" cy="509755"/>
          </a:xfrm>
          <a:prstGeom prst="rect">
            <a:avLst/>
          </a:prstGeom>
          <a:noFill/>
        </p:spPr>
        <p:txBody>
          <a:bodyPr wrap="square" lIns="0" tIns="0" rIns="0" bIns="0" anchor="t">
            <a:spAutoFit/>
          </a:bodyPr>
          <a:lstStyle/>
          <a:p>
            <a:pPr algn="l">
              <a:lnSpc>
                <a:spcPct val="100000"/>
              </a:lnSpc>
              <a:spcBef>
                <a:spcPts val="0"/>
              </a:spcBef>
              <a:spcAft>
                <a:spcPts val="300"/>
              </a:spcAft>
            </a:pPr>
            <a:r>
              <a:rPr sz="1600" b="1" i="0" dirty="0">
                <a:solidFill>
                  <a:srgbClr val="014700"/>
                </a:solidFill>
                <a:latin typeface="Times New Roman"/>
              </a:rPr>
              <a:t>Re-collect the BLE baseline from a running mechanical source</a:t>
            </a:r>
          </a:p>
          <a:p>
            <a:pPr algn="l">
              <a:lnSpc>
                <a:spcPct val="114000"/>
              </a:lnSpc>
              <a:spcBef>
                <a:spcPts val="0"/>
              </a:spcBef>
              <a:spcAft>
                <a:spcPts val="0"/>
              </a:spcAft>
            </a:pPr>
            <a:r>
              <a:rPr sz="1400" b="0" i="0" dirty="0">
                <a:solidFill>
                  <a:srgbClr val="1C1C1C"/>
                </a:solidFill>
                <a:latin typeface="Arial"/>
              </a:rPr>
              <a:t>The single highest-priority item — it converts the pipeline into a detector.</a:t>
            </a:r>
          </a:p>
        </p:txBody>
      </p:sp>
      <p:sp>
        <p:nvSpPr>
          <p:cNvPr id="9" name="Rectangle 8"/>
          <p:cNvSpPr/>
          <p:nvPr/>
        </p:nvSpPr>
        <p:spPr>
          <a:xfrm>
            <a:off x="914400" y="2788920"/>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2144" y="2724912"/>
            <a:ext cx="10140696" cy="509755"/>
          </a:xfrm>
          <a:prstGeom prst="rect">
            <a:avLst/>
          </a:prstGeom>
          <a:noFill/>
        </p:spPr>
        <p:txBody>
          <a:bodyPr wrap="square" lIns="0" tIns="0" rIns="0" bIns="0" anchor="t">
            <a:spAutoFit/>
          </a:bodyPr>
          <a:lstStyle/>
          <a:p>
            <a:pPr algn="l">
              <a:lnSpc>
                <a:spcPct val="100000"/>
              </a:lnSpc>
              <a:spcBef>
                <a:spcPts val="0"/>
              </a:spcBef>
              <a:spcAft>
                <a:spcPts val="300"/>
              </a:spcAft>
            </a:pPr>
            <a:r>
              <a:rPr sz="1600" b="1" i="0" dirty="0">
                <a:solidFill>
                  <a:srgbClr val="014700"/>
                </a:solidFill>
                <a:latin typeface="Times New Roman"/>
              </a:rPr>
              <a:t>Build realistic fault time series for simulation testing</a:t>
            </a:r>
          </a:p>
          <a:p>
            <a:pPr algn="l">
              <a:lnSpc>
                <a:spcPct val="114000"/>
              </a:lnSpc>
              <a:spcBef>
                <a:spcPts val="0"/>
              </a:spcBef>
              <a:spcAft>
                <a:spcPts val="0"/>
              </a:spcAft>
            </a:pPr>
            <a:r>
              <a:rPr sz="1400" b="0" i="0" dirty="0">
                <a:solidFill>
                  <a:srgbClr val="1C1C1C"/>
                </a:solidFill>
                <a:latin typeface="Arial"/>
              </a:rPr>
              <a:t>Rather than shuffling independent AI4I rows</a:t>
            </a:r>
            <a:r>
              <a:rPr sz="1000" b="0" i="0" dirty="0">
                <a:solidFill>
                  <a:srgbClr val="1C1C1C"/>
                </a:solidFill>
                <a:latin typeface="Arial"/>
              </a:rPr>
              <a:t>.</a:t>
            </a:r>
          </a:p>
        </p:txBody>
      </p:sp>
      <p:sp>
        <p:nvSpPr>
          <p:cNvPr id="11" name="Rectangle 10"/>
          <p:cNvSpPr/>
          <p:nvPr/>
        </p:nvSpPr>
        <p:spPr>
          <a:xfrm>
            <a:off x="914400" y="3557016"/>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52144" y="3493008"/>
            <a:ext cx="10140696" cy="755335"/>
          </a:xfrm>
          <a:prstGeom prst="rect">
            <a:avLst/>
          </a:prstGeom>
          <a:noFill/>
        </p:spPr>
        <p:txBody>
          <a:bodyPr wrap="square" lIns="0" tIns="0" rIns="0" bIns="0" anchor="t">
            <a:spAutoFit/>
          </a:bodyPr>
          <a:lstStyle/>
          <a:p>
            <a:pPr algn="l">
              <a:lnSpc>
                <a:spcPct val="100000"/>
              </a:lnSpc>
              <a:spcBef>
                <a:spcPts val="0"/>
              </a:spcBef>
              <a:spcAft>
                <a:spcPts val="300"/>
              </a:spcAft>
            </a:pPr>
            <a:r>
              <a:rPr sz="1600" b="1" i="0" dirty="0">
                <a:solidFill>
                  <a:srgbClr val="014700"/>
                </a:solidFill>
                <a:latin typeface="Times New Roman"/>
              </a:rPr>
              <a:t>Add frequency-domain features</a:t>
            </a:r>
          </a:p>
          <a:p>
            <a:pPr algn="l">
              <a:lnSpc>
                <a:spcPct val="114000"/>
              </a:lnSpc>
              <a:spcBef>
                <a:spcPts val="0"/>
              </a:spcBef>
              <a:spcAft>
                <a:spcPts val="0"/>
              </a:spcAft>
            </a:pPr>
            <a:r>
              <a:rPr sz="1400" b="0" i="0" dirty="0">
                <a:solidFill>
                  <a:srgbClr val="1C1C1C"/>
                </a:solidFill>
                <a:latin typeface="Arial"/>
              </a:rPr>
              <a:t>FFT peak frequency and spectral energy, to complement the current time-domain statistics — better separability for faults that appear as frequency shifts rather than amplitude changes.</a:t>
            </a:r>
          </a:p>
        </p:txBody>
      </p:sp>
      <p:sp>
        <p:nvSpPr>
          <p:cNvPr id="13" name="Rectangle 12"/>
          <p:cNvSpPr/>
          <p:nvPr/>
        </p:nvSpPr>
        <p:spPr>
          <a:xfrm>
            <a:off x="914400" y="4325112"/>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52144" y="4261104"/>
            <a:ext cx="10140696" cy="509755"/>
          </a:xfrm>
          <a:prstGeom prst="rect">
            <a:avLst/>
          </a:prstGeom>
          <a:noFill/>
        </p:spPr>
        <p:txBody>
          <a:bodyPr wrap="square" lIns="0" tIns="0" rIns="0" bIns="0" anchor="t">
            <a:spAutoFit/>
          </a:bodyPr>
          <a:lstStyle/>
          <a:p>
            <a:pPr algn="l">
              <a:lnSpc>
                <a:spcPct val="100000"/>
              </a:lnSpc>
              <a:spcBef>
                <a:spcPts val="0"/>
              </a:spcBef>
              <a:spcAft>
                <a:spcPts val="300"/>
              </a:spcAft>
            </a:pPr>
            <a:r>
              <a:rPr sz="1600" b="1" i="0" dirty="0">
                <a:solidFill>
                  <a:srgbClr val="014700"/>
                </a:solidFill>
                <a:latin typeface="Times New Roman"/>
              </a:rPr>
              <a:t>BLE mesh or a BLE/Wi-Fi hybrid gateway</a:t>
            </a:r>
          </a:p>
          <a:p>
            <a:pPr algn="l">
              <a:lnSpc>
                <a:spcPct val="114000"/>
              </a:lnSpc>
              <a:spcBef>
                <a:spcPts val="0"/>
              </a:spcBef>
              <a:spcAft>
                <a:spcPts val="0"/>
              </a:spcAft>
            </a:pPr>
            <a:r>
              <a:rPr sz="1400" b="0" i="0" dirty="0">
                <a:solidFill>
                  <a:srgbClr val="1C1C1C"/>
                </a:solidFill>
                <a:latin typeface="Arial"/>
              </a:rPr>
              <a:t>Lifts the single-central-device constraint for fleet-scale deployment</a:t>
            </a:r>
            <a:r>
              <a:rPr sz="1000" b="0" i="0" dirty="0">
                <a:solidFill>
                  <a:srgbClr val="1C1C1C"/>
                </a:solidFill>
                <a:latin typeface="Arial"/>
              </a:rPr>
              <a:t>.</a:t>
            </a:r>
          </a:p>
        </p:txBody>
      </p:sp>
      <p:sp>
        <p:nvSpPr>
          <p:cNvPr id="15" name="Rectangle 14"/>
          <p:cNvSpPr/>
          <p:nvPr/>
        </p:nvSpPr>
        <p:spPr>
          <a:xfrm>
            <a:off x="914400" y="5093208"/>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52144" y="5029200"/>
            <a:ext cx="10140696" cy="509755"/>
          </a:xfrm>
          <a:prstGeom prst="rect">
            <a:avLst/>
          </a:prstGeom>
          <a:noFill/>
        </p:spPr>
        <p:txBody>
          <a:bodyPr wrap="square" lIns="0" tIns="0" rIns="0" bIns="0" anchor="t">
            <a:spAutoFit/>
          </a:bodyPr>
          <a:lstStyle/>
          <a:p>
            <a:pPr algn="l">
              <a:lnSpc>
                <a:spcPct val="100000"/>
              </a:lnSpc>
              <a:spcBef>
                <a:spcPts val="0"/>
              </a:spcBef>
              <a:spcAft>
                <a:spcPts val="300"/>
              </a:spcAft>
            </a:pPr>
            <a:r>
              <a:rPr sz="1600" b="1" i="0" dirty="0">
                <a:solidFill>
                  <a:srgbClr val="014700"/>
                </a:solidFill>
                <a:latin typeface="Times New Roman"/>
              </a:rPr>
              <a:t>Push and SMS notification</a:t>
            </a:r>
          </a:p>
          <a:p>
            <a:pPr algn="l">
              <a:lnSpc>
                <a:spcPct val="114000"/>
              </a:lnSpc>
              <a:spcBef>
                <a:spcPts val="0"/>
              </a:spcBef>
              <a:spcAft>
                <a:spcPts val="0"/>
              </a:spcAft>
            </a:pPr>
            <a:r>
              <a:rPr sz="1400" b="0" i="0" dirty="0">
                <a:solidFill>
                  <a:srgbClr val="1C1C1C"/>
                </a:solidFill>
                <a:latin typeface="Arial"/>
              </a:rPr>
              <a:t>So a driver is alerted without keeping the dashboard open</a:t>
            </a:r>
            <a:r>
              <a:rPr sz="1000" b="0" i="0" dirty="0">
                <a:solidFill>
                  <a:srgbClr val="1C1C1C"/>
                </a:solidFill>
                <a:latin typeface="Arial"/>
              </a:rPr>
              <a: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731520"/>
            <a:ext cx="1037844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1B7A3E"/>
                </a:solidFill>
                <a:latin typeface="Arial"/>
              </a:rPr>
              <a:t>// IN CLOSING</a:t>
            </a:r>
          </a:p>
        </p:txBody>
      </p:sp>
      <p:sp>
        <p:nvSpPr>
          <p:cNvPr id="3" name="TextBox 2"/>
          <p:cNvSpPr txBox="1"/>
          <p:nvPr/>
        </p:nvSpPr>
        <p:spPr>
          <a:xfrm>
            <a:off x="914400" y="1005840"/>
            <a:ext cx="10378440" cy="713232"/>
          </a:xfrm>
          <a:prstGeom prst="rect">
            <a:avLst/>
          </a:prstGeom>
          <a:noFill/>
        </p:spPr>
        <p:txBody>
          <a:bodyPr wrap="square" lIns="0" tIns="0" rIns="0" bIns="0" anchor="t">
            <a:spAutoFit/>
          </a:bodyPr>
          <a:lstStyle/>
          <a:p>
            <a:pPr algn="l">
              <a:lnSpc>
                <a:spcPct val="95000"/>
              </a:lnSpc>
              <a:spcBef>
                <a:spcPts val="0"/>
              </a:spcBef>
              <a:spcAft>
                <a:spcPts val="0"/>
              </a:spcAft>
            </a:pPr>
            <a:r>
              <a:rPr sz="2700" b="1" i="0">
                <a:solidFill>
                  <a:srgbClr val="014700"/>
                </a:solidFill>
                <a:latin typeface="Times New Roman"/>
              </a:rPr>
              <a:t>Prediction, at a price this market can reach.</a:t>
            </a:r>
          </a:p>
        </p:txBody>
      </p:sp>
      <p:sp>
        <p:nvSpPr>
          <p:cNvPr id="4" name="Rectangle 3"/>
          <p:cNvSpPr/>
          <p:nvPr/>
        </p:nvSpPr>
        <p:spPr>
          <a:xfrm>
            <a:off x="914400" y="1755648"/>
            <a:ext cx="10378440" cy="18288"/>
          </a:xfrm>
          <a:prstGeom prst="rect">
            <a:avLst/>
          </a:prstGeom>
          <a:solidFill>
            <a:srgbClr val="014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897880"/>
            <a:ext cx="5486400" cy="256032"/>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5B5B5B"/>
                </a:solidFill>
                <a:latin typeface="Arial"/>
              </a:rPr>
              <a:t>EngineIQ  ·  Group 11  ·  Department of Computer Science, KNUST</a:t>
            </a:r>
          </a:p>
        </p:txBody>
      </p:sp>
      <p:sp>
        <p:nvSpPr>
          <p:cNvPr id="6" name="TextBox 5"/>
          <p:cNvSpPr txBox="1"/>
          <p:nvPr/>
        </p:nvSpPr>
        <p:spPr>
          <a:xfrm>
            <a:off x="10378440" y="5897880"/>
            <a:ext cx="914400" cy="256032"/>
          </a:xfrm>
          <a:prstGeom prst="rect">
            <a:avLst/>
          </a:prstGeom>
          <a:noFill/>
        </p:spPr>
        <p:txBody>
          <a:bodyPr wrap="square" lIns="0" tIns="0" rIns="0" bIns="0" anchor="t">
            <a:spAutoFit/>
          </a:bodyPr>
          <a:lstStyle/>
          <a:p>
            <a:pPr algn="r">
              <a:lnSpc>
                <a:spcPct val="100000"/>
              </a:lnSpc>
              <a:spcBef>
                <a:spcPts val="0"/>
              </a:spcBef>
              <a:spcAft>
                <a:spcPts val="0"/>
              </a:spcAft>
            </a:pPr>
            <a:r>
              <a:rPr sz="850" b="1" i="0">
                <a:solidFill>
                  <a:srgbClr val="1B7A3E"/>
                </a:solidFill>
                <a:latin typeface="Arial"/>
              </a:rPr>
              <a:t>17</a:t>
            </a:r>
          </a:p>
        </p:txBody>
      </p:sp>
      <p:sp>
        <p:nvSpPr>
          <p:cNvPr id="7" name="TextBox 6"/>
          <p:cNvSpPr txBox="1"/>
          <p:nvPr/>
        </p:nvSpPr>
        <p:spPr>
          <a:xfrm>
            <a:off x="914400" y="2240280"/>
            <a:ext cx="10378440" cy="760273"/>
          </a:xfrm>
          <a:prstGeom prst="rect">
            <a:avLst/>
          </a:prstGeom>
          <a:noFill/>
        </p:spPr>
        <p:txBody>
          <a:bodyPr wrap="square" lIns="0" tIns="0" rIns="0" bIns="0" anchor="t">
            <a:spAutoFit/>
          </a:bodyPr>
          <a:lstStyle/>
          <a:p>
            <a:pPr algn="l">
              <a:lnSpc>
                <a:spcPct val="130000"/>
              </a:lnSpc>
              <a:spcBef>
                <a:spcPts val="0"/>
              </a:spcBef>
              <a:spcAft>
                <a:spcPts val="0"/>
              </a:spcAft>
            </a:pPr>
            <a:r>
              <a:rPr sz="2000" b="0" i="0" dirty="0">
                <a:solidFill>
                  <a:srgbClr val="1C1C1C"/>
                </a:solidFill>
                <a:latin typeface="Times New Roman"/>
              </a:rPr>
              <a:t>Under GHS 400 of open-source hardware, learning each engine's own normal signature — instead of a foreign-currency subscription that reports faults after they have already happened</a:t>
            </a:r>
            <a:r>
              <a:rPr sz="1400" b="0" i="0" dirty="0">
                <a:solidFill>
                  <a:srgbClr val="1C1C1C"/>
                </a:solidFill>
                <a:latin typeface="Times New Roman"/>
              </a:rPr>
              <a:t>.</a:t>
            </a:r>
          </a:p>
        </p:txBody>
      </p:sp>
      <p:sp>
        <p:nvSpPr>
          <p:cNvPr id="8" name="Rounded Rectangle 7"/>
          <p:cNvSpPr/>
          <p:nvPr/>
        </p:nvSpPr>
        <p:spPr>
          <a:xfrm>
            <a:off x="914400" y="3794760"/>
            <a:ext cx="10378440" cy="1234440"/>
          </a:xfrm>
          <a:prstGeom prst="roundRect">
            <a:avLst>
              <a:gd name="adj" fmla="val 5000"/>
            </a:avLst>
          </a:prstGeom>
          <a:solidFill>
            <a:srgbClr val="F7F9F6"/>
          </a:solidFill>
          <a:ln w="9525">
            <a:solidFill>
              <a:srgbClr val="1B7A3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9" name="TextBox 8"/>
          <p:cNvSpPr txBox="1"/>
          <p:nvPr/>
        </p:nvSpPr>
        <p:spPr>
          <a:xfrm>
            <a:off x="914400" y="4096512"/>
            <a:ext cx="10378440" cy="685800"/>
          </a:xfrm>
          <a:prstGeom prst="rect">
            <a:avLst/>
          </a:prstGeom>
          <a:noFill/>
        </p:spPr>
        <p:txBody>
          <a:bodyPr wrap="square" lIns="0" tIns="0" rIns="0" bIns="0" anchor="t">
            <a:spAutoFit/>
          </a:bodyPr>
          <a:lstStyle/>
          <a:p>
            <a:pPr algn="ctr">
              <a:lnSpc>
                <a:spcPct val="100000"/>
              </a:lnSpc>
              <a:spcBef>
                <a:spcPts val="0"/>
              </a:spcBef>
              <a:spcAft>
                <a:spcPts val="0"/>
              </a:spcAft>
            </a:pPr>
            <a:r>
              <a:rPr sz="3000" b="1" i="0">
                <a:solidFill>
                  <a:srgbClr val="014700"/>
                </a:solidFill>
                <a:latin typeface="Times New Roman"/>
              </a:rPr>
              <a:t>Thank you  ·  Questions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731520"/>
            <a:ext cx="1037844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A6501B"/>
                </a:solidFill>
                <a:latin typeface="Arial"/>
              </a:rPr>
              <a:t>// BACKUP</a:t>
            </a:r>
          </a:p>
        </p:txBody>
      </p:sp>
      <p:sp>
        <p:nvSpPr>
          <p:cNvPr id="3" name="TextBox 2"/>
          <p:cNvSpPr txBox="1"/>
          <p:nvPr/>
        </p:nvSpPr>
        <p:spPr>
          <a:xfrm>
            <a:off x="914400" y="1005840"/>
            <a:ext cx="10378440" cy="713232"/>
          </a:xfrm>
          <a:prstGeom prst="rect">
            <a:avLst/>
          </a:prstGeom>
          <a:noFill/>
        </p:spPr>
        <p:txBody>
          <a:bodyPr wrap="square" lIns="0" tIns="0" rIns="0" bIns="0" anchor="t">
            <a:spAutoFit/>
          </a:bodyPr>
          <a:lstStyle/>
          <a:p>
            <a:pPr algn="l">
              <a:lnSpc>
                <a:spcPct val="95000"/>
              </a:lnSpc>
              <a:spcBef>
                <a:spcPts val="0"/>
              </a:spcBef>
              <a:spcAft>
                <a:spcPts val="0"/>
              </a:spcAft>
            </a:pPr>
            <a:r>
              <a:rPr sz="2700" b="1" i="0">
                <a:solidFill>
                  <a:srgbClr val="014700"/>
                </a:solidFill>
                <a:latin typeface="Times New Roman"/>
              </a:rPr>
              <a:t>BLE security</a:t>
            </a:r>
          </a:p>
        </p:txBody>
      </p:sp>
      <p:sp>
        <p:nvSpPr>
          <p:cNvPr id="4" name="Rectangle 3"/>
          <p:cNvSpPr/>
          <p:nvPr/>
        </p:nvSpPr>
        <p:spPr>
          <a:xfrm>
            <a:off x="914400" y="1755648"/>
            <a:ext cx="10378440" cy="18288"/>
          </a:xfrm>
          <a:prstGeom prst="rect">
            <a:avLst/>
          </a:prstGeom>
          <a:solidFill>
            <a:srgbClr val="014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897880"/>
            <a:ext cx="5486400" cy="256032"/>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5B5B5B"/>
                </a:solidFill>
                <a:latin typeface="Arial"/>
              </a:rPr>
              <a:t>EngineIQ  ·  Group 11  ·  Department of Computer Science, KNUST</a:t>
            </a:r>
          </a:p>
        </p:txBody>
      </p:sp>
      <p:sp>
        <p:nvSpPr>
          <p:cNvPr id="6" name="TextBox 5"/>
          <p:cNvSpPr txBox="1"/>
          <p:nvPr/>
        </p:nvSpPr>
        <p:spPr>
          <a:xfrm>
            <a:off x="10378440" y="5897880"/>
            <a:ext cx="914400" cy="256032"/>
          </a:xfrm>
          <a:prstGeom prst="rect">
            <a:avLst/>
          </a:prstGeom>
          <a:noFill/>
        </p:spPr>
        <p:txBody>
          <a:bodyPr wrap="square" lIns="0" tIns="0" rIns="0" bIns="0" anchor="t">
            <a:spAutoFit/>
          </a:bodyPr>
          <a:lstStyle/>
          <a:p>
            <a:pPr algn="r">
              <a:lnSpc>
                <a:spcPct val="100000"/>
              </a:lnSpc>
              <a:spcBef>
                <a:spcPts val="0"/>
              </a:spcBef>
              <a:spcAft>
                <a:spcPts val="0"/>
              </a:spcAft>
            </a:pPr>
            <a:r>
              <a:rPr sz="850" b="1" i="0">
                <a:solidFill>
                  <a:srgbClr val="1B7A3E"/>
                </a:solidFill>
                <a:latin typeface="Arial"/>
              </a:rPr>
              <a:t>19</a:t>
            </a:r>
          </a:p>
        </p:txBody>
      </p:sp>
      <p:sp>
        <p:nvSpPr>
          <p:cNvPr id="7" name="Rectangle 6"/>
          <p:cNvSpPr/>
          <p:nvPr/>
        </p:nvSpPr>
        <p:spPr>
          <a:xfrm>
            <a:off x="914400" y="2075688"/>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2144" y="2011680"/>
            <a:ext cx="10140696" cy="540533"/>
          </a:xfrm>
          <a:prstGeom prst="rect">
            <a:avLst/>
          </a:prstGeom>
          <a:noFill/>
        </p:spPr>
        <p:txBody>
          <a:bodyPr wrap="square" lIns="0" tIns="0" rIns="0" bIns="0" anchor="t">
            <a:spAutoFit/>
          </a:bodyPr>
          <a:lstStyle/>
          <a:p>
            <a:pPr algn="l">
              <a:lnSpc>
                <a:spcPct val="100000"/>
              </a:lnSpc>
              <a:spcBef>
                <a:spcPts val="0"/>
              </a:spcBef>
              <a:spcAft>
                <a:spcPts val="300"/>
              </a:spcAft>
            </a:pPr>
            <a:r>
              <a:rPr b="1" i="0" dirty="0">
                <a:solidFill>
                  <a:srgbClr val="014700"/>
                </a:solidFill>
                <a:latin typeface="Times New Roman"/>
              </a:rPr>
              <a:t>Pairing with bonding and link-layer encryption</a:t>
            </a:r>
          </a:p>
          <a:p>
            <a:pPr algn="l">
              <a:lnSpc>
                <a:spcPct val="114000"/>
              </a:lnSpc>
              <a:spcBef>
                <a:spcPts val="0"/>
              </a:spcBef>
              <a:spcAft>
                <a:spcPts val="0"/>
              </a:spcAft>
            </a:pPr>
            <a:r>
              <a:rPr sz="1400" b="0" i="0" dirty="0">
                <a:solidFill>
                  <a:srgbClr val="1C1C1C"/>
                </a:solidFill>
                <a:latin typeface="Arial"/>
              </a:rPr>
              <a:t>ESP_LE_AUTH_REQ_SC_BOND.</a:t>
            </a:r>
          </a:p>
        </p:txBody>
      </p:sp>
      <p:sp>
        <p:nvSpPr>
          <p:cNvPr id="9" name="Rectangle 8"/>
          <p:cNvSpPr/>
          <p:nvPr/>
        </p:nvSpPr>
        <p:spPr>
          <a:xfrm>
            <a:off x="914400" y="3017520"/>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52144" y="2953512"/>
            <a:ext cx="10140696" cy="786113"/>
          </a:xfrm>
          <a:prstGeom prst="rect">
            <a:avLst/>
          </a:prstGeom>
          <a:noFill/>
        </p:spPr>
        <p:txBody>
          <a:bodyPr wrap="square" lIns="0" tIns="0" rIns="0" bIns="0" anchor="t">
            <a:spAutoFit/>
          </a:bodyPr>
          <a:lstStyle/>
          <a:p>
            <a:pPr algn="l">
              <a:lnSpc>
                <a:spcPct val="100000"/>
              </a:lnSpc>
              <a:spcBef>
                <a:spcPts val="0"/>
              </a:spcBef>
              <a:spcAft>
                <a:spcPts val="300"/>
              </a:spcAft>
            </a:pPr>
            <a:r>
              <a:rPr b="1" i="0" dirty="0">
                <a:solidFill>
                  <a:srgbClr val="014700"/>
                </a:solidFill>
                <a:latin typeface="Times New Roman"/>
              </a:rPr>
              <a:t>The sensor characteristic requires an encrypted link</a:t>
            </a:r>
          </a:p>
          <a:p>
            <a:pPr algn="l">
              <a:lnSpc>
                <a:spcPct val="114000"/>
              </a:lnSpc>
              <a:spcBef>
                <a:spcPts val="0"/>
              </a:spcBef>
              <a:spcAft>
                <a:spcPts val="0"/>
              </a:spcAft>
            </a:pPr>
            <a:r>
              <a:rPr sz="1400" b="0" i="0" dirty="0">
                <a:solidFill>
                  <a:srgbClr val="1C1C1C"/>
                </a:solidFill>
                <a:latin typeface="Arial"/>
              </a:rPr>
              <a:t>ESP_GATT_PERM_READ_ENCRYPTED — the GATT layer itself refuses unencrypted reads and subscriptions, rather than relying on the security mode alone</a:t>
            </a:r>
            <a:r>
              <a:rPr sz="1050" b="0" i="0" dirty="0">
                <a:solidFill>
                  <a:srgbClr val="1C1C1C"/>
                </a:solidFill>
                <a:latin typeface="Arial"/>
              </a:rPr>
              <a:t>.</a:t>
            </a:r>
          </a:p>
        </p:txBody>
      </p:sp>
      <p:sp>
        <p:nvSpPr>
          <p:cNvPr id="11" name="Rectangle 10"/>
          <p:cNvSpPr/>
          <p:nvPr/>
        </p:nvSpPr>
        <p:spPr>
          <a:xfrm>
            <a:off x="914400" y="3959352"/>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152144" y="3895344"/>
            <a:ext cx="10140696" cy="786113"/>
          </a:xfrm>
          <a:prstGeom prst="rect">
            <a:avLst/>
          </a:prstGeom>
          <a:noFill/>
        </p:spPr>
        <p:txBody>
          <a:bodyPr wrap="square" lIns="0" tIns="0" rIns="0" bIns="0" anchor="t">
            <a:spAutoFit/>
          </a:bodyPr>
          <a:lstStyle/>
          <a:p>
            <a:pPr algn="l">
              <a:lnSpc>
                <a:spcPct val="100000"/>
              </a:lnSpc>
              <a:spcBef>
                <a:spcPts val="0"/>
              </a:spcBef>
              <a:spcAft>
                <a:spcPts val="300"/>
              </a:spcAft>
            </a:pPr>
            <a:r>
              <a:rPr b="1" i="0" dirty="0">
                <a:solidFill>
                  <a:srgbClr val="014700"/>
                </a:solidFill>
                <a:latin typeface="Times New Roman"/>
              </a:rPr>
              <a:t>Limitation, stated before they raise it: Just Works pairing</a:t>
            </a:r>
          </a:p>
          <a:p>
            <a:pPr algn="l">
              <a:lnSpc>
                <a:spcPct val="114000"/>
              </a:lnSpc>
              <a:spcBef>
                <a:spcPts val="0"/>
              </a:spcBef>
              <a:spcAft>
                <a:spcPts val="0"/>
              </a:spcAft>
            </a:pPr>
            <a:r>
              <a:rPr sz="1400" b="0" i="0" dirty="0">
                <a:solidFill>
                  <a:srgbClr val="1C1C1C"/>
                </a:solidFill>
                <a:latin typeface="Arial"/>
              </a:rPr>
              <a:t>The node has neither display nor keypad. Protects against passive eavesdropping — the threat that matters here — but not an active man-in-the-middle present at the exact moment of pairing.</a:t>
            </a:r>
          </a:p>
        </p:txBody>
      </p:sp>
      <p:sp>
        <p:nvSpPr>
          <p:cNvPr id="13" name="Rectangle 12"/>
          <p:cNvSpPr/>
          <p:nvPr/>
        </p:nvSpPr>
        <p:spPr>
          <a:xfrm>
            <a:off x="914400" y="4901184"/>
            <a:ext cx="91440" cy="155448"/>
          </a:xfrm>
          <a:prstGeom prst="rect">
            <a:avLst/>
          </a:prstGeom>
          <a:solidFill>
            <a:srgbClr val="1B7A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152144" y="4837176"/>
            <a:ext cx="10140696" cy="540533"/>
          </a:xfrm>
          <a:prstGeom prst="rect">
            <a:avLst/>
          </a:prstGeom>
          <a:noFill/>
        </p:spPr>
        <p:txBody>
          <a:bodyPr wrap="square" lIns="0" tIns="0" rIns="0" bIns="0" anchor="t">
            <a:spAutoFit/>
          </a:bodyPr>
          <a:lstStyle/>
          <a:p>
            <a:pPr algn="l">
              <a:lnSpc>
                <a:spcPct val="100000"/>
              </a:lnSpc>
              <a:spcBef>
                <a:spcPts val="0"/>
              </a:spcBef>
              <a:spcAft>
                <a:spcPts val="300"/>
              </a:spcAft>
            </a:pPr>
            <a:r>
              <a:rPr b="1" i="0" dirty="0">
                <a:solidFill>
                  <a:srgbClr val="014700"/>
                </a:solidFill>
                <a:latin typeface="Times New Roman"/>
              </a:rPr>
              <a:t>The 128-bit UUIDs are not access control</a:t>
            </a:r>
          </a:p>
          <a:p>
            <a:pPr algn="l">
              <a:lnSpc>
                <a:spcPct val="114000"/>
              </a:lnSpc>
              <a:spcBef>
                <a:spcPts val="0"/>
              </a:spcBef>
              <a:spcAft>
                <a:spcPts val="0"/>
              </a:spcAft>
            </a:pPr>
            <a:r>
              <a:rPr sz="1400" b="0" i="0" dirty="0">
                <a:solidFill>
                  <a:srgbClr val="1C1C1C"/>
                </a:solidFill>
                <a:latin typeface="Arial"/>
              </a:rPr>
              <a:t>Broadcast in the advertising packet and readable by any scanner. They identify the stream; they do not protect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14400" y="731520"/>
            <a:ext cx="10378440" cy="274320"/>
          </a:xfrm>
          <a:prstGeom prst="rect">
            <a:avLst/>
          </a:prstGeom>
          <a:noFill/>
        </p:spPr>
        <p:txBody>
          <a:bodyPr wrap="square" lIns="0" tIns="0" rIns="0" bIns="0" anchor="t">
            <a:spAutoFit/>
          </a:bodyPr>
          <a:lstStyle/>
          <a:p>
            <a:pPr algn="l">
              <a:lnSpc>
                <a:spcPct val="100000"/>
              </a:lnSpc>
              <a:spcBef>
                <a:spcPts val="0"/>
              </a:spcBef>
              <a:spcAft>
                <a:spcPts val="0"/>
              </a:spcAft>
            </a:pPr>
            <a:r>
              <a:rPr sz="1100" b="1" i="0">
                <a:solidFill>
                  <a:srgbClr val="A6501B"/>
                </a:solidFill>
                <a:latin typeface="Arial"/>
              </a:rPr>
              <a:t>// BACKUP</a:t>
            </a:r>
          </a:p>
        </p:txBody>
      </p:sp>
      <p:sp>
        <p:nvSpPr>
          <p:cNvPr id="3" name="TextBox 2"/>
          <p:cNvSpPr txBox="1"/>
          <p:nvPr/>
        </p:nvSpPr>
        <p:spPr>
          <a:xfrm>
            <a:off x="914400" y="1005840"/>
            <a:ext cx="10378440" cy="713232"/>
          </a:xfrm>
          <a:prstGeom prst="rect">
            <a:avLst/>
          </a:prstGeom>
          <a:noFill/>
        </p:spPr>
        <p:txBody>
          <a:bodyPr wrap="square" lIns="0" tIns="0" rIns="0" bIns="0" anchor="t">
            <a:spAutoFit/>
          </a:bodyPr>
          <a:lstStyle/>
          <a:p>
            <a:pPr algn="l">
              <a:lnSpc>
                <a:spcPct val="95000"/>
              </a:lnSpc>
              <a:spcBef>
                <a:spcPts val="0"/>
              </a:spcBef>
              <a:spcAft>
                <a:spcPts val="0"/>
              </a:spcAft>
            </a:pPr>
            <a:r>
              <a:rPr sz="2700" b="1" i="0">
                <a:solidFill>
                  <a:srgbClr val="014700"/>
                </a:solidFill>
                <a:latin typeface="Times New Roman"/>
              </a:rPr>
              <a:t>Scalable, yet one device at a time?</a:t>
            </a:r>
          </a:p>
        </p:txBody>
      </p:sp>
      <p:sp>
        <p:nvSpPr>
          <p:cNvPr id="4" name="Rectangle 3"/>
          <p:cNvSpPr/>
          <p:nvPr/>
        </p:nvSpPr>
        <p:spPr>
          <a:xfrm>
            <a:off x="914400" y="1755648"/>
            <a:ext cx="10378440" cy="18288"/>
          </a:xfrm>
          <a:prstGeom prst="rect">
            <a:avLst/>
          </a:prstGeom>
          <a:solidFill>
            <a:srgbClr val="0147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897880"/>
            <a:ext cx="5486400" cy="256032"/>
          </a:xfrm>
          <a:prstGeom prst="rect">
            <a:avLst/>
          </a:prstGeom>
          <a:noFill/>
        </p:spPr>
        <p:txBody>
          <a:bodyPr wrap="square" lIns="0" tIns="0" rIns="0" bIns="0" anchor="t">
            <a:spAutoFit/>
          </a:bodyPr>
          <a:lstStyle/>
          <a:p>
            <a:pPr algn="l">
              <a:lnSpc>
                <a:spcPct val="100000"/>
              </a:lnSpc>
              <a:spcBef>
                <a:spcPts val="0"/>
              </a:spcBef>
              <a:spcAft>
                <a:spcPts val="0"/>
              </a:spcAft>
            </a:pPr>
            <a:r>
              <a:rPr sz="850" b="0" i="0">
                <a:solidFill>
                  <a:srgbClr val="5B5B5B"/>
                </a:solidFill>
                <a:latin typeface="Arial"/>
              </a:rPr>
              <a:t>EngineIQ  ·  Group 11  ·  Department of Computer Science, KNUST</a:t>
            </a:r>
          </a:p>
        </p:txBody>
      </p:sp>
      <p:sp>
        <p:nvSpPr>
          <p:cNvPr id="6" name="TextBox 5"/>
          <p:cNvSpPr txBox="1"/>
          <p:nvPr/>
        </p:nvSpPr>
        <p:spPr>
          <a:xfrm>
            <a:off x="10378440" y="5897880"/>
            <a:ext cx="914400" cy="256032"/>
          </a:xfrm>
          <a:prstGeom prst="rect">
            <a:avLst/>
          </a:prstGeom>
          <a:noFill/>
        </p:spPr>
        <p:txBody>
          <a:bodyPr wrap="square" lIns="0" tIns="0" rIns="0" bIns="0" anchor="t">
            <a:spAutoFit/>
          </a:bodyPr>
          <a:lstStyle/>
          <a:p>
            <a:pPr algn="r">
              <a:lnSpc>
                <a:spcPct val="100000"/>
              </a:lnSpc>
              <a:spcBef>
                <a:spcPts val="0"/>
              </a:spcBef>
              <a:spcAft>
                <a:spcPts val="0"/>
              </a:spcAft>
            </a:pPr>
            <a:r>
              <a:rPr sz="850" b="1" i="0">
                <a:solidFill>
                  <a:srgbClr val="1B7A3E"/>
                </a:solidFill>
                <a:latin typeface="Arial"/>
              </a:rPr>
              <a:t>20</a:t>
            </a:r>
          </a:p>
        </p:txBody>
      </p:sp>
      <p:sp>
        <p:nvSpPr>
          <p:cNvPr id="7" name="TextBox 6"/>
          <p:cNvSpPr txBox="1"/>
          <p:nvPr/>
        </p:nvSpPr>
        <p:spPr>
          <a:xfrm>
            <a:off x="914400" y="2057400"/>
            <a:ext cx="10378440" cy="2993640"/>
          </a:xfrm>
          <a:prstGeom prst="rect">
            <a:avLst/>
          </a:prstGeom>
          <a:noFill/>
        </p:spPr>
        <p:txBody>
          <a:bodyPr wrap="square" lIns="0" tIns="0" rIns="0" bIns="0" anchor="t">
            <a:spAutoFit/>
          </a:bodyPr>
          <a:lstStyle/>
          <a:p>
            <a:pPr algn="l">
              <a:lnSpc>
                <a:spcPct val="110000"/>
              </a:lnSpc>
              <a:spcBef>
                <a:spcPts val="0"/>
              </a:spcBef>
              <a:spcAft>
                <a:spcPts val="600"/>
              </a:spcAft>
            </a:pPr>
            <a:r>
              <a:rPr sz="1300" b="1" i="0" dirty="0">
                <a:solidFill>
                  <a:srgbClr val="014700"/>
                </a:solidFill>
                <a:latin typeface="Times New Roman"/>
              </a:rPr>
              <a:t>Both are true, and the distinction matters.</a:t>
            </a:r>
          </a:p>
          <a:p>
            <a:pPr algn="l">
              <a:lnSpc>
                <a:spcPct val="116000"/>
              </a:lnSpc>
              <a:spcBef>
                <a:spcPts val="0"/>
              </a:spcBef>
              <a:spcAft>
                <a:spcPts val="600"/>
              </a:spcAft>
            </a:pPr>
            <a:r>
              <a:rPr b="0" i="0" dirty="0">
                <a:solidFill>
                  <a:srgbClr val="1C1C1C"/>
                </a:solidFill>
                <a:latin typeface="Arial"/>
              </a:rPr>
              <a:t>Scaling is per vehicle unit, not multi-user per unit. Multiple ESP32 units can be paired to separate laptops or phones for multi-vehicle deployment with no architectural change — which is exactly what NFR-04 specifies.</a:t>
            </a:r>
          </a:p>
          <a:p>
            <a:pPr algn="l">
              <a:lnSpc>
                <a:spcPct val="116000"/>
              </a:lnSpc>
              <a:spcBef>
                <a:spcPts val="0"/>
              </a:spcBef>
              <a:spcAft>
                <a:spcPts val="600"/>
              </a:spcAft>
            </a:pPr>
            <a:r>
              <a:rPr b="0" i="0" dirty="0">
                <a:solidFill>
                  <a:srgbClr val="1C1C1C"/>
                </a:solidFill>
                <a:latin typeface="Arial"/>
              </a:rPr>
              <a:t>Each ESP32 advertises with its own DEVICE_ID — EngineIQ_Sensor_ESP32-01 — and every logged record carries that identifier, so units remain distinguishable in the database.</a:t>
            </a:r>
          </a:p>
          <a:p>
            <a:pPr algn="l">
              <a:lnSpc>
                <a:spcPct val="116000"/>
              </a:lnSpc>
              <a:spcBef>
                <a:spcPts val="0"/>
              </a:spcBef>
              <a:spcAft>
                <a:spcPts val="600"/>
              </a:spcAft>
            </a:pPr>
            <a:r>
              <a:rPr b="0" i="0" dirty="0">
                <a:solidFill>
                  <a:srgbClr val="1C1C1C"/>
                </a:solidFill>
                <a:latin typeface="Arial"/>
              </a:rPr>
              <a:t>The single-central-device constraint is inherited from the BLE standard itself, not from our implementation. Overcoming it for fleet scale is our future-work recommendation: a BLE mesh, or a BLE/Wi-Fi hybrid gateway.</a:t>
            </a:r>
          </a:p>
        </p:txBody>
      </p:sp>
    </p:spTree>
  </p:cSld>
  <p:clrMapOvr>
    <a:masterClrMapping/>
  </p:clrMapOvr>
</p:sld>
</file>

<file path=ppt/theme/theme1.xml><?xml version="1.0" encoding="utf-8"?>
<a:theme xmlns:a="http://schemas.openxmlformats.org/drawingml/2006/main" name="Office Theme">
  <a:themeElements>
    <a:clrScheme name="Custom 2">
      <a:dk1>
        <a:srgbClr val="382010"/>
      </a:dk1>
      <a:lt1>
        <a:sysClr val="window" lastClr="FFFFFF"/>
      </a:lt1>
      <a:dk2>
        <a:srgbClr val="44546A"/>
      </a:dk2>
      <a:lt2>
        <a:srgbClr val="E7E6E6"/>
      </a:lt2>
      <a:accent1>
        <a:srgbClr val="4472C4"/>
      </a:accent1>
      <a:accent2>
        <a:srgbClr val="E28025"/>
      </a:accent2>
      <a:accent3>
        <a:srgbClr val="A5A5A5"/>
      </a:accent3>
      <a:accent4>
        <a:srgbClr val="FFC000"/>
      </a:accent4>
      <a:accent5>
        <a:srgbClr val="5B9BD5"/>
      </a:accent5>
      <a:accent6>
        <a:srgbClr val="70AD47"/>
      </a:accent6>
      <a:hlink>
        <a:srgbClr val="0563C1"/>
      </a:hlink>
      <a:folHlink>
        <a:srgbClr val="954F72"/>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KWC light.potx" id="{3AAB5C5D-F81D-415E-B016-C95F4778E009}" vid="{707FFEF3-20E4-4742-9351-C9F6B3F14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KWC light</Template>
  <TotalTime>1654</TotalTime>
  <Words>2308</Words>
  <Application>Microsoft Office PowerPoint</Application>
  <PresentationFormat>Widescreen</PresentationFormat>
  <Paragraphs>263</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Helvetica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EngineIQ — IoT and Machine Learning Based Predictive Car Engine Health Monitoring System</dc:title>
  <dc:creator>Iddrisu Faadila Wumpini; Lartey-Mensah Emmanuel Tetteh</dc:creator>
  <dc:description>Group 11 · Supervisor: Dr. R.O.M Gyening · Department of Computer Science, KNUST</dc:description>
  <cp:lastModifiedBy>Faadila Wumpini Iddrisu</cp:lastModifiedBy>
  <cp:revision>153</cp:revision>
  <dcterms:created xsi:type="dcterms:W3CDTF">2023-07-24T13:47:17Z</dcterms:created>
  <dcterms:modified xsi:type="dcterms:W3CDTF">2026-09-08T23:20:10Z</dcterms:modified>
</cp:coreProperties>
</file>