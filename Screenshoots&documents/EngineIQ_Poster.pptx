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544800" cy="2011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1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256032"/>
            <a:ext cx="15032735" cy="202082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0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20624"/>
            <a:ext cx="1691640" cy="1691640"/>
          </a:xfrm>
          <a:prstGeom prst="rect">
            <a:avLst/>
          </a:prstGeom>
        </p:spPr>
      </p:pic>
      <p:pic>
        <p:nvPicPr>
          <p:cNvPr id="4" name="Picture 3" descr="img2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0" y="566928"/>
            <a:ext cx="1399032" cy="13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172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EngineIQ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1155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An IoT and Machine Learning Based Predictive Car Engine Health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89888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Iddrisu Faadila Wumpini  •  Lartey-Mensah Emmanuel Tetteh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09344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Supervisor: Dr. R.O.M Gyening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28800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Department of Computer Science  |  College of Science  |  Kwame Nkrumah University of Science and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551176"/>
            <a:ext cx="4855464" cy="1828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562148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   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816352"/>
            <a:ext cx="4672583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Sudden engine failure imposes a heavy financial burden on car owners and on the taxi, trotro and ride-hailing operators who carry much of Ghana's transport. Maintenance is almost entirely reactive: a driver visits a fitter only after the vehicle has already stopped. On-Board Diagnostic (OBD-II) systems, the dominant technology, log a fault code only once a threshold has been crossed inside the Engine Control Unit, and commercial telematics platforms charge USD 25–70 per vehicle per month in foreign currency, indefinitely.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This project designed, implemented and evaluated EngineIQ, a low-cost predictive engine health monitoring system. An ESP32 microcontroller carrying an MPU6050 accelerometer and a DS18B20 temperature probe streams vibration and surface-temperature data over Bluetooth Low Energy, where a Butterworth filter, fixed-length windowing and an unsupervised Isolation Forest score each window against the engine's own learned baseline rather than a fixed threshold. Every scored window is logged to Supabase and presented on a secure web dashboard with real-time charts, severity-classified alerts and CSV export. The complete build costs under GHS 400 in one-time hardware with no recurring subscription.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6053328"/>
            <a:ext cx="4855464" cy="1828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6064300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2  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6318504"/>
            <a:ext cx="4672583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Ghana's transport sector depends heavily on private cars, taxis, ride-hailing vehicles and trotros. For many households the vehicle is the income-generating asset, so engine failure removes the vehicle and the income it produces at the same moment.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Engines rarely fail without warning. Bearing wear, misfire and loose mounts all alter an engine's vibration signature, and developing faults raise surface temperature — both long before the ECU records a diagnostic code. That interval is the prediction window this project sets out to exploit.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EngineIQ places affordable physical sensing directly on the engine block and learns what that particular engine's normal operation looks like, so deviation can be flagged early without a scanner, a subscription, or an internet connection at the point of data acquisition.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9098280"/>
            <a:ext cx="4855464" cy="1828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9109252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3  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9363455"/>
            <a:ext cx="4672583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Maintenance in Ghana is overwhelmingly reactive — drivers visit a fitter only after a failure has already occurred, when the vehicle, its income and the repair cost are lost together.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OBD-II is reactive by design. It reports a threshold already crossed, cannot observe mechanical wear developing, and needs a scanner most drivers do not own.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Commercial telematics platforms work well, but at USD 25–70 per vehicle per month in foreign currency with no end date — beyond the reach of the operators who most need early warning.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Labelled engine-fault data for Ghanaian vehicles does not exist and cannot be affordably produced, which rules out supervised learning as a practical method.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No existing system combines continuous physical telemetry, a learned per-engine baseline and early anomaly warning on hardware an individual owner can actually buy.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4668" y="2551176"/>
            <a:ext cx="4855464" cy="182880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36107" y="2562148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4   AIM AND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6107" y="2816352"/>
            <a:ext cx="4672583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222222"/>
                </a:solidFill>
                <a:latin typeface="Times New Roman"/>
              </a:rPr>
              <a:t>Aim: 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To design, implement and evaluate a low-cost IoT and machine learning system that continuously monitors car engine vibration and surface temperature, detects developing anomalies against a learned baseline, and alerts the driver or mechanic before catastrophic engine damage occurs.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22222"/>
                </a:solidFill>
                <a:latin typeface="Times New Roman"/>
              </a:rPr>
              <a:t>Objectives: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Review literature on vehicle diagnostics, IoT sensor networks and unsupervised machine learning models used for anomaly detection.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Assemble a low-cost sensor node from an ESP32 microcontroller, an MPU6050 accelerometer and a DS18B20 digital temperature sensor.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Develop a preprocessing pipeline that cleans, normalises and extracts statistical features from raw vibration and temperature streams.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Train an unsupervised Isolation Forest model capable of separating a normal engine baseline from developing mechanical faults.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Deploy a secure web dashboard with user authentication, real-time sensor metrics and instant anomaly alerts.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Evaluate the complete architecture for detection accuracy, response latency and network stability under simulated fault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4668" y="6355080"/>
            <a:ext cx="4855464" cy="18288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36107" y="6366052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5   LITERATURE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6107" y="6620256"/>
            <a:ext cx="4672583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OBD-II, mandated on virtually all vehicles built after 1996, taps the ECU to read a fixed set of parameters. It is universally supported and needs no hardware modification, but it is architecturally reactive: it triggers only once a fault threshold has been crossed and cannot observe gradual wear.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Zhang and Ji (2019) built an IoT engine health monitor using a MEMS accelerometer and FFT analysis transmitted over Wi-Fi, demonstrating that low-cost accelerometers are viable for engine monitoring — but their reliance on static frequency thresholds made the system prone to false positives as engine load varied.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Malhotra et al. (2016) proposed an LSTM encoder-decoder for multi-sensor time-series anomaly detection, which excels at contextual anomalies but is computationally heavy, unsuitable for resource-constrained edge devices such as the ESP32, and was validated only in a laboratory setting.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Kanawaday and Sane (2017) applied Isolation Forest to IoT predictive maintenance and showed effective detection at low computational overhead — but on industrial-grade hardware priced far beyond an individual vehicle owner in Ghana.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2222"/>
                </a:solidFill>
                <a:latin typeface="Times New Roman"/>
              </a:rPr>
              <a:t>Gap: </a:t>
            </a:r>
            <a:r>
              <a:rPr sz="1050" b="0" i="0">
                <a:solidFill>
                  <a:srgbClr val="222222"/>
                </a:solidFill>
                <a:latin typeface="Times New Roman"/>
              </a:rPr>
              <a:t>no reviewed system combines low-cost physical telemetry, an unsupervised per-engine baseline and deployment affordable to individual owners in a low-resource setting. That intersection — cost and prediction and accessibility together — is what EngineIQ targets.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4668" y="10561320"/>
            <a:ext cx="4855464" cy="1828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36107" y="10572292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6  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6107" y="10826496"/>
            <a:ext cx="4672583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A price point that changes who can participate — under GHS 400 of one-time hardware, against a recurring foreign-currency subscription with no end date.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Prediction rather than reaction — active physical telemetry finds developing mechanical wear before the ECU ever logs a fault code.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A dynamic baseline rather than fixed thresholds — the model learns each engine's own normal signature instead of applying rigid limits that misfire under changing load and road conditions.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•  Reproducible on open-source tools — the architecture can be replicated, scaled or commercialised by other developers at no licensing cost.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33304" y="2551176"/>
            <a:ext cx="4855464" cy="182880"/>
          </a:xfrm>
          <a:prstGeom prst="rect">
            <a:avLst/>
          </a:prstGeom>
          <a:solidFill>
            <a:srgbClr val="2E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24744" y="2562148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7   METHODOLOGY, TOOLS &amp;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4744" y="2816352"/>
            <a:ext cx="467258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EngineIQ follows a six-stage pipeline: sensing on the engine block, BLE transmission, filtering and windowing, feature extraction, unsupervised scoring, then logging and dashboard presentation. The detector is trained only on normal-operation windows, and its decision threshold is auto-tuned from the contamination percentile of the model's own training scores rather than hardcoded.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524744" y="4041648"/>
          <a:ext cx="4672584" cy="2363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Sensor node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ESP32 · MPU6050 3-axis accelerometer · DS18B20 probe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Transmission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Bluetooth Low Energy, GATT notify, bonded + encrypted link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Preprocessing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Butterworth low-pass filter, fixed-length windowing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Features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9 statistics per channel (time domain), NumPy / SciPy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ML model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Isolation Forest, 200 estimators, 5% contamination (scikit-learn)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Datastore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Supabase (PostgreSQL) with row-level security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Dashboard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Streamlit real-time monitor; GitHub Pages front-end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Authentication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Supabase Auth — email confirmation, password reset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Validation set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AI4I 2020 Predictive Maintenance Dataset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Version control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GitHub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10433304" y="7452360"/>
            <a:ext cx="4855464" cy="1828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24744" y="7463332"/>
            <a:ext cx="467258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8   RESULTS AND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4744" y="7717536"/>
            <a:ext cx="467258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The AI4I 2020 dataset (10,000 rows — 9,661 normal, 339 fault) yielded 385 normal and 12 fault feature windows. An Isolation Forest with 200 estimators and 5% contamination was fitted on the 385 normal windows only, giving an auto-tuned threshold of −0.5155.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10524744" y="8540496"/>
          <a:ext cx="4672584" cy="955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Times New Roman"/>
                        </a:rPr>
                        <a:t>Support</a:t>
                      </a:r>
                    </a:p>
                  </a:txBody>
                  <a:tcPr marL="54864" marR="54864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Normal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0.97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385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Fault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0.38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Overall accuracy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222222"/>
                          </a:solidFill>
                          <a:latin typeface="Times New Roman"/>
                        </a:rPr>
                        <a:t>397</a:t>
                      </a:r>
                    </a:p>
                  </a:txBody>
                  <a:tcPr marL="54864" marR="54864" marT="18288" marB="18288" anchor="ctr">
                    <a:solidFill>
                      <a:srgbClr val="F0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524744" y="9509759"/>
            <a:ext cx="4672583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All 12 fault windows were correctly flagged — 100% recall against a 5.2% false-positive rate (20 of 385 normal windows) — satisfying NFR-02, which specifies a true-positive rate of at least 85%. In total 5,122 scored windows, normal as well as anomalous, were logged to Supabase.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 dirty="0">
                <a:solidFill>
                  <a:srgbClr val="222222"/>
                </a:solidFill>
                <a:latin typeface="Times New Roman"/>
              </a:rPr>
              <a:t>Reported honestly. 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On the cumulative simulation run the same detector gave 84% overall accuracy but only 25% fault recall (256 of 1,017). AI4I rows are independent tabular samples rather than a true time series, so windows built from a shuffled stream mix fault and normal rows and dilute the fault signature. Both figures are reported rather than only the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favourable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one.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The BLE baseline was collected from the prototype at rest on a bench (7,579 readings at 50 Hz, producing 302 windows) and every window returned an identical score of −0.5000. The live path is therefore a validated pipeline, not yet a validated detector — re-collecting that baseline from a running mechanical source is the primary recommendation.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12984480"/>
            <a:ext cx="15032735" cy="1828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12995452"/>
            <a:ext cx="148498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9   SYSTEM ARCHITECTURE AND 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13249655"/>
            <a:ext cx="5943600" cy="3507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 err="1">
                <a:solidFill>
                  <a:srgbClr val="222222"/>
                </a:solidFill>
                <a:latin typeface="Times New Roman"/>
              </a:rPr>
              <a:t>EngineIQ</a:t>
            </a:r>
            <a:r>
              <a:rPr sz="1200" b="0" i="0" dirty="0">
                <a:solidFill>
                  <a:srgbClr val="222222"/>
                </a:solidFill>
                <a:latin typeface="Times New Roman"/>
              </a:rPr>
              <a:t> uses a four-layer architecture. The perception layer mounts an MPU6050 accelerometer and a DS18B20 probe on the engine block. The network layer runs on an ESP32, which advertises a GATT service over Bluetooth Low Energy with bonding and link-layer encryption; the sensor characteristic itself requires an encrypted link, so the GATT layer refuses unencrypted reads rather than relying on the security mode alone.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22222"/>
                </a:solidFill>
                <a:latin typeface="Times New Roman"/>
              </a:rPr>
              <a:t>BLE was chosen over Wi-Fi and MQTT because it removes two dependencies at once — the router and the broker. A car parked anywhere can be monitored with no internet connection at the point of acquisition. The cost of that choice is roughly 10 </a:t>
            </a:r>
            <a:r>
              <a:rPr sz="1200" b="0" i="0" dirty="0" err="1">
                <a:solidFill>
                  <a:srgbClr val="222222"/>
                </a:solidFill>
                <a:latin typeface="Times New Roman"/>
              </a:rPr>
              <a:t>metres</a:t>
            </a:r>
            <a:r>
              <a:rPr sz="1200" b="0" i="0" dirty="0">
                <a:solidFill>
                  <a:srgbClr val="222222"/>
                </a:solidFill>
                <a:latin typeface="Times New Roman"/>
              </a:rPr>
              <a:t> of range and one central device per sensor unit at a time, a constraint inherited from the BLE standard rather than from the implementation.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22222"/>
                </a:solidFill>
                <a:latin typeface="Times New Roman"/>
              </a:rPr>
              <a:t>The processing layer applies a Butterworth low-pass filter, splits the stream into fixed-length windows, extracts nine statistics per channel and scores each window with the Isolation Forest. Every scored window — not only the anomalies — is written to Supabase with its score, severity class, source and originating device identifier, so a technician reading an exported CSV sees the engine's healthy baseline as well as its exceptions.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222222"/>
                </a:solidFill>
                <a:latin typeface="Times New Roman"/>
              </a:rPr>
              <a:t>The application layer presents live vibration and temperature charts, severity-classified anomaly alerts and date-range CSV export behind Supabase Auth with row-level security on every read.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13267943"/>
            <a:ext cx="19385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13267943"/>
            <a:ext cx="1938528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13299947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LAYER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13578839"/>
            <a:ext cx="1719072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B2A4A"/>
                </a:solidFill>
                <a:latin typeface="Times New Roman"/>
              </a:rPr>
              <a:t>Perception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MPU6050 accelerometer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DS18B20 temperature probe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Engine-block 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13816583"/>
            <a:ext cx="3108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A4A"/>
                </a:solidFill>
                <a:latin typeface="Arial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41663" y="13267943"/>
            <a:ext cx="19385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741663" y="13267943"/>
            <a:ext cx="1938528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14815" y="13299947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LAYER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1391" y="13578839"/>
            <a:ext cx="1719072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B2A4A"/>
                </a:solidFill>
                <a:latin typeface="Times New Roman"/>
              </a:rPr>
              <a:t>Network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ESP32 microcontroller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Bluetooth Low Energy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Bonded, encrypted GATT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80192" y="13816583"/>
            <a:ext cx="3108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A4A"/>
                </a:solidFill>
                <a:latin typeface="Arial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91088" y="13267943"/>
            <a:ext cx="19385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991088" y="13267943"/>
            <a:ext cx="1938528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64240" y="13299947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LAYER 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0815" y="13578839"/>
            <a:ext cx="1719072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B2A4A"/>
                </a:solidFill>
                <a:latin typeface="Times New Roman"/>
              </a:rPr>
              <a:t>Processing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Butterworth filter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9 features per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Isolation Forest scoring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29616" y="13816583"/>
            <a:ext cx="31089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A4A"/>
                </a:solidFill>
                <a:latin typeface="Arial"/>
              </a:rPr>
              <a:t>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40512" y="13267943"/>
            <a:ext cx="19385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240512" y="13267943"/>
            <a:ext cx="1938528" cy="2194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13664" y="13299947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LAYER 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0" y="13578839"/>
            <a:ext cx="1719072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B2A4A"/>
                </a:solidFill>
                <a:latin typeface="Times New Roman"/>
              </a:rPr>
              <a:t>Application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Streamlit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Severity alerts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·  CSV export · Supabase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14758415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22222"/>
                </a:solidFill>
                <a:latin typeface="Times New Roman"/>
              </a:rPr>
              <a:t>Figure 1 — Four-layer system architecture, sensor node to dashboard.</a:t>
            </a:r>
          </a:p>
        </p:txBody>
      </p:sp>
      <p:pic>
        <p:nvPicPr>
          <p:cNvPr id="60" name="Picture 59" descr="live Moni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924" y="15060167"/>
            <a:ext cx="4368514" cy="1938528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61" name="TextBox 60"/>
          <p:cNvSpPr txBox="1"/>
          <p:nvPr/>
        </p:nvSpPr>
        <p:spPr>
          <a:xfrm>
            <a:off x="6530924" y="17044415"/>
            <a:ext cx="43685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22222"/>
                </a:solidFill>
                <a:latin typeface="Times New Roman"/>
              </a:rPr>
              <a:t>Figure 2 — Live monitor: anomaly score, vibration and temperature.</a:t>
            </a:r>
          </a:p>
        </p:txBody>
      </p:sp>
      <p:pic>
        <p:nvPicPr>
          <p:cNvPr id="62" name="Picture 61" descr="score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334" y="15060167"/>
            <a:ext cx="3930021" cy="1938528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63" name="TextBox 62"/>
          <p:cNvSpPr txBox="1"/>
          <p:nvPr/>
        </p:nvSpPr>
        <p:spPr>
          <a:xfrm>
            <a:off x="11210334" y="17044415"/>
            <a:ext cx="393002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22222"/>
                </a:solidFill>
                <a:latin typeface="Times New Roman"/>
              </a:rPr>
              <a:t>Figure 3 — Anomaly scores against the auto-tuned threshold.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17940528"/>
            <a:ext cx="15032735" cy="182880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7472" y="17951500"/>
            <a:ext cx="148498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10   REFERENCES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" y="18205704"/>
            <a:ext cx="4828031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[1]  Analog Devices (Maxim Integrated). (2019). Programmable Resolution 1-Wire Digital Thermometer DS18B20.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[2]  Espressif Systems. (2023). ESP32 Series Datasheet. Espressif Systems.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[3]  Gao, Z., Cecati, C., &amp; Ding, S. X. (2015). Fault diagnosis and fault-tolerant techniques — survey part I. IEEE Transactions on Industrial Electronics, 62(6), 3757–3767.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[4]  InvenSense (TDK). (2013). MPU-6000/MPU-6050 Product Specification, Revision 3.4.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58383" y="18205704"/>
            <a:ext cx="4828031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[5]  Kanawaday, A., &amp; Sane, A. (2017). Use of machine learning in predictive maintenance of industrial machines with IoT sensor data. ICCUBEA, Pune, India.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[6]  Liu, F. T., Ting, K. M., &amp; Zhou, Z. H. (2008). Isolation Forest. IEEE 8th International Conference on Data Mining (ICDM), Pisa, Italy, 413–422.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[7]  Malhotra, P., Ramakrishnan, A., Anand, G., Vig, L., Agarwal, P., &amp; Shroff, G. (2016). A multi-sensor anomaly detection using LSTM based encoder-decoder. arXiv:1607.00148.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[8]  Scikit-learn Developers. (2023). sklearn.ensemble.IsolationForest.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69296" y="18205704"/>
            <a:ext cx="4828031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[9]  Shimpi, P., Agrawal, S., &amp; Kaul, A. (2021). Survey of Bluetooth Low Energy (BLE) based IoT systems. International Journal of Computer Applications, 174(12), 1–6.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[10]  Streamlit Inc. (2024). Streamlit Documentation.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[11]  Supabase. (2024). Supabase Documentation.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[12]  Zhang, Y., &amp; Ji, S. (2019). Vibration based engine health monitoring system using IoT. Journal of Physics: Conference Series, 1187(4).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2136</Words>
  <Application>Microsoft Office PowerPoint</Application>
  <PresentationFormat>Custom</PresentationFormat>
  <Paragraphs>129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Faadila Wumpini Iddrisu</cp:lastModifiedBy>
  <cp:revision>2</cp:revision>
  <dcterms:created xsi:type="dcterms:W3CDTF">2013-01-27T09:14:16Z</dcterms:created>
  <dcterms:modified xsi:type="dcterms:W3CDTF">2026-09-08T21:23:45Z</dcterms:modified>
  <cp:category/>
</cp:coreProperties>
</file>